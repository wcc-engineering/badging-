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82222f5-993f-d66c-811e-81e3f3952ea2}">
          <p14:sldIdLst>
            <p14:sldId id="256"/>
            <p14:sldId id="257"/>
          </p14:sldIdLst>
        </p14:section>
        <p14:section name="Basics" id="{304d0527-774a-17d7-8893-702ba1558c56}">
          <p14:sldIdLst>
            <p14:sldId id="258"/>
            <p14:sldId id="259"/>
            <p14:sldId id="260"/>
            <p14:sldId id="261"/>
            <p14:sldId id="262"/>
            <p14:sldId id="263"/>
          </p14:sldIdLst>
        </p14:section>
        <p14:section name="Plan" id="{b16767dd-86db-964c-ea58-9ef3e5b530f1}">
          <p14:sldIdLst>
            <p14:sldId id="264"/>
            <p14:sldId id="265"/>
          </p14:sldIdLst>
        </p14:section>
        <p14:section name="Prepare machine" id="{f783b660-6616-a390-c13a-6d9ed13680ec}">
          <p14:sldIdLst>
            <p14:sldId id="266"/>
            <p14:sldId id="267"/>
            <p14:sldId id="268"/>
            <p14:sldId id="269"/>
            <p14:sldId id="270"/>
          </p14:sldIdLst>
        </p14:section>
        <p14:section name="Prepare design" id="{3e599bb4-c928-0f9f-3b39-f4de26a50f61}">
          <p14:sldIdLst>
            <p14:sldId id="271"/>
            <p14:sldId id="272"/>
            <p14:sldId id="273"/>
            <p14:sldId id="274"/>
            <p14:sldId id="275"/>
          </p14:sldIdLst>
        </p14:section>
        <p14:section name="Cut" id="{b6000b5f-062c-8b5f-7c91-528a3cff666c}">
          <p14:sldIdLst>
            <p14:sldId id="276"/>
            <p14:sldId id="277"/>
            <p14:sldId id="278"/>
            <p14:sldId id="279"/>
            <p14:sldId id="280"/>
          </p14:sldIdLst>
        </p14:section>
        <p14:section name="Wrap-up" id="{90d317a6-d3fe-dcfc-f1f4-b18e91d7fa4a}">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every student leaves knowing the full path from a flat part in Onshape to a laser-cut piece off the Rayjet 300, and why each step matters. Students should have a simple flat part (or a provided practice part) ready in Onshape.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finger-joint box or a tab-and-slot model with some engraving works best. Let them discover the browned/burnt edge (the laser burns and vaporizes, it doesn't saw), cut vs. engrave, and that slots and tabs turn flat parts into 3D shapes. Collect observations on the board and come back to them on the design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3D printer ADDS material — which of our three manufacturing categories is this? (Subtractive.) Point out that the beam is infrared, so you can't see it — what you see through the lid is the material glowing and burning. That's why the lid stays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and cut are both 'vector' jobs that follow lines. Engrave is a 'raster' job, like an inkjet printer going back and forth. This sets up the color-coding slide in the CorelDRAW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our machine's wattage from the label on the back. Rayjet 300s were sold at several power levels, and that sets how thick we can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locate each button on the real machine before they touch anything. Stress that the Z arrows move the BED, not the laser head. This matters for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would you know if a mystery plastic sheet was PVC? (You often can't. That's why the rule is 'no ID, no cut.') Cast vs. extruded acrylic: both cut, but cast engraves frosty white and extruded engraves clear. Edit the OK list to match what our lab 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for the rest of the deck. Each step slide has a gold tag in the corner (MACHINE or DESIGN plus the step number) so students can track where they are. The drawing check keeps the lab computer free for students who are ready to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for Onshape: make a variable like #thickness = the measured value, and use it for every slot width. When the sheet changes, change one number. Connect back to the warm-up: what held the passed-around part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groups → share out. Answers to draw out: kerf widens every slot by about one beam width, so a 3.0 mm slot ends up around 3.1–3.2 mm. Draw the slot slightly smaller, or the tab slightly bigger. The best answer to the last question is a test comb: a small strip of slots at 2.8, 2.9, 3.0, 3.1 mm. It's cheap, fast, and how real engineers dial in tolerance. A living hinge is a pattern of offset cuts that makes rigid plywood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 first, every time: smoke left in the machine damages the lens and gets into the room. Walk students to both switches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off the controls until the final beep. The machine is homing itself (finding its zero position), and pressing buttons now can confuse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calibrate? The lens focuses the beam to its smallest, hottest point at one exact distance. Different materials are different thicknesses, so the bed height has to be set for every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tool falls the moment the bed moves, you came up too fast. Lower the bed a little and try again. Losing or damaging the calibration tool means nobody can calibrate, which is why it always goes back in its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this step was blank in the original deck. Confirm it matches how we position jobs (head position vs. placing the job in Rayjet Manager) and edit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drawing's sheet scale is 1:1 before exporting. Drawings also export the border, title block and dimensions. Students delete those in CorelDRAW (or the laser will try to cut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mistakes: wrong import scale (click the part and compare W and H in the toolbar with Onshape), and leftover border, title block or dimension lines from the drawing. Delete anything that shouldn't be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orca keychain sample: have students point to one example of each process on the real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for blue (vector engrave) lines and black-filled (raster engrave) areas. Check with the zoom tool: a line that's almost red, or a thick outline, may be engraved instead of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original deck stops at 'Go to the Rayjet Manager Software'. The last two cards and the banner are general Rayjet Manager steps. Edit them to match our exact clicks (material selection, positioning, sending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where the fire extinguisher is, and the pause/stop button on the control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and speed trade off against each other: the energy hitting each spot depends on both. Mini-experiment: engrave a small grid of squares on scrap at different power and speed combos and compare darkness. It's a great introduction to designing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sheet moves, you can't line up a second pass again, which is why students check before removing anything. Have students record designed vs. measured slot width and calculate their kerf.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 bin of failed cuts as teaching examples. Iteration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Physically point out the extinguisher and the Stop button. Edit the log item to match our actual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ties this lesson to the 3D printing one: laser = fast, flat, sheet goods, great for boxes and panels; printer = slow but true 3D shapes. Optional extension: redesign with your measured kerf and recut.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ENGR 101 · From Onshape to Laser Cut</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From Onshape to Laser Cut</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2000" dirty="0">
                <a:solidFill>
                  <a:schemeClr val="accent3"/>
                </a:solidFill>
              </a:rPr>
              <a:t>Laser cutting on the WCC Trotec Rayjet 300</a:t>
            </a:r>
            <a:endParaRPr lang="en-US" sz="2000" dirty="0"/>
          </a:p>
        </p:txBody>
      </p:sp>
      <p:sp>
        <p:nvSpPr>
          <p:cNvPr id="4" name="Shape 2"/>
          <p:cNvSpPr/>
          <p:nvPr/>
        </p:nvSpPr>
        <p:spPr>
          <a:xfrm>
            <a:off x="6675120" y="502920"/>
            <a:ext cx="1737360" cy="1005840"/>
          </a:xfrm>
          <a:prstGeom prst="rect">
            <a:avLst/>
          </a:prstGeom>
          <a:ln w="31750">
            <a:solidFill>
              <a:schemeClr val="accent3"/>
            </a:solidFill>
            <a:prstDash val="dash"/>
          </a:ln>
        </p:spPr>
      </p:sp>
      <p:sp>
        <p:nvSpPr>
          <p:cNvPr id="5" name="Shape 3"/>
          <p:cNvSpPr/>
          <p:nvPr/>
        </p:nvSpPr>
        <p:spPr>
          <a:xfrm>
            <a:off x="6903720" y="777240"/>
            <a:ext cx="457200" cy="457200"/>
          </a:xfrm>
          <a:prstGeom prst="ellipse">
            <a:avLst/>
          </a:prstGeom>
          <a:ln w="31750">
            <a:solidFill>
              <a:schemeClr val="accent3"/>
            </a:solidFill>
            <a:prstDash val="solid"/>
          </a:ln>
        </p:spPr>
      </p:sp>
      <p:sp>
        <p:nvSpPr>
          <p:cNvPr id="6" name="Shape 4"/>
          <p:cNvSpPr/>
          <p:nvPr/>
        </p:nvSpPr>
        <p:spPr>
          <a:xfrm>
            <a:off x="7589520" y="731520"/>
            <a:ext cx="594360" cy="548640"/>
          </a:xfrm>
          <a:prstGeom prst="rect">
            <a:avLst/>
          </a:prstGeom>
          <a:solidFill>
            <a:schemeClr val="accent2"/>
          </a:solidFill>
          <a:ln/>
        </p:spPr>
      </p:sp>
      <p:sp>
        <p:nvSpPr>
          <p:cNvPr id="7" name="Text 5"/>
          <p:cNvSpPr txBox="1"/>
          <p:nvPr/>
        </p:nvSpPr>
        <p:spPr>
          <a:xfrm>
            <a:off x="548640" y="4297680"/>
            <a:ext cx="8046720" cy="32004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ENGR 101 · Engineering Exploration · How Engineers Make Things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Warm-up: how was this made?</a:t>
            </a:r>
            <a:endParaRPr lang="en-US" sz="3000" dirty="0"/>
          </a:p>
        </p:txBody>
      </p:sp>
      <p:sp>
        <p:nvSpPr>
          <p:cNvPr id="3" name="Shape 1"/>
          <p:cNvSpPr/>
          <p:nvPr/>
        </p:nvSpPr>
        <p:spPr>
          <a:xfrm>
            <a:off x="457200" y="1188720"/>
            <a:ext cx="3291840" cy="3291840"/>
          </a:xfrm>
          <a:prstGeom prst="roundRect">
            <a:avLst>
              <a:gd name="adj" fmla="val 2222"/>
            </a:avLst>
          </a:prstGeom>
          <a:solidFill>
            <a:schemeClr val="accent1"/>
          </a:solidFill>
          <a:ln/>
        </p:spPr>
      </p:sp>
      <p:sp>
        <p:nvSpPr>
          <p:cNvPr id="4" name="Shape 2"/>
          <p:cNvSpPr/>
          <p:nvPr/>
        </p:nvSpPr>
        <p:spPr>
          <a:xfrm>
            <a:off x="731520" y="1463040"/>
            <a:ext cx="731520" cy="73152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907085" y="1638605"/>
            <a:ext cx="380390" cy="380390"/>
          </a:xfrm>
          <a:prstGeom prst="rect">
            <a:avLst/>
          </a:prstGeom>
        </p:spPr>
      </p:pic>
      <p:sp>
        <p:nvSpPr>
          <p:cNvPr id="6" name="Text 3"/>
          <p:cNvSpPr txBox="1"/>
          <p:nvPr/>
        </p:nvSpPr>
        <p:spPr>
          <a:xfrm>
            <a:off x="731520" y="2377440"/>
            <a:ext cx="2743200" cy="7315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Pass around a laser-cut part</a:t>
            </a:r>
            <a:endParaRPr lang="en-US" sz="2000" dirty="0"/>
          </a:p>
        </p:txBody>
      </p:sp>
      <p:sp>
        <p:nvSpPr>
          <p:cNvPr id="7" name="Text 4"/>
          <p:cNvSpPr txBox="1"/>
          <p:nvPr/>
        </p:nvSpPr>
        <p:spPr>
          <a:xfrm>
            <a:off x="731520" y="3200400"/>
            <a:ext cx="2743200" cy="91440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Small groups, 5 minutes. Then we share out as a class.</a:t>
            </a:r>
            <a:endParaRPr lang="en-US" sz="1400" dirty="0"/>
          </a:p>
        </p:txBody>
      </p:sp>
      <p:sp>
        <p:nvSpPr>
          <p:cNvPr id="8" name="Shape 5"/>
          <p:cNvSpPr/>
          <p:nvPr/>
        </p:nvSpPr>
        <p:spPr>
          <a:xfrm>
            <a:off x="4023360" y="1188720"/>
            <a:ext cx="4663440" cy="960120"/>
          </a:xfrm>
          <a:prstGeom prst="roundRect">
            <a:avLst>
              <a:gd name="adj" fmla="val 7619"/>
            </a:avLst>
          </a:prstGeom>
          <a:solidFill>
            <a:schemeClr val="bg2"/>
          </a:solidFill>
          <a:ln/>
        </p:spPr>
      </p:sp>
      <p:sp>
        <p:nvSpPr>
          <p:cNvPr id="9" name="Shape 6"/>
          <p:cNvSpPr/>
          <p:nvPr/>
        </p:nvSpPr>
        <p:spPr>
          <a:xfrm>
            <a:off x="4206240" y="1463040"/>
            <a:ext cx="411480" cy="411480"/>
          </a:xfrm>
          <a:prstGeom prst="ellipse">
            <a:avLst/>
          </a:prstGeom>
          <a:solidFill>
            <a:schemeClr val="accent3"/>
          </a:solidFill>
          <a:ln/>
        </p:spPr>
      </p:sp>
      <p:sp>
        <p:nvSpPr>
          <p:cNvPr id="10" name="Text 7"/>
          <p:cNvSpPr txBox="1"/>
          <p:nvPr/>
        </p:nvSpPr>
        <p:spPr>
          <a:xfrm>
            <a:off x="4206240" y="1463040"/>
            <a:ext cx="411480" cy="411480"/>
          </a:xfrm>
          <a:prstGeom prst="rect">
            <a:avLst/>
          </a:prstGeom>
          <a:noFill/>
          <a:ln/>
        </p:spPr>
        <p:txBody>
          <a:bodyPr wrap="square" lIns="0" tIns="0" rIns="0" bIns="0" rtlCol="0" anchor="ct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4800600" y="1280160"/>
            <a:ext cx="3749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Look closely at a cut edge. What color is it, and what does it smell like? What does that tell you about how it was cut?</a:t>
            </a:r>
            <a:endParaRPr lang="en-US" sz="1400" dirty="0"/>
          </a:p>
        </p:txBody>
      </p:sp>
      <p:sp>
        <p:nvSpPr>
          <p:cNvPr id="12" name="Shape 9"/>
          <p:cNvSpPr/>
          <p:nvPr/>
        </p:nvSpPr>
        <p:spPr>
          <a:xfrm>
            <a:off x="4023360" y="2331720"/>
            <a:ext cx="4663440" cy="960120"/>
          </a:xfrm>
          <a:prstGeom prst="roundRect">
            <a:avLst>
              <a:gd name="adj" fmla="val 7619"/>
            </a:avLst>
          </a:prstGeom>
          <a:solidFill>
            <a:schemeClr val="bg2"/>
          </a:solidFill>
          <a:ln/>
        </p:spPr>
      </p:sp>
      <p:sp>
        <p:nvSpPr>
          <p:cNvPr id="13" name="Shape 10"/>
          <p:cNvSpPr/>
          <p:nvPr/>
        </p:nvSpPr>
        <p:spPr>
          <a:xfrm>
            <a:off x="4206240" y="2606040"/>
            <a:ext cx="411480" cy="411480"/>
          </a:xfrm>
          <a:prstGeom prst="ellipse">
            <a:avLst/>
          </a:prstGeom>
          <a:solidFill>
            <a:schemeClr val="accent3"/>
          </a:solidFill>
          <a:ln/>
        </p:spPr>
      </p:sp>
      <p:sp>
        <p:nvSpPr>
          <p:cNvPr id="14" name="Text 11"/>
          <p:cNvSpPr txBox="1"/>
          <p:nvPr/>
        </p:nvSpPr>
        <p:spPr>
          <a:xfrm>
            <a:off x="4206240" y="2606040"/>
            <a:ext cx="411480" cy="411480"/>
          </a:xfrm>
          <a:prstGeom prst="rect">
            <a:avLst/>
          </a:prstGeom>
          <a:noFill/>
          <a:ln/>
        </p:spPr>
        <p:txBody>
          <a:bodyPr wrap="square" lIns="0" tIns="0" rIns="0" bIns="0" rtlCol="0" anchor="ct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4800600" y="2423160"/>
            <a:ext cx="3749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Find a spot that was marked or engraved but NOT cut through. How is it different?</a:t>
            </a:r>
            <a:endParaRPr lang="en-US" sz="1400" dirty="0"/>
          </a:p>
        </p:txBody>
      </p:sp>
      <p:sp>
        <p:nvSpPr>
          <p:cNvPr id="16" name="Shape 13"/>
          <p:cNvSpPr/>
          <p:nvPr/>
        </p:nvSpPr>
        <p:spPr>
          <a:xfrm>
            <a:off x="4023360" y="3474720"/>
            <a:ext cx="4663440" cy="960120"/>
          </a:xfrm>
          <a:prstGeom prst="roundRect">
            <a:avLst>
              <a:gd name="adj" fmla="val 7619"/>
            </a:avLst>
          </a:prstGeom>
          <a:solidFill>
            <a:schemeClr val="bg2"/>
          </a:solidFill>
          <a:ln/>
        </p:spPr>
      </p:sp>
      <p:sp>
        <p:nvSpPr>
          <p:cNvPr id="17" name="Shape 14"/>
          <p:cNvSpPr/>
          <p:nvPr/>
        </p:nvSpPr>
        <p:spPr>
          <a:xfrm>
            <a:off x="4206240" y="3749040"/>
            <a:ext cx="411480" cy="411480"/>
          </a:xfrm>
          <a:prstGeom prst="ellipse">
            <a:avLst/>
          </a:prstGeom>
          <a:solidFill>
            <a:schemeClr val="accent3"/>
          </a:solidFill>
          <a:ln/>
        </p:spPr>
      </p:sp>
      <p:sp>
        <p:nvSpPr>
          <p:cNvPr id="18" name="Text 15"/>
          <p:cNvSpPr txBox="1"/>
          <p:nvPr/>
        </p:nvSpPr>
        <p:spPr>
          <a:xfrm>
            <a:off x="4206240" y="3749040"/>
            <a:ext cx="411480" cy="411480"/>
          </a:xfrm>
          <a:prstGeom prst="rect">
            <a:avLst/>
          </a:prstGeom>
          <a:noFill/>
          <a:ln/>
        </p:spPr>
        <p:txBody>
          <a:bodyPr wrap="square" lIns="0" tIns="0" rIns="0" bIns="0" rtlCol="0" anchor="ctr"/>
          <a:lstStyle/>
          <a:p>
            <a:pPr algn="ctr" indent="0" marL="0">
              <a:buNone/>
            </a:pPr>
            <a:r>
              <a:rPr lang="en-US" sz="1600" b="1" dirty="0">
                <a:solidFill>
                  <a:schemeClr val="accent1"/>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4800600" y="3566160"/>
            <a:ext cx="3749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If this started as a flat sheet, how did it become 3D? What holds it together?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How a laser cutter works</a:t>
            </a:r>
            <a:endParaRPr lang="en-US" sz="3000" dirty="0"/>
          </a:p>
        </p:txBody>
      </p:sp>
      <p:sp>
        <p:nvSpPr>
          <p:cNvPr id="3" name="Text 1"/>
          <p:cNvSpPr txBox="1"/>
          <p:nvPr/>
        </p:nvSpPr>
        <p:spPr>
          <a:xfrm>
            <a:off x="457200" y="960120"/>
            <a:ext cx="8229600" cy="32004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A focused beam of infrared light heats a tiny spot until the material burns away or vaporizes</a:t>
            </a:r>
            <a:endParaRPr lang="en-US" sz="1400" dirty="0"/>
          </a:p>
        </p:txBody>
      </p:sp>
      <p:sp>
        <p:nvSpPr>
          <p:cNvPr id="4" name="Shape 2"/>
          <p:cNvSpPr/>
          <p:nvPr/>
        </p:nvSpPr>
        <p:spPr>
          <a:xfrm>
            <a:off x="841248" y="1463040"/>
            <a:ext cx="685800" cy="6858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05840" y="1627632"/>
            <a:ext cx="356616" cy="356616"/>
          </a:xfrm>
          <a:prstGeom prst="rect">
            <a:avLst/>
          </a:prstGeom>
        </p:spPr>
      </p:pic>
      <p:sp>
        <p:nvSpPr>
          <p:cNvPr id="6" name="Text 3"/>
          <p:cNvSpPr txBox="1"/>
          <p:nvPr/>
        </p:nvSpPr>
        <p:spPr>
          <a:xfrm>
            <a:off x="457200" y="2240280"/>
            <a:ext cx="146304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CO₂ laser tube</a:t>
            </a:r>
            <a:endParaRPr lang="en-US" sz="1500" dirty="0"/>
          </a:p>
        </p:txBody>
      </p:sp>
      <p:sp>
        <p:nvSpPr>
          <p:cNvPr id="7" name="Text 4"/>
          <p:cNvSpPr txBox="1"/>
          <p:nvPr/>
        </p:nvSpPr>
        <p:spPr>
          <a:xfrm>
            <a:off x="457200" y="2560320"/>
            <a:ext cx="14630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Makes an invisible infrared beam</a:t>
            </a:r>
            <a:endParaRPr lang="en-US" sz="1200" dirty="0"/>
          </a:p>
        </p:txBody>
      </p:sp>
      <p:sp>
        <p:nvSpPr>
          <p:cNvPr id="8" name="Shape 5"/>
          <p:cNvSpPr/>
          <p:nvPr/>
        </p:nvSpPr>
        <p:spPr>
          <a:xfrm>
            <a:off x="1709928" y="1691640"/>
            <a:ext cx="274320" cy="228600"/>
          </a:xfrm>
          <a:prstGeom prst="rightArrow">
            <a:avLst/>
          </a:prstGeom>
          <a:solidFill>
            <a:schemeClr val="accent3"/>
          </a:solidFill>
          <a:ln/>
        </p:spPr>
      </p:sp>
      <p:sp>
        <p:nvSpPr>
          <p:cNvPr id="9" name="Shape 6"/>
          <p:cNvSpPr/>
          <p:nvPr/>
        </p:nvSpPr>
        <p:spPr>
          <a:xfrm>
            <a:off x="2542032" y="1463040"/>
            <a:ext cx="685800" cy="6858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2706624" y="1627632"/>
            <a:ext cx="356616" cy="356616"/>
          </a:xfrm>
          <a:prstGeom prst="rect">
            <a:avLst/>
          </a:prstGeom>
        </p:spPr>
      </p:pic>
      <p:sp>
        <p:nvSpPr>
          <p:cNvPr id="11" name="Text 7"/>
          <p:cNvSpPr txBox="1"/>
          <p:nvPr/>
        </p:nvSpPr>
        <p:spPr>
          <a:xfrm>
            <a:off x="2157984" y="2240280"/>
            <a:ext cx="146304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Mirrors</a:t>
            </a:r>
            <a:endParaRPr lang="en-US" sz="1500" dirty="0"/>
          </a:p>
        </p:txBody>
      </p:sp>
      <p:sp>
        <p:nvSpPr>
          <p:cNvPr id="12" name="Text 8"/>
          <p:cNvSpPr txBox="1"/>
          <p:nvPr/>
        </p:nvSpPr>
        <p:spPr>
          <a:xfrm>
            <a:off x="2157984" y="2560320"/>
            <a:ext cx="14630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Bounce the beam to the cutting head</a:t>
            </a:r>
            <a:endParaRPr lang="en-US" sz="1200" dirty="0"/>
          </a:p>
        </p:txBody>
      </p:sp>
      <p:sp>
        <p:nvSpPr>
          <p:cNvPr id="13" name="Shape 9"/>
          <p:cNvSpPr/>
          <p:nvPr/>
        </p:nvSpPr>
        <p:spPr>
          <a:xfrm>
            <a:off x="3410712" y="1691640"/>
            <a:ext cx="274320" cy="228600"/>
          </a:xfrm>
          <a:prstGeom prst="rightArrow">
            <a:avLst/>
          </a:prstGeom>
          <a:solidFill>
            <a:schemeClr val="accent3"/>
          </a:solidFill>
          <a:ln/>
        </p:spPr>
      </p:sp>
      <p:sp>
        <p:nvSpPr>
          <p:cNvPr id="14" name="Shape 10"/>
          <p:cNvSpPr/>
          <p:nvPr/>
        </p:nvSpPr>
        <p:spPr>
          <a:xfrm>
            <a:off x="4242816" y="1463040"/>
            <a:ext cx="685800" cy="6858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407408" y="1627632"/>
            <a:ext cx="356616" cy="356616"/>
          </a:xfrm>
          <a:prstGeom prst="rect">
            <a:avLst/>
          </a:prstGeom>
        </p:spPr>
      </p:pic>
      <p:sp>
        <p:nvSpPr>
          <p:cNvPr id="16" name="Text 11"/>
          <p:cNvSpPr txBox="1"/>
          <p:nvPr/>
        </p:nvSpPr>
        <p:spPr>
          <a:xfrm>
            <a:off x="3858768" y="2240280"/>
            <a:ext cx="146304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Lens</a:t>
            </a:r>
            <a:endParaRPr lang="en-US" sz="1500" dirty="0"/>
          </a:p>
        </p:txBody>
      </p:sp>
      <p:sp>
        <p:nvSpPr>
          <p:cNvPr id="17" name="Text 12"/>
          <p:cNvSpPr txBox="1"/>
          <p:nvPr/>
        </p:nvSpPr>
        <p:spPr>
          <a:xfrm>
            <a:off x="3858768" y="2560320"/>
            <a:ext cx="14630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Focuses it to a tiny, hot spot</a:t>
            </a:r>
            <a:endParaRPr lang="en-US" sz="1200" dirty="0"/>
          </a:p>
        </p:txBody>
      </p:sp>
      <p:sp>
        <p:nvSpPr>
          <p:cNvPr id="18" name="Shape 13"/>
          <p:cNvSpPr/>
          <p:nvPr/>
        </p:nvSpPr>
        <p:spPr>
          <a:xfrm>
            <a:off x="5111496" y="1691640"/>
            <a:ext cx="274320" cy="228600"/>
          </a:xfrm>
          <a:prstGeom prst="rightArrow">
            <a:avLst/>
          </a:prstGeom>
          <a:solidFill>
            <a:schemeClr val="accent3"/>
          </a:solidFill>
          <a:ln/>
        </p:spPr>
      </p:sp>
      <p:sp>
        <p:nvSpPr>
          <p:cNvPr id="19" name="Shape 14"/>
          <p:cNvSpPr/>
          <p:nvPr/>
        </p:nvSpPr>
        <p:spPr>
          <a:xfrm>
            <a:off x="5943600" y="1463040"/>
            <a:ext cx="685800" cy="685800"/>
          </a:xfrm>
          <a:prstGeom prst="ellipse">
            <a:avLst/>
          </a:prstGeom>
          <a:solidFill>
            <a:schemeClr val="accent6"/>
          </a:solidFill>
          <a:ln/>
        </p:spPr>
      </p:sp>
      <p:pic>
        <p:nvPicPr>
          <p:cNvPr id="20" name="Image 3" descr="preencoded.png">    </p:cNvPr>
          <p:cNvPicPr>
            <a:picLocks noChangeAspect="1"/>
          </p:cNvPicPr>
          <p:nvPr/>
        </p:nvPicPr>
        <p:blipFill>
          <a:blip r:embed="rId4"/>
          <a:stretch>
            <a:fillRect/>
          </a:stretch>
        </p:blipFill>
        <p:spPr>
          <a:xfrm>
            <a:off x="6108192" y="1627632"/>
            <a:ext cx="356616" cy="356616"/>
          </a:xfrm>
          <a:prstGeom prst="rect">
            <a:avLst/>
          </a:prstGeom>
        </p:spPr>
      </p:pic>
      <p:sp>
        <p:nvSpPr>
          <p:cNvPr id="21" name="Text 15"/>
          <p:cNvSpPr txBox="1"/>
          <p:nvPr/>
        </p:nvSpPr>
        <p:spPr>
          <a:xfrm>
            <a:off x="5559552" y="2240280"/>
            <a:ext cx="146304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Material</a:t>
            </a:r>
            <a:endParaRPr lang="en-US" sz="1500" dirty="0"/>
          </a:p>
        </p:txBody>
      </p:sp>
      <p:sp>
        <p:nvSpPr>
          <p:cNvPr id="22" name="Text 16"/>
          <p:cNvSpPr txBox="1"/>
          <p:nvPr/>
        </p:nvSpPr>
        <p:spPr>
          <a:xfrm>
            <a:off x="5559552" y="2560320"/>
            <a:ext cx="14630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Burns or vaporizes along the path</a:t>
            </a:r>
            <a:endParaRPr lang="en-US" sz="1200" dirty="0"/>
          </a:p>
        </p:txBody>
      </p:sp>
      <p:sp>
        <p:nvSpPr>
          <p:cNvPr id="23" name="Shape 17"/>
          <p:cNvSpPr/>
          <p:nvPr/>
        </p:nvSpPr>
        <p:spPr>
          <a:xfrm>
            <a:off x="6812280" y="1691640"/>
            <a:ext cx="274320" cy="228600"/>
          </a:xfrm>
          <a:prstGeom prst="rightArrow">
            <a:avLst/>
          </a:prstGeom>
          <a:solidFill>
            <a:schemeClr val="accent3"/>
          </a:solidFill>
          <a:ln/>
        </p:spPr>
      </p:sp>
      <p:sp>
        <p:nvSpPr>
          <p:cNvPr id="24" name="Shape 18"/>
          <p:cNvSpPr/>
          <p:nvPr/>
        </p:nvSpPr>
        <p:spPr>
          <a:xfrm>
            <a:off x="7644384" y="1463040"/>
            <a:ext cx="685800" cy="68580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7808976" y="1627632"/>
            <a:ext cx="356616" cy="356616"/>
          </a:xfrm>
          <a:prstGeom prst="rect">
            <a:avLst/>
          </a:prstGeom>
        </p:spPr>
      </p:pic>
      <p:sp>
        <p:nvSpPr>
          <p:cNvPr id="26" name="Text 19"/>
          <p:cNvSpPr txBox="1"/>
          <p:nvPr/>
        </p:nvSpPr>
        <p:spPr>
          <a:xfrm>
            <a:off x="7260336" y="2240280"/>
            <a:ext cx="146304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Ventilation</a:t>
            </a:r>
            <a:endParaRPr lang="en-US" sz="1500" dirty="0"/>
          </a:p>
        </p:txBody>
      </p:sp>
      <p:sp>
        <p:nvSpPr>
          <p:cNvPr id="27" name="Text 20"/>
          <p:cNvSpPr txBox="1"/>
          <p:nvPr/>
        </p:nvSpPr>
        <p:spPr>
          <a:xfrm>
            <a:off x="7260336" y="2560320"/>
            <a:ext cx="14630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Pulls smoke and fumes out</a:t>
            </a:r>
            <a:endParaRPr lang="en-US" sz="1200" dirty="0"/>
          </a:p>
        </p:txBody>
      </p:sp>
      <p:sp>
        <p:nvSpPr>
          <p:cNvPr id="28" name="Shape 21"/>
          <p:cNvSpPr/>
          <p:nvPr/>
        </p:nvSpPr>
        <p:spPr>
          <a:xfrm>
            <a:off x="457200" y="3429000"/>
            <a:ext cx="1920240" cy="1097280"/>
          </a:xfrm>
          <a:prstGeom prst="roundRect">
            <a:avLst>
              <a:gd name="adj" fmla="val 6667"/>
            </a:avLst>
          </a:prstGeom>
          <a:solidFill>
            <a:schemeClr val="bg2"/>
          </a:solidFill>
          <a:ln/>
        </p:spPr>
      </p:sp>
      <p:sp>
        <p:nvSpPr>
          <p:cNvPr id="29" name="Text 22"/>
          <p:cNvSpPr txBox="1"/>
          <p:nvPr/>
        </p:nvSpPr>
        <p:spPr>
          <a:xfrm>
            <a:off x="594360" y="3520440"/>
            <a:ext cx="16459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Vector cut</a:t>
            </a:r>
            <a:endParaRPr lang="en-US" sz="1400" dirty="0"/>
          </a:p>
        </p:txBody>
      </p:sp>
      <p:sp>
        <p:nvSpPr>
          <p:cNvPr id="30" name="Text 23"/>
          <p:cNvSpPr txBox="1"/>
          <p:nvPr/>
        </p:nvSpPr>
        <p:spPr>
          <a:xfrm>
            <a:off x="594360" y="3858768"/>
            <a:ext cx="16459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Follows a line all the way through</a:t>
            </a:r>
            <a:endParaRPr lang="en-US" sz="1200" dirty="0"/>
          </a:p>
        </p:txBody>
      </p:sp>
      <p:sp>
        <p:nvSpPr>
          <p:cNvPr id="31" name="Shape 24"/>
          <p:cNvSpPr/>
          <p:nvPr/>
        </p:nvSpPr>
        <p:spPr>
          <a:xfrm>
            <a:off x="2560320" y="3429000"/>
            <a:ext cx="1920240" cy="1097280"/>
          </a:xfrm>
          <a:prstGeom prst="roundRect">
            <a:avLst>
              <a:gd name="adj" fmla="val 6667"/>
            </a:avLst>
          </a:prstGeom>
          <a:solidFill>
            <a:schemeClr val="bg2"/>
          </a:solidFill>
          <a:ln/>
        </p:spPr>
      </p:sp>
      <p:sp>
        <p:nvSpPr>
          <p:cNvPr id="32" name="Text 25"/>
          <p:cNvSpPr txBox="1"/>
          <p:nvPr/>
        </p:nvSpPr>
        <p:spPr>
          <a:xfrm>
            <a:off x="2697480" y="3520440"/>
            <a:ext cx="16459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Vector score</a:t>
            </a:r>
            <a:endParaRPr lang="en-US" sz="1400" dirty="0"/>
          </a:p>
        </p:txBody>
      </p:sp>
      <p:sp>
        <p:nvSpPr>
          <p:cNvPr id="33" name="Text 26"/>
          <p:cNvSpPr txBox="1"/>
          <p:nvPr/>
        </p:nvSpPr>
        <p:spPr>
          <a:xfrm>
            <a:off x="2697480" y="3858768"/>
            <a:ext cx="16459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Follows a line, but only marks the surface</a:t>
            </a:r>
            <a:endParaRPr lang="en-US" sz="1200" dirty="0"/>
          </a:p>
        </p:txBody>
      </p:sp>
      <p:sp>
        <p:nvSpPr>
          <p:cNvPr id="34" name="Shape 27"/>
          <p:cNvSpPr/>
          <p:nvPr/>
        </p:nvSpPr>
        <p:spPr>
          <a:xfrm>
            <a:off x="4663440" y="3429000"/>
            <a:ext cx="1920240" cy="1097280"/>
          </a:xfrm>
          <a:prstGeom prst="roundRect">
            <a:avLst>
              <a:gd name="adj" fmla="val 6667"/>
            </a:avLst>
          </a:prstGeom>
          <a:solidFill>
            <a:schemeClr val="bg2"/>
          </a:solidFill>
          <a:ln/>
        </p:spPr>
      </p:sp>
      <p:sp>
        <p:nvSpPr>
          <p:cNvPr id="35" name="Text 28"/>
          <p:cNvSpPr txBox="1"/>
          <p:nvPr/>
        </p:nvSpPr>
        <p:spPr>
          <a:xfrm>
            <a:off x="4800600" y="3520440"/>
            <a:ext cx="16459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Raster engrave</a:t>
            </a:r>
            <a:endParaRPr lang="en-US" sz="1400" dirty="0"/>
          </a:p>
        </p:txBody>
      </p:sp>
      <p:sp>
        <p:nvSpPr>
          <p:cNvPr id="36" name="Text 29"/>
          <p:cNvSpPr txBox="1"/>
          <p:nvPr/>
        </p:nvSpPr>
        <p:spPr>
          <a:xfrm>
            <a:off x="4800600" y="3858768"/>
            <a:ext cx="16459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Scans back and forth like a printer to fill an area</a:t>
            </a:r>
            <a:endParaRPr lang="en-US" sz="1200" dirty="0"/>
          </a:p>
        </p:txBody>
      </p:sp>
      <p:sp>
        <p:nvSpPr>
          <p:cNvPr id="37" name="Shape 30"/>
          <p:cNvSpPr/>
          <p:nvPr/>
        </p:nvSpPr>
        <p:spPr>
          <a:xfrm>
            <a:off x="6766560" y="3429000"/>
            <a:ext cx="1920240" cy="1097280"/>
          </a:xfrm>
          <a:prstGeom prst="roundRect">
            <a:avLst>
              <a:gd name="adj" fmla="val 6667"/>
            </a:avLst>
          </a:prstGeom>
          <a:solidFill>
            <a:schemeClr val="bg2"/>
          </a:solidFill>
          <a:ln/>
        </p:spPr>
      </p:sp>
      <p:sp>
        <p:nvSpPr>
          <p:cNvPr id="38" name="Text 31"/>
          <p:cNvSpPr txBox="1"/>
          <p:nvPr/>
        </p:nvSpPr>
        <p:spPr>
          <a:xfrm>
            <a:off x="6903720" y="3520440"/>
            <a:ext cx="16459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Kerf</a:t>
            </a:r>
            <a:endParaRPr lang="en-US" sz="1400" dirty="0"/>
          </a:p>
        </p:txBody>
      </p:sp>
      <p:sp>
        <p:nvSpPr>
          <p:cNvPr id="39" name="Text 32"/>
          <p:cNvSpPr txBox="1"/>
          <p:nvPr/>
        </p:nvSpPr>
        <p:spPr>
          <a:xfrm>
            <a:off x="6903720" y="3858768"/>
            <a:ext cx="16459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width of material the beam burns away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Cut, score, or engrave?</a:t>
            </a:r>
            <a:endParaRPr lang="en-US" sz="3000" dirty="0"/>
          </a:p>
        </p:txBody>
      </p:sp>
      <p:sp>
        <p:nvSpPr>
          <p:cNvPr id="3" name="Shape 1"/>
          <p:cNvSpPr/>
          <p:nvPr/>
        </p:nvSpPr>
        <p:spPr>
          <a:xfrm>
            <a:off x="457200" y="1188720"/>
            <a:ext cx="2606040" cy="2743200"/>
          </a:xfrm>
          <a:prstGeom prst="roundRect">
            <a:avLst>
              <a:gd name="adj" fmla="val 2807"/>
            </a:avLst>
          </a:prstGeom>
          <a:solidFill>
            <a:schemeClr val="bg2"/>
          </a:solidFill>
          <a:ln/>
        </p:spPr>
      </p:sp>
      <p:sp>
        <p:nvSpPr>
          <p:cNvPr id="4" name="Shape 2"/>
          <p:cNvSpPr/>
          <p:nvPr/>
        </p:nvSpPr>
        <p:spPr>
          <a:xfrm>
            <a:off x="731520" y="1417320"/>
            <a:ext cx="685800" cy="68580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896112" y="1581912"/>
            <a:ext cx="356616" cy="356616"/>
          </a:xfrm>
          <a:prstGeom prst="rect">
            <a:avLst/>
          </a:prstGeom>
        </p:spPr>
      </p:pic>
      <p:sp>
        <p:nvSpPr>
          <p:cNvPr id="6" name="Text 3"/>
          <p:cNvSpPr txBox="1"/>
          <p:nvPr/>
        </p:nvSpPr>
        <p:spPr>
          <a:xfrm>
            <a:off x="731520" y="2240280"/>
            <a:ext cx="210312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Cut</a:t>
            </a:r>
            <a:endParaRPr lang="en-US" sz="2000" dirty="0"/>
          </a:p>
        </p:txBody>
      </p:sp>
      <p:sp>
        <p:nvSpPr>
          <p:cNvPr id="7" name="Text 4"/>
          <p:cNvSpPr txBox="1"/>
          <p:nvPr/>
        </p:nvSpPr>
        <p:spPr>
          <a:xfrm>
            <a:off x="731520" y="2697480"/>
            <a:ext cx="21031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Goes all the way through. Separates your part from the sheet.</a:t>
            </a:r>
            <a:endParaRPr lang="en-US" sz="1400" dirty="0"/>
          </a:p>
        </p:txBody>
      </p:sp>
      <p:sp>
        <p:nvSpPr>
          <p:cNvPr id="8" name="Text 5"/>
          <p:cNvSpPr txBox="1"/>
          <p:nvPr/>
        </p:nvSpPr>
        <p:spPr>
          <a:xfrm>
            <a:off x="731520" y="3474720"/>
            <a:ext cx="2103120" cy="36576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Use for: Outlines, holes, slots</a:t>
            </a:r>
            <a:endParaRPr lang="en-US" sz="1200" dirty="0"/>
          </a:p>
        </p:txBody>
      </p:sp>
      <p:sp>
        <p:nvSpPr>
          <p:cNvPr id="9" name="Shape 6"/>
          <p:cNvSpPr/>
          <p:nvPr/>
        </p:nvSpPr>
        <p:spPr>
          <a:xfrm>
            <a:off x="3273552" y="1188720"/>
            <a:ext cx="2606040" cy="2743200"/>
          </a:xfrm>
          <a:prstGeom prst="roundRect">
            <a:avLst>
              <a:gd name="adj" fmla="val 2807"/>
            </a:avLst>
          </a:prstGeom>
          <a:solidFill>
            <a:schemeClr val="bg2"/>
          </a:solidFill>
          <a:ln/>
        </p:spPr>
      </p:sp>
      <p:sp>
        <p:nvSpPr>
          <p:cNvPr id="10" name="Shape 7"/>
          <p:cNvSpPr/>
          <p:nvPr/>
        </p:nvSpPr>
        <p:spPr>
          <a:xfrm>
            <a:off x="3547872" y="1417320"/>
            <a:ext cx="685800" cy="6858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3712464" y="1581912"/>
            <a:ext cx="356616" cy="356616"/>
          </a:xfrm>
          <a:prstGeom prst="rect">
            <a:avLst/>
          </a:prstGeom>
        </p:spPr>
      </p:pic>
      <p:sp>
        <p:nvSpPr>
          <p:cNvPr id="12" name="Text 8"/>
          <p:cNvSpPr txBox="1"/>
          <p:nvPr/>
        </p:nvSpPr>
        <p:spPr>
          <a:xfrm>
            <a:off x="3547872" y="2240280"/>
            <a:ext cx="210312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Score</a:t>
            </a:r>
            <a:endParaRPr lang="en-US" sz="2000" dirty="0"/>
          </a:p>
        </p:txBody>
      </p:sp>
      <p:sp>
        <p:nvSpPr>
          <p:cNvPr id="13" name="Text 9"/>
          <p:cNvSpPr txBox="1"/>
          <p:nvPr/>
        </p:nvSpPr>
        <p:spPr>
          <a:xfrm>
            <a:off x="3547872" y="2697480"/>
            <a:ext cx="21031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single fast, light pass along a line. Marks the surface only.</a:t>
            </a:r>
            <a:endParaRPr lang="en-US" sz="1400" dirty="0"/>
          </a:p>
        </p:txBody>
      </p:sp>
      <p:sp>
        <p:nvSpPr>
          <p:cNvPr id="14" name="Text 10"/>
          <p:cNvSpPr txBox="1"/>
          <p:nvPr/>
        </p:nvSpPr>
        <p:spPr>
          <a:xfrm>
            <a:off x="3547872" y="3474720"/>
            <a:ext cx="2103120" cy="36576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Use for: Fold lines, outlines, labels</a:t>
            </a:r>
            <a:endParaRPr lang="en-US" sz="1200" dirty="0"/>
          </a:p>
        </p:txBody>
      </p:sp>
      <p:sp>
        <p:nvSpPr>
          <p:cNvPr id="15" name="Shape 11"/>
          <p:cNvSpPr/>
          <p:nvPr/>
        </p:nvSpPr>
        <p:spPr>
          <a:xfrm>
            <a:off x="6089904" y="1188720"/>
            <a:ext cx="2606040" cy="2743200"/>
          </a:xfrm>
          <a:prstGeom prst="roundRect">
            <a:avLst>
              <a:gd name="adj" fmla="val 2807"/>
            </a:avLst>
          </a:prstGeom>
          <a:solidFill>
            <a:schemeClr val="bg2"/>
          </a:solidFill>
          <a:ln/>
        </p:spPr>
      </p:sp>
      <p:sp>
        <p:nvSpPr>
          <p:cNvPr id="16" name="Shape 12"/>
          <p:cNvSpPr/>
          <p:nvPr/>
        </p:nvSpPr>
        <p:spPr>
          <a:xfrm>
            <a:off x="6364224" y="1417320"/>
            <a:ext cx="685800" cy="6858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528816" y="1581912"/>
            <a:ext cx="356616" cy="356616"/>
          </a:xfrm>
          <a:prstGeom prst="rect">
            <a:avLst/>
          </a:prstGeom>
        </p:spPr>
      </p:pic>
      <p:sp>
        <p:nvSpPr>
          <p:cNvPr id="18" name="Text 13"/>
          <p:cNvSpPr txBox="1"/>
          <p:nvPr/>
        </p:nvSpPr>
        <p:spPr>
          <a:xfrm>
            <a:off x="6364224" y="2240280"/>
            <a:ext cx="210312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Engrave</a:t>
            </a:r>
            <a:endParaRPr lang="en-US" sz="2000" dirty="0"/>
          </a:p>
        </p:txBody>
      </p:sp>
      <p:sp>
        <p:nvSpPr>
          <p:cNvPr id="19" name="Text 14"/>
          <p:cNvSpPr txBox="1"/>
          <p:nvPr/>
        </p:nvSpPr>
        <p:spPr>
          <a:xfrm>
            <a:off x="6364224" y="2697480"/>
            <a:ext cx="21031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Fills an area by scanning line after line. Slowest of the three.</a:t>
            </a:r>
            <a:endParaRPr lang="en-US" sz="1400" dirty="0"/>
          </a:p>
        </p:txBody>
      </p:sp>
      <p:sp>
        <p:nvSpPr>
          <p:cNvPr id="20" name="Text 15"/>
          <p:cNvSpPr txBox="1"/>
          <p:nvPr/>
        </p:nvSpPr>
        <p:spPr>
          <a:xfrm>
            <a:off x="6364224" y="3474720"/>
            <a:ext cx="2103120" cy="36576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Use for: Logos, text, photos, textures</a:t>
            </a:r>
            <a:endParaRPr lang="en-US" sz="1200" dirty="0"/>
          </a:p>
        </p:txBody>
      </p:sp>
      <p:sp>
        <p:nvSpPr>
          <p:cNvPr id="21" name="Text 16"/>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The laser doesn't know your intent. It decides what to do from the color of each line in your file.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Meet the WCC laser cutter</a:t>
            </a:r>
            <a:endParaRPr lang="en-US" sz="3000" dirty="0"/>
          </a:p>
        </p:txBody>
      </p:sp>
      <p:sp>
        <p:nvSpPr>
          <p:cNvPr id="3" name="Shape 1"/>
          <p:cNvSpPr/>
          <p:nvPr/>
        </p:nvSpPr>
        <p:spPr>
          <a:xfrm>
            <a:off x="457200" y="1097280"/>
            <a:ext cx="4114800" cy="3474720"/>
          </a:xfrm>
          <a:prstGeom prst="roundRect">
            <a:avLst>
              <a:gd name="adj" fmla="val 2105"/>
            </a:avLst>
          </a:prstGeom>
          <a:solidFill>
            <a:schemeClr val="bg2"/>
          </a:solidFill>
          <a:ln/>
        </p:spPr>
      </p:sp>
      <p:pic>
        <p:nvPicPr>
          <p:cNvPr id="4" name="Image 0" descr="/tmp/work/media/image25.jpg">    </p:cNvPr>
          <p:cNvPicPr>
            <a:picLocks noChangeAspect="1"/>
          </p:cNvPicPr>
          <p:nvPr/>
        </p:nvPicPr>
        <p:blipFill>
          <a:blip r:embed="rId1"/>
          <a:stretch>
            <a:fillRect/>
          </a:stretch>
        </p:blipFill>
        <p:spPr>
          <a:xfrm>
            <a:off x="548640" y="1360170"/>
            <a:ext cx="3931920" cy="2948940"/>
          </a:xfrm>
          <a:prstGeom prst="rect">
            <a:avLst/>
          </a:prstGeom>
        </p:spPr>
      </p:pic>
      <p:sp>
        <p:nvSpPr>
          <p:cNvPr id="5" name="Shape 2"/>
          <p:cNvSpPr/>
          <p:nvPr/>
        </p:nvSpPr>
        <p:spPr>
          <a:xfrm>
            <a:off x="4846320" y="1188720"/>
            <a:ext cx="548640" cy="548640"/>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4977994" y="1320394"/>
            <a:ext cx="285293" cy="285293"/>
          </a:xfrm>
          <a:prstGeom prst="rect">
            <a:avLst/>
          </a:prstGeom>
        </p:spPr>
      </p:pic>
      <p:sp>
        <p:nvSpPr>
          <p:cNvPr id="7" name="Text 3"/>
          <p:cNvSpPr txBox="1"/>
          <p:nvPr/>
        </p:nvSpPr>
        <p:spPr>
          <a:xfrm>
            <a:off x="5577840" y="1143000"/>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TROTEC Rayjet 300</a:t>
            </a:r>
            <a:endParaRPr lang="en-US" sz="1500" dirty="0"/>
          </a:p>
        </p:txBody>
      </p:sp>
      <p:sp>
        <p:nvSpPr>
          <p:cNvPr id="8" name="Text 4"/>
          <p:cNvSpPr txBox="1"/>
          <p:nvPr/>
        </p:nvSpPr>
        <p:spPr>
          <a:xfrm>
            <a:off x="5577840" y="1472184"/>
            <a:ext cx="31089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CO₂ laser. The beam is infrared and invisible</a:t>
            </a:r>
            <a:endParaRPr lang="en-US" sz="1200" dirty="0"/>
          </a:p>
        </p:txBody>
      </p:sp>
      <p:sp>
        <p:nvSpPr>
          <p:cNvPr id="9" name="Shape 5"/>
          <p:cNvSpPr/>
          <p:nvPr/>
        </p:nvSpPr>
        <p:spPr>
          <a:xfrm>
            <a:off x="4846320" y="2057400"/>
            <a:ext cx="548640" cy="54864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4977994" y="2189074"/>
            <a:ext cx="285293" cy="285293"/>
          </a:xfrm>
          <a:prstGeom prst="rect">
            <a:avLst/>
          </a:prstGeom>
        </p:spPr>
      </p:pic>
      <p:sp>
        <p:nvSpPr>
          <p:cNvPr id="11" name="Text 6"/>
          <p:cNvSpPr txBox="1"/>
          <p:nvPr/>
        </p:nvSpPr>
        <p:spPr>
          <a:xfrm>
            <a:off x="5577840" y="2011680"/>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Bed size 29" × 17"</a:t>
            </a:r>
            <a:endParaRPr lang="en-US" sz="1500" dirty="0"/>
          </a:p>
        </p:txBody>
      </p:sp>
      <p:sp>
        <p:nvSpPr>
          <p:cNvPr id="12" name="Text 7"/>
          <p:cNvSpPr txBox="1"/>
          <p:nvPr/>
        </p:nvSpPr>
        <p:spPr>
          <a:xfrm>
            <a:off x="5577840" y="2340864"/>
            <a:ext cx="31089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Your material and document can't be bigger than this</a:t>
            </a:r>
            <a:endParaRPr lang="en-US" sz="1200" dirty="0"/>
          </a:p>
        </p:txBody>
      </p:sp>
      <p:sp>
        <p:nvSpPr>
          <p:cNvPr id="13" name="Shape 8"/>
          <p:cNvSpPr/>
          <p:nvPr/>
        </p:nvSpPr>
        <p:spPr>
          <a:xfrm>
            <a:off x="4846320" y="2926080"/>
            <a:ext cx="548640" cy="54864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4977994" y="3057754"/>
            <a:ext cx="285293" cy="285293"/>
          </a:xfrm>
          <a:prstGeom prst="rect">
            <a:avLst/>
          </a:prstGeom>
        </p:spPr>
      </p:pic>
      <p:sp>
        <p:nvSpPr>
          <p:cNvPr id="15" name="Text 9"/>
          <p:cNvSpPr txBox="1"/>
          <p:nvPr/>
        </p:nvSpPr>
        <p:spPr>
          <a:xfrm>
            <a:off x="5577840" y="2880360"/>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CAS 117</a:t>
            </a:r>
            <a:endParaRPr lang="en-US" sz="1500" dirty="0"/>
          </a:p>
        </p:txBody>
      </p:sp>
      <p:sp>
        <p:nvSpPr>
          <p:cNvPr id="16" name="Text 10"/>
          <p:cNvSpPr txBox="1"/>
          <p:nvPr/>
        </p:nvSpPr>
        <p:spPr>
          <a:xfrm>
            <a:off x="5577840" y="3209544"/>
            <a:ext cx="31089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WCC Engineering Lab: the machine available for student use</a:t>
            </a:r>
            <a:endParaRPr lang="en-US" sz="1200" dirty="0"/>
          </a:p>
        </p:txBody>
      </p:sp>
      <p:sp>
        <p:nvSpPr>
          <p:cNvPr id="17" name="Shape 11"/>
          <p:cNvSpPr/>
          <p:nvPr/>
        </p:nvSpPr>
        <p:spPr>
          <a:xfrm>
            <a:off x="4846320" y="3794760"/>
            <a:ext cx="548640" cy="548640"/>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4977994" y="3926434"/>
            <a:ext cx="285293" cy="285293"/>
          </a:xfrm>
          <a:prstGeom prst="rect">
            <a:avLst/>
          </a:prstGeom>
        </p:spPr>
      </p:pic>
      <p:sp>
        <p:nvSpPr>
          <p:cNvPr id="19" name="Text 12"/>
          <p:cNvSpPr txBox="1"/>
          <p:nvPr/>
        </p:nvSpPr>
        <p:spPr>
          <a:xfrm>
            <a:off x="5577840" y="3749040"/>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Rayjet Manager</a:t>
            </a:r>
            <a:endParaRPr lang="en-US" sz="1500" dirty="0"/>
          </a:p>
        </p:txBody>
      </p:sp>
      <p:sp>
        <p:nvSpPr>
          <p:cNvPr id="20" name="Text 13"/>
          <p:cNvSpPr txBox="1"/>
          <p:nvPr/>
        </p:nvSpPr>
        <p:spPr>
          <a:xfrm>
            <a:off x="5577840" y="4078224"/>
            <a:ext cx="31089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Trotec software that receives your job from CorelDRAW</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The control panel</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On the right side of the machine is a control panel you can use to control positioning of the actual laser.</a:t>
            </a:r>
            <a:endParaRPr lang="en-US" sz="1400" dirty="0"/>
          </a:p>
        </p:txBody>
      </p:sp>
      <p:sp>
        <p:nvSpPr>
          <p:cNvPr id="4" name="Shape 2"/>
          <p:cNvSpPr/>
          <p:nvPr/>
        </p:nvSpPr>
        <p:spPr>
          <a:xfrm>
            <a:off x="457200" y="1417320"/>
            <a:ext cx="5394960" cy="3154680"/>
          </a:xfrm>
          <a:prstGeom prst="roundRect">
            <a:avLst>
              <a:gd name="adj" fmla="val 2319"/>
            </a:avLst>
          </a:prstGeom>
          <a:solidFill>
            <a:schemeClr val="bg1"/>
          </a:solidFill>
          <a:ln/>
        </p:spPr>
      </p:sp>
      <p:pic>
        <p:nvPicPr>
          <p:cNvPr id="5" name="Image 0" descr="/tmp/work/media/image17.png">    </p:cNvPr>
          <p:cNvPicPr>
            <a:picLocks noChangeAspect="1"/>
          </p:cNvPicPr>
          <p:nvPr/>
        </p:nvPicPr>
        <p:blipFill>
          <a:blip r:embed="rId1"/>
          <a:stretch>
            <a:fillRect/>
          </a:stretch>
        </p:blipFill>
        <p:spPr>
          <a:xfrm>
            <a:off x="457200" y="1505903"/>
            <a:ext cx="5394960" cy="2977515"/>
          </a:xfrm>
          <a:prstGeom prst="rect">
            <a:avLst/>
          </a:prstGeom>
        </p:spPr>
      </p:pic>
      <p:sp>
        <p:nvSpPr>
          <p:cNvPr id="6" name="Shape 3"/>
          <p:cNvSpPr/>
          <p:nvPr/>
        </p:nvSpPr>
        <p:spPr>
          <a:xfrm>
            <a:off x="6035040" y="1417320"/>
            <a:ext cx="2651760" cy="676656"/>
          </a:xfrm>
          <a:prstGeom prst="roundRect">
            <a:avLst>
              <a:gd name="adj" fmla="val 10811"/>
            </a:avLst>
          </a:prstGeom>
          <a:solidFill>
            <a:schemeClr val="bg2"/>
          </a:solidFill>
          <a:ln/>
        </p:spPr>
      </p:sp>
      <p:sp>
        <p:nvSpPr>
          <p:cNvPr id="7" name="Text 4"/>
          <p:cNvSpPr txBox="1"/>
          <p:nvPr/>
        </p:nvSpPr>
        <p:spPr>
          <a:xfrm>
            <a:off x="6172200" y="1453896"/>
            <a:ext cx="242316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X / Y arrows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Move the laser head left/right and in/out</a:t>
            </a:r>
            <a:endParaRPr lang="en-US" sz="1400" dirty="0"/>
          </a:p>
        </p:txBody>
      </p:sp>
      <p:sp>
        <p:nvSpPr>
          <p:cNvPr id="8" name="Shape 5"/>
          <p:cNvSpPr/>
          <p:nvPr/>
        </p:nvSpPr>
        <p:spPr>
          <a:xfrm>
            <a:off x="6035040" y="2203704"/>
            <a:ext cx="2651760" cy="676656"/>
          </a:xfrm>
          <a:prstGeom prst="roundRect">
            <a:avLst>
              <a:gd name="adj" fmla="val 10811"/>
            </a:avLst>
          </a:prstGeom>
          <a:solidFill>
            <a:schemeClr val="bg2"/>
          </a:solidFill>
          <a:ln/>
        </p:spPr>
      </p:sp>
      <p:sp>
        <p:nvSpPr>
          <p:cNvPr id="9" name="Text 6"/>
          <p:cNvSpPr txBox="1"/>
          <p:nvPr/>
        </p:nvSpPr>
        <p:spPr>
          <a:xfrm>
            <a:off x="6172200" y="2240280"/>
            <a:ext cx="242316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Z arrows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Move the bed up and down</a:t>
            </a:r>
            <a:endParaRPr lang="en-US" sz="1400" dirty="0"/>
          </a:p>
        </p:txBody>
      </p:sp>
      <p:sp>
        <p:nvSpPr>
          <p:cNvPr id="10" name="Shape 7"/>
          <p:cNvSpPr/>
          <p:nvPr/>
        </p:nvSpPr>
        <p:spPr>
          <a:xfrm>
            <a:off x="6035040" y="2990088"/>
            <a:ext cx="2651760" cy="676656"/>
          </a:xfrm>
          <a:prstGeom prst="roundRect">
            <a:avLst>
              <a:gd name="adj" fmla="val 10811"/>
            </a:avLst>
          </a:prstGeom>
          <a:solidFill>
            <a:schemeClr val="bg2"/>
          </a:solidFill>
          <a:ln/>
        </p:spPr>
      </p:sp>
      <p:sp>
        <p:nvSpPr>
          <p:cNvPr id="11" name="Text 8"/>
          <p:cNvSpPr txBox="1"/>
          <p:nvPr/>
        </p:nvSpPr>
        <p:spPr>
          <a:xfrm>
            <a:off x="6172200" y="3026664"/>
            <a:ext cx="242316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START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Runs the job once it's set up</a:t>
            </a:r>
            <a:endParaRPr lang="en-US" sz="1400" dirty="0"/>
          </a:p>
        </p:txBody>
      </p:sp>
      <p:sp>
        <p:nvSpPr>
          <p:cNvPr id="12" name="Shape 9"/>
          <p:cNvSpPr/>
          <p:nvPr/>
        </p:nvSpPr>
        <p:spPr>
          <a:xfrm>
            <a:off x="6035040" y="3776472"/>
            <a:ext cx="2651760" cy="676656"/>
          </a:xfrm>
          <a:prstGeom prst="roundRect">
            <a:avLst>
              <a:gd name="adj" fmla="val 10811"/>
            </a:avLst>
          </a:prstGeom>
          <a:solidFill>
            <a:schemeClr val="bg2"/>
          </a:solidFill>
          <a:ln/>
        </p:spPr>
      </p:sp>
      <p:sp>
        <p:nvSpPr>
          <p:cNvPr id="13" name="Text 10"/>
          <p:cNvSpPr txBox="1"/>
          <p:nvPr/>
        </p:nvSpPr>
        <p:spPr>
          <a:xfrm>
            <a:off x="6172200" y="3813048"/>
            <a:ext cx="242316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Blinking light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The laser is active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What can go in the laser?</a:t>
            </a:r>
            <a:endParaRPr lang="en-US" sz="3000" dirty="0"/>
          </a:p>
        </p:txBody>
      </p:sp>
      <p:sp>
        <p:nvSpPr>
          <p:cNvPr id="3" name="Shape 1"/>
          <p:cNvSpPr/>
          <p:nvPr/>
        </p:nvSpPr>
        <p:spPr>
          <a:xfrm>
            <a:off x="457200" y="1097280"/>
            <a:ext cx="4023360" cy="3474720"/>
          </a:xfrm>
          <a:prstGeom prst="roundRect">
            <a:avLst>
              <a:gd name="adj" fmla="val 2105"/>
            </a:avLst>
          </a:prstGeom>
          <a:solidFill>
            <a:schemeClr val="bg2"/>
          </a:solidFill>
          <a:ln/>
        </p:spPr>
      </p:sp>
      <p:pic>
        <p:nvPicPr>
          <p:cNvPr id="4" name="Image 0" descr="preencoded.png">    </p:cNvPr>
          <p:cNvPicPr>
            <a:picLocks noChangeAspect="1"/>
          </p:cNvPicPr>
          <p:nvPr/>
        </p:nvPicPr>
        <p:blipFill>
          <a:blip r:embed="rId1"/>
          <a:stretch>
            <a:fillRect/>
          </a:stretch>
        </p:blipFill>
        <p:spPr>
          <a:xfrm>
            <a:off x="685800" y="1280160"/>
            <a:ext cx="411480" cy="411480"/>
          </a:xfrm>
          <a:prstGeom prst="rect">
            <a:avLst/>
          </a:prstGeom>
        </p:spPr>
      </p:pic>
      <p:sp>
        <p:nvSpPr>
          <p:cNvPr id="5" name="Text 2"/>
          <p:cNvSpPr txBox="1"/>
          <p:nvPr/>
        </p:nvSpPr>
        <p:spPr>
          <a:xfrm>
            <a:off x="1234440" y="1280160"/>
            <a:ext cx="310896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OK with approval</a:t>
            </a:r>
            <a:endParaRPr lang="en-US" sz="1800" dirty="0"/>
          </a:p>
        </p:txBody>
      </p:sp>
      <p:sp>
        <p:nvSpPr>
          <p:cNvPr id="6" name="Text 3"/>
          <p:cNvSpPr txBox="1"/>
          <p:nvPr/>
        </p:nvSpPr>
        <p:spPr>
          <a:xfrm>
            <a:off x="685800" y="187452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Plywood (thin, laser-grade)</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MDF</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Cast acrylic</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Cardboard, chipboard, paper</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Natural leather, cork, felt</a:t>
            </a:r>
            <a:endParaRPr lang="en-US" sz="1500" dirty="0"/>
          </a:p>
        </p:txBody>
      </p:sp>
      <p:sp>
        <p:nvSpPr>
          <p:cNvPr id="7" name="Shape 4"/>
          <p:cNvSpPr/>
          <p:nvPr/>
        </p:nvSpPr>
        <p:spPr>
          <a:xfrm>
            <a:off x="4663440" y="1097280"/>
            <a:ext cx="4023360" cy="3474720"/>
          </a:xfrm>
          <a:prstGeom prst="roundRect">
            <a:avLst>
              <a:gd name="adj" fmla="val 2105"/>
            </a:avLst>
          </a:prstGeom>
          <a:solidFill>
            <a:schemeClr val="accent6"/>
          </a:solidFill>
          <a:ln/>
        </p:spPr>
      </p:sp>
      <p:pic>
        <p:nvPicPr>
          <p:cNvPr id="8" name="Image 1" descr="preencoded.png">    </p:cNvPr>
          <p:cNvPicPr>
            <a:picLocks noChangeAspect="1"/>
          </p:cNvPicPr>
          <p:nvPr/>
        </p:nvPicPr>
        <p:blipFill>
          <a:blip r:embed="rId2"/>
          <a:stretch>
            <a:fillRect/>
          </a:stretch>
        </p:blipFill>
        <p:spPr>
          <a:xfrm>
            <a:off x="4892040" y="1280160"/>
            <a:ext cx="411480" cy="411480"/>
          </a:xfrm>
          <a:prstGeom prst="rect">
            <a:avLst/>
          </a:prstGeom>
        </p:spPr>
      </p:pic>
      <p:sp>
        <p:nvSpPr>
          <p:cNvPr id="9" name="Text 5"/>
          <p:cNvSpPr txBox="1"/>
          <p:nvPr/>
        </p:nvSpPr>
        <p:spPr>
          <a:xfrm>
            <a:off x="5440680" y="1280160"/>
            <a:ext cx="310896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Never</a:t>
            </a:r>
            <a:endParaRPr lang="en-US" sz="1800" dirty="0"/>
          </a:p>
        </p:txBody>
      </p:sp>
      <p:sp>
        <p:nvSpPr>
          <p:cNvPr id="10" name="Text 6"/>
          <p:cNvSpPr txBox="1"/>
          <p:nvPr/>
        </p:nvSpPr>
        <p:spPr>
          <a:xfrm>
            <a:off x="4892040" y="1874520"/>
            <a:ext cx="361188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PVC / vinyl: releases chlorine gas</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Polycarbonate (Lexan): burns, doesn't cut</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ABS, HDPE: melt and catch fire</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Fiberglass, coated carbon fiber</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Metal: reflects the beam, won't cut</a:t>
            </a:r>
            <a:endParaRPr lang="en-US" sz="1400" dirty="0"/>
          </a:p>
          <a:p>
            <a:pPr marL="342900" indent="-342900">
              <a:spcAft>
                <a:spcPts val="600"/>
              </a:spcAft>
              <a:buSzPct val="100000"/>
              <a:buChar char="•"/>
            </a:pPr>
            <a:r>
              <a:rPr lang="en-US" sz="1400" b="1" dirty="0">
                <a:solidFill>
                  <a:schemeClr val="bg1"/>
                </a:solidFill>
                <a:latin typeface="Calibri" pitchFamily="34" charset="0"/>
                <a:ea typeface="Calibri" pitchFamily="34" charset="-122"/>
                <a:cs typeface="Calibri" pitchFamily="34" charset="-120"/>
              </a:rPr>
              <a:t>Anything you can't identify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The big picture</a:t>
            </a:r>
            <a:endParaRPr lang="en-US" sz="3000" dirty="0"/>
          </a:p>
        </p:txBody>
      </p:sp>
      <p:sp>
        <p:nvSpPr>
          <p:cNvPr id="3" name="Shape 1"/>
          <p:cNvSpPr/>
          <p:nvPr/>
        </p:nvSpPr>
        <p:spPr>
          <a:xfrm>
            <a:off x="457200" y="1097280"/>
            <a:ext cx="4023360" cy="2606040"/>
          </a:xfrm>
          <a:prstGeom prst="roundRect">
            <a:avLst>
              <a:gd name="adj" fmla="val 2807"/>
            </a:avLst>
          </a:prstGeom>
          <a:solidFill>
            <a:schemeClr val="bg2"/>
          </a:solidFill>
          <a:ln/>
        </p:spPr>
      </p:sp>
      <p:sp>
        <p:nvSpPr>
          <p:cNvPr id="4" name="Shape 2"/>
          <p:cNvSpPr/>
          <p:nvPr/>
        </p:nvSpPr>
        <p:spPr>
          <a:xfrm>
            <a:off x="640080" y="1216152"/>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60781" y="1336853"/>
            <a:ext cx="261518" cy="261518"/>
          </a:xfrm>
          <a:prstGeom prst="rect">
            <a:avLst/>
          </a:prstGeom>
        </p:spPr>
      </p:pic>
      <p:sp>
        <p:nvSpPr>
          <p:cNvPr id="6" name="Text 3"/>
          <p:cNvSpPr txBox="1"/>
          <p:nvPr/>
        </p:nvSpPr>
        <p:spPr>
          <a:xfrm>
            <a:off x="1280160" y="1216152"/>
            <a:ext cx="3017520" cy="50292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Prepare machine</a:t>
            </a:r>
            <a:endParaRPr lang="en-US" sz="1800" dirty="0"/>
          </a:p>
        </p:txBody>
      </p:sp>
      <p:sp>
        <p:nvSpPr>
          <p:cNvPr id="7" name="Text 4"/>
          <p:cNvSpPr txBox="1"/>
          <p:nvPr/>
        </p:nvSpPr>
        <p:spPr>
          <a:xfrm>
            <a:off x="685800" y="184708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005840" y="184708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Turn on ventilation fan</a:t>
            </a:r>
            <a:endParaRPr lang="en-US" sz="1300" dirty="0"/>
          </a:p>
        </p:txBody>
      </p:sp>
      <p:sp>
        <p:nvSpPr>
          <p:cNvPr id="9" name="Text 6"/>
          <p:cNvSpPr txBox="1"/>
          <p:nvPr/>
        </p:nvSpPr>
        <p:spPr>
          <a:xfrm>
            <a:off x="685800" y="221284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1005840" y="221284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Turn on machine</a:t>
            </a:r>
            <a:endParaRPr lang="en-US" sz="1300" dirty="0"/>
          </a:p>
        </p:txBody>
      </p:sp>
      <p:sp>
        <p:nvSpPr>
          <p:cNvPr id="11" name="Text 8"/>
          <p:cNvSpPr txBox="1"/>
          <p:nvPr/>
        </p:nvSpPr>
        <p:spPr>
          <a:xfrm>
            <a:off x="685800" y="257860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3</a:t>
            </a:r>
            <a:endParaRPr lang="en-US" sz="1300" dirty="0"/>
          </a:p>
        </p:txBody>
      </p:sp>
      <p:sp>
        <p:nvSpPr>
          <p:cNvPr id="12" name="Text 9"/>
          <p:cNvSpPr txBox="1"/>
          <p:nvPr/>
        </p:nvSpPr>
        <p:spPr>
          <a:xfrm>
            <a:off x="1005840" y="257860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Let machine startup</a:t>
            </a:r>
            <a:endParaRPr lang="en-US" sz="1300" dirty="0"/>
          </a:p>
        </p:txBody>
      </p:sp>
      <p:sp>
        <p:nvSpPr>
          <p:cNvPr id="13" name="Text 10"/>
          <p:cNvSpPr txBox="1"/>
          <p:nvPr/>
        </p:nvSpPr>
        <p:spPr>
          <a:xfrm>
            <a:off x="685800" y="294436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4</a:t>
            </a:r>
            <a:endParaRPr lang="en-US" sz="1300" dirty="0"/>
          </a:p>
        </p:txBody>
      </p:sp>
      <p:sp>
        <p:nvSpPr>
          <p:cNvPr id="14" name="Text 11"/>
          <p:cNvSpPr txBox="1"/>
          <p:nvPr/>
        </p:nvSpPr>
        <p:spPr>
          <a:xfrm>
            <a:off x="1005840" y="294436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Calibrate machine (Z-direction)</a:t>
            </a:r>
            <a:endParaRPr lang="en-US" sz="1300" dirty="0"/>
          </a:p>
        </p:txBody>
      </p:sp>
      <p:sp>
        <p:nvSpPr>
          <p:cNvPr id="15" name="Text 12"/>
          <p:cNvSpPr txBox="1"/>
          <p:nvPr/>
        </p:nvSpPr>
        <p:spPr>
          <a:xfrm>
            <a:off x="685800" y="331012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5</a:t>
            </a:r>
            <a:endParaRPr lang="en-US" sz="1300" dirty="0"/>
          </a:p>
        </p:txBody>
      </p:sp>
      <p:sp>
        <p:nvSpPr>
          <p:cNvPr id="16" name="Text 13"/>
          <p:cNvSpPr txBox="1"/>
          <p:nvPr/>
        </p:nvSpPr>
        <p:spPr>
          <a:xfrm>
            <a:off x="1005840" y="331012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Position laser starting point</a:t>
            </a:r>
            <a:endParaRPr lang="en-US" sz="1300" dirty="0"/>
          </a:p>
        </p:txBody>
      </p:sp>
      <p:sp>
        <p:nvSpPr>
          <p:cNvPr id="17" name="Shape 14"/>
          <p:cNvSpPr/>
          <p:nvPr/>
        </p:nvSpPr>
        <p:spPr>
          <a:xfrm>
            <a:off x="4663440" y="1097280"/>
            <a:ext cx="4023360" cy="2606040"/>
          </a:xfrm>
          <a:prstGeom prst="roundRect">
            <a:avLst>
              <a:gd name="adj" fmla="val 2807"/>
            </a:avLst>
          </a:prstGeom>
          <a:solidFill>
            <a:schemeClr val="bg2"/>
          </a:solidFill>
          <a:ln/>
        </p:spPr>
      </p:sp>
      <p:sp>
        <p:nvSpPr>
          <p:cNvPr id="18" name="Shape 15"/>
          <p:cNvSpPr/>
          <p:nvPr/>
        </p:nvSpPr>
        <p:spPr>
          <a:xfrm>
            <a:off x="4846320" y="1216152"/>
            <a:ext cx="502920" cy="502920"/>
          </a:xfrm>
          <a:prstGeom prst="ellipse">
            <a:avLst/>
          </a:prstGeom>
          <a:solidFill>
            <a:schemeClr val="accent1"/>
          </a:solidFill>
          <a:ln/>
        </p:spPr>
      </p:sp>
      <p:pic>
        <p:nvPicPr>
          <p:cNvPr id="19" name="Image 1" descr="preencoded.png">    </p:cNvPr>
          <p:cNvPicPr>
            <a:picLocks noChangeAspect="1"/>
          </p:cNvPicPr>
          <p:nvPr/>
        </p:nvPicPr>
        <p:blipFill>
          <a:blip r:embed="rId2"/>
          <a:stretch>
            <a:fillRect/>
          </a:stretch>
        </p:blipFill>
        <p:spPr>
          <a:xfrm>
            <a:off x="4967021" y="1336853"/>
            <a:ext cx="261518" cy="261518"/>
          </a:xfrm>
          <a:prstGeom prst="rect">
            <a:avLst/>
          </a:prstGeom>
        </p:spPr>
      </p:pic>
      <p:sp>
        <p:nvSpPr>
          <p:cNvPr id="20" name="Text 16"/>
          <p:cNvSpPr txBox="1"/>
          <p:nvPr/>
        </p:nvSpPr>
        <p:spPr>
          <a:xfrm>
            <a:off x="5486400" y="1216152"/>
            <a:ext cx="3017520" cy="50292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Prepare design</a:t>
            </a:r>
            <a:endParaRPr lang="en-US" sz="1800" dirty="0"/>
          </a:p>
        </p:txBody>
      </p:sp>
      <p:sp>
        <p:nvSpPr>
          <p:cNvPr id="21" name="Text 17"/>
          <p:cNvSpPr txBox="1"/>
          <p:nvPr/>
        </p:nvSpPr>
        <p:spPr>
          <a:xfrm>
            <a:off x="4892040" y="184708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1</a:t>
            </a:r>
            <a:endParaRPr lang="en-US" sz="1300" dirty="0"/>
          </a:p>
        </p:txBody>
      </p:sp>
      <p:sp>
        <p:nvSpPr>
          <p:cNvPr id="22" name="Text 18"/>
          <p:cNvSpPr txBox="1"/>
          <p:nvPr/>
        </p:nvSpPr>
        <p:spPr>
          <a:xfrm>
            <a:off x="5212080" y="184708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Export Onshape Drawing as a DXF</a:t>
            </a:r>
            <a:endParaRPr lang="en-US" sz="1300" dirty="0"/>
          </a:p>
        </p:txBody>
      </p:sp>
      <p:sp>
        <p:nvSpPr>
          <p:cNvPr id="23" name="Text 19"/>
          <p:cNvSpPr txBox="1"/>
          <p:nvPr/>
        </p:nvSpPr>
        <p:spPr>
          <a:xfrm>
            <a:off x="4892040" y="221284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2</a:t>
            </a:r>
            <a:endParaRPr lang="en-US" sz="1300" dirty="0"/>
          </a:p>
        </p:txBody>
      </p:sp>
      <p:sp>
        <p:nvSpPr>
          <p:cNvPr id="24" name="Text 20"/>
          <p:cNvSpPr txBox="1"/>
          <p:nvPr/>
        </p:nvSpPr>
        <p:spPr>
          <a:xfrm>
            <a:off x="5212080" y="221284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Open Rayjet Manager + CorelDRAW</a:t>
            </a:r>
            <a:endParaRPr lang="en-US" sz="1300" dirty="0"/>
          </a:p>
        </p:txBody>
      </p:sp>
      <p:sp>
        <p:nvSpPr>
          <p:cNvPr id="25" name="Text 21"/>
          <p:cNvSpPr txBox="1"/>
          <p:nvPr/>
        </p:nvSpPr>
        <p:spPr>
          <a:xfrm>
            <a:off x="4892040" y="257860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3</a:t>
            </a:r>
            <a:endParaRPr lang="en-US" sz="1300" dirty="0"/>
          </a:p>
        </p:txBody>
      </p:sp>
      <p:sp>
        <p:nvSpPr>
          <p:cNvPr id="26" name="Text 22"/>
          <p:cNvSpPr txBox="1"/>
          <p:nvPr/>
        </p:nvSpPr>
        <p:spPr>
          <a:xfrm>
            <a:off x="5212080" y="257860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Import DXF, set document size</a:t>
            </a:r>
            <a:endParaRPr lang="en-US" sz="1300" dirty="0"/>
          </a:p>
        </p:txBody>
      </p:sp>
      <p:sp>
        <p:nvSpPr>
          <p:cNvPr id="27" name="Text 23"/>
          <p:cNvSpPr txBox="1"/>
          <p:nvPr/>
        </p:nvSpPr>
        <p:spPr>
          <a:xfrm>
            <a:off x="4892040" y="294436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4</a:t>
            </a:r>
            <a:endParaRPr lang="en-US" sz="1300" dirty="0"/>
          </a:p>
        </p:txBody>
      </p:sp>
      <p:sp>
        <p:nvSpPr>
          <p:cNvPr id="28" name="Text 24"/>
          <p:cNvSpPr txBox="1"/>
          <p:nvPr/>
        </p:nvSpPr>
        <p:spPr>
          <a:xfrm>
            <a:off x="5212080" y="294436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Customize lines: cut, etch, engrave</a:t>
            </a:r>
            <a:endParaRPr lang="en-US" sz="1300" dirty="0"/>
          </a:p>
        </p:txBody>
      </p:sp>
      <p:sp>
        <p:nvSpPr>
          <p:cNvPr id="29" name="Text 25"/>
          <p:cNvSpPr txBox="1"/>
          <p:nvPr/>
        </p:nvSpPr>
        <p:spPr>
          <a:xfrm>
            <a:off x="4892040" y="3310128"/>
            <a:ext cx="27432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5</a:t>
            </a:r>
            <a:endParaRPr lang="en-US" sz="1300" dirty="0"/>
          </a:p>
        </p:txBody>
      </p:sp>
      <p:sp>
        <p:nvSpPr>
          <p:cNvPr id="30" name="Text 26"/>
          <p:cNvSpPr txBox="1"/>
          <p:nvPr/>
        </p:nvSpPr>
        <p:spPr>
          <a:xfrm>
            <a:off x="5212080" y="3310128"/>
            <a:ext cx="3383280" cy="3200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Print to Rayjet Manager → run</a:t>
            </a:r>
            <a:endParaRPr lang="en-US" sz="1300" dirty="0"/>
          </a:p>
        </p:txBody>
      </p:sp>
      <p:sp>
        <p:nvSpPr>
          <p:cNvPr id="31" name="Shape 27"/>
          <p:cNvSpPr/>
          <p:nvPr/>
        </p:nvSpPr>
        <p:spPr>
          <a:xfrm>
            <a:off x="457200" y="3840480"/>
            <a:ext cx="8229600" cy="777240"/>
          </a:xfrm>
          <a:prstGeom prst="roundRect">
            <a:avLst>
              <a:gd name="adj" fmla="val 9412"/>
            </a:avLst>
          </a:prstGeom>
          <a:solidFill>
            <a:schemeClr val="accent3"/>
          </a:solidFill>
          <a:ln/>
        </p:spPr>
      </p:sp>
      <p:sp>
        <p:nvSpPr>
          <p:cNvPr id="32" name="Text 28"/>
          <p:cNvSpPr txBox="1"/>
          <p:nvPr/>
        </p:nvSpPr>
        <p:spPr>
          <a:xfrm>
            <a:off x="640080" y="3840480"/>
            <a:ext cx="7863840" cy="7772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Before you laser cut… </a:t>
            </a:r>
            <a:pPr indent="0" marL="0">
              <a:buNone/>
            </a:pPr>
            <a:r>
              <a:rPr lang="en-US" sz="1400" dirty="0">
                <a:solidFill>
                  <a:schemeClr val="accent1"/>
                </a:solidFill>
                <a:latin typeface="Calibri" pitchFamily="34" charset="0"/>
                <a:ea typeface="Calibri" pitchFamily="34" charset="-122"/>
                <a:cs typeface="Calibri" pitchFamily="34" charset="-120"/>
              </a:rPr>
              <a:t>have you completed a drawing of your design? If not, go do that before taking up the CAS 117 computer.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Design for laser cutting</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PLAN YOUR PART</a:t>
            </a:r>
            <a:endParaRPr lang="en-US" sz="1100" dirty="0"/>
          </a:p>
        </p:txBody>
      </p:sp>
      <p:sp>
        <p:nvSpPr>
          <p:cNvPr id="5" name="Shape 3"/>
          <p:cNvSpPr/>
          <p:nvPr/>
        </p:nvSpPr>
        <p:spPr>
          <a:xfrm>
            <a:off x="457200" y="1143000"/>
            <a:ext cx="2624328" cy="1554480"/>
          </a:xfrm>
          <a:prstGeom prst="roundRect">
            <a:avLst>
              <a:gd name="adj" fmla="val 4706"/>
            </a:avLst>
          </a:prstGeom>
          <a:solidFill>
            <a:schemeClr val="bg2"/>
          </a:solidFill>
          <a:ln/>
        </p:spPr>
      </p:sp>
      <p:sp>
        <p:nvSpPr>
          <p:cNvPr id="6" name="Shape 4"/>
          <p:cNvSpPr/>
          <p:nvPr/>
        </p:nvSpPr>
        <p:spPr>
          <a:xfrm>
            <a:off x="640080" y="1325880"/>
            <a:ext cx="502920" cy="5029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60781" y="1446581"/>
            <a:ext cx="261518" cy="261518"/>
          </a:xfrm>
          <a:prstGeom prst="rect">
            <a:avLst/>
          </a:prstGeom>
        </p:spPr>
      </p:pic>
      <p:sp>
        <p:nvSpPr>
          <p:cNvPr id="8" name="Text 5"/>
          <p:cNvSpPr txBox="1"/>
          <p:nvPr/>
        </p:nvSpPr>
        <p:spPr>
          <a:xfrm>
            <a:off x="1280160" y="1325880"/>
            <a:ext cx="1691640" cy="5029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Think in flat parts</a:t>
            </a:r>
            <a:endParaRPr lang="en-US" sz="1500" dirty="0"/>
          </a:p>
        </p:txBody>
      </p:sp>
      <p:sp>
        <p:nvSpPr>
          <p:cNvPr id="9" name="Text 6"/>
          <p:cNvSpPr txBox="1"/>
          <p:nvPr/>
        </p:nvSpPr>
        <p:spPr>
          <a:xfrm>
            <a:off x="640080" y="1947672"/>
            <a:ext cx="228600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part is a 2D outline. Build 3D by slotting flat parts together.</a:t>
            </a:r>
            <a:endParaRPr lang="en-US" sz="1200" dirty="0"/>
          </a:p>
        </p:txBody>
      </p:sp>
      <p:sp>
        <p:nvSpPr>
          <p:cNvPr id="10" name="Shape 7"/>
          <p:cNvSpPr/>
          <p:nvPr/>
        </p:nvSpPr>
        <p:spPr>
          <a:xfrm>
            <a:off x="3264408" y="1143000"/>
            <a:ext cx="2624328" cy="1554480"/>
          </a:xfrm>
          <a:prstGeom prst="roundRect">
            <a:avLst>
              <a:gd name="adj" fmla="val 4706"/>
            </a:avLst>
          </a:prstGeom>
          <a:solidFill>
            <a:schemeClr val="bg2"/>
          </a:solidFill>
          <a:ln/>
        </p:spPr>
      </p:sp>
      <p:sp>
        <p:nvSpPr>
          <p:cNvPr id="11" name="Shape 8"/>
          <p:cNvSpPr/>
          <p:nvPr/>
        </p:nvSpPr>
        <p:spPr>
          <a:xfrm>
            <a:off x="3447288" y="1325880"/>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567989" y="1446581"/>
            <a:ext cx="261518" cy="261518"/>
          </a:xfrm>
          <a:prstGeom prst="rect">
            <a:avLst/>
          </a:prstGeom>
        </p:spPr>
      </p:pic>
      <p:sp>
        <p:nvSpPr>
          <p:cNvPr id="13" name="Text 9"/>
          <p:cNvSpPr txBox="1"/>
          <p:nvPr/>
        </p:nvSpPr>
        <p:spPr>
          <a:xfrm>
            <a:off x="4087368" y="1325880"/>
            <a:ext cx="1691640" cy="5029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Measure the sheet</a:t>
            </a:r>
            <a:endParaRPr lang="en-US" sz="1500" dirty="0"/>
          </a:p>
        </p:txBody>
      </p:sp>
      <p:sp>
        <p:nvSpPr>
          <p:cNvPr id="14" name="Text 10"/>
          <p:cNvSpPr txBox="1"/>
          <p:nvPr/>
        </p:nvSpPr>
        <p:spPr>
          <a:xfrm>
            <a:off x="3447288" y="1947672"/>
            <a:ext cx="228600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“1/8 in” plywood is rarely exactly 3.175 mm. Use calipers.</a:t>
            </a:r>
            <a:endParaRPr lang="en-US" sz="1200" dirty="0"/>
          </a:p>
        </p:txBody>
      </p:sp>
      <p:sp>
        <p:nvSpPr>
          <p:cNvPr id="15" name="Shape 11"/>
          <p:cNvSpPr/>
          <p:nvPr/>
        </p:nvSpPr>
        <p:spPr>
          <a:xfrm>
            <a:off x="6071616" y="1143000"/>
            <a:ext cx="2624328" cy="1554480"/>
          </a:xfrm>
          <a:prstGeom prst="roundRect">
            <a:avLst>
              <a:gd name="adj" fmla="val 4706"/>
            </a:avLst>
          </a:prstGeom>
          <a:solidFill>
            <a:schemeClr val="bg2"/>
          </a:solidFill>
          <a:ln/>
        </p:spPr>
      </p:sp>
      <p:sp>
        <p:nvSpPr>
          <p:cNvPr id="16" name="Shape 12"/>
          <p:cNvSpPr/>
          <p:nvPr/>
        </p:nvSpPr>
        <p:spPr>
          <a:xfrm>
            <a:off x="6254496" y="1325880"/>
            <a:ext cx="502920" cy="50292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375197" y="1446581"/>
            <a:ext cx="261518" cy="261518"/>
          </a:xfrm>
          <a:prstGeom prst="rect">
            <a:avLst/>
          </a:prstGeom>
        </p:spPr>
      </p:pic>
      <p:sp>
        <p:nvSpPr>
          <p:cNvPr id="18" name="Text 13"/>
          <p:cNvSpPr txBox="1"/>
          <p:nvPr/>
        </p:nvSpPr>
        <p:spPr>
          <a:xfrm>
            <a:off x="6894576" y="1325880"/>
            <a:ext cx="1691640" cy="5029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Account for kerf</a:t>
            </a:r>
            <a:endParaRPr lang="en-US" sz="1500" dirty="0"/>
          </a:p>
        </p:txBody>
      </p:sp>
      <p:sp>
        <p:nvSpPr>
          <p:cNvPr id="19" name="Text 14"/>
          <p:cNvSpPr txBox="1"/>
          <p:nvPr/>
        </p:nvSpPr>
        <p:spPr>
          <a:xfrm>
            <a:off x="6254496" y="1947672"/>
            <a:ext cx="228600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beam removes ~0.2 mm, so slots come out a little loose.</a:t>
            </a:r>
            <a:endParaRPr lang="en-US" sz="1200" dirty="0"/>
          </a:p>
        </p:txBody>
      </p:sp>
      <p:sp>
        <p:nvSpPr>
          <p:cNvPr id="20" name="Shape 15"/>
          <p:cNvSpPr/>
          <p:nvPr/>
        </p:nvSpPr>
        <p:spPr>
          <a:xfrm>
            <a:off x="457200" y="2880360"/>
            <a:ext cx="2624328" cy="1554480"/>
          </a:xfrm>
          <a:prstGeom prst="roundRect">
            <a:avLst>
              <a:gd name="adj" fmla="val 4706"/>
            </a:avLst>
          </a:prstGeom>
          <a:solidFill>
            <a:schemeClr val="bg2"/>
          </a:solidFill>
          <a:ln/>
        </p:spPr>
      </p:sp>
      <p:sp>
        <p:nvSpPr>
          <p:cNvPr id="21" name="Shape 16"/>
          <p:cNvSpPr/>
          <p:nvPr/>
        </p:nvSpPr>
        <p:spPr>
          <a:xfrm>
            <a:off x="640080" y="3063240"/>
            <a:ext cx="502920" cy="5029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760781" y="3183941"/>
            <a:ext cx="261518" cy="261518"/>
          </a:xfrm>
          <a:prstGeom prst="rect">
            <a:avLst/>
          </a:prstGeom>
        </p:spPr>
      </p:pic>
      <p:sp>
        <p:nvSpPr>
          <p:cNvPr id="23" name="Text 17"/>
          <p:cNvSpPr txBox="1"/>
          <p:nvPr/>
        </p:nvSpPr>
        <p:spPr>
          <a:xfrm>
            <a:off x="1280160" y="3063240"/>
            <a:ext cx="1691640" cy="5029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Space parts apart</a:t>
            </a:r>
            <a:endParaRPr lang="en-US" sz="1500" dirty="0"/>
          </a:p>
        </p:txBody>
      </p:sp>
      <p:sp>
        <p:nvSpPr>
          <p:cNvPr id="24" name="Text 18"/>
          <p:cNvSpPr txBox="1"/>
          <p:nvPr/>
        </p:nvSpPr>
        <p:spPr>
          <a:xfrm>
            <a:off x="640080" y="3685032"/>
            <a:ext cx="228600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Leave 2–3 mm between parts so the edges don't burn through.</a:t>
            </a:r>
            <a:endParaRPr lang="en-US" sz="1200" dirty="0"/>
          </a:p>
        </p:txBody>
      </p:sp>
      <p:sp>
        <p:nvSpPr>
          <p:cNvPr id="25" name="Shape 19"/>
          <p:cNvSpPr/>
          <p:nvPr/>
        </p:nvSpPr>
        <p:spPr>
          <a:xfrm>
            <a:off x="3264408" y="2880360"/>
            <a:ext cx="2624328" cy="1554480"/>
          </a:xfrm>
          <a:prstGeom prst="roundRect">
            <a:avLst>
              <a:gd name="adj" fmla="val 4706"/>
            </a:avLst>
          </a:prstGeom>
          <a:solidFill>
            <a:schemeClr val="bg2"/>
          </a:solidFill>
          <a:ln/>
        </p:spPr>
      </p:sp>
      <p:sp>
        <p:nvSpPr>
          <p:cNvPr id="26" name="Shape 20"/>
          <p:cNvSpPr/>
          <p:nvPr/>
        </p:nvSpPr>
        <p:spPr>
          <a:xfrm>
            <a:off x="3447288" y="3063240"/>
            <a:ext cx="502920" cy="50292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3567989" y="3183941"/>
            <a:ext cx="261518" cy="261518"/>
          </a:xfrm>
          <a:prstGeom prst="rect">
            <a:avLst/>
          </a:prstGeom>
        </p:spPr>
      </p:pic>
      <p:sp>
        <p:nvSpPr>
          <p:cNvPr id="28" name="Text 21"/>
          <p:cNvSpPr txBox="1"/>
          <p:nvPr/>
        </p:nvSpPr>
        <p:spPr>
          <a:xfrm>
            <a:off x="4087368" y="3063240"/>
            <a:ext cx="1691640" cy="5029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Features ≥ thickness</a:t>
            </a:r>
            <a:endParaRPr lang="en-US" sz="1500" dirty="0"/>
          </a:p>
        </p:txBody>
      </p:sp>
      <p:sp>
        <p:nvSpPr>
          <p:cNvPr id="29" name="Text 22"/>
          <p:cNvSpPr txBox="1"/>
          <p:nvPr/>
        </p:nvSpPr>
        <p:spPr>
          <a:xfrm>
            <a:off x="3447288" y="3685032"/>
            <a:ext cx="228600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Tabs, bridges, and holes thinner than the sheet are fragile or burn away.</a:t>
            </a:r>
            <a:endParaRPr lang="en-US" sz="1200" dirty="0"/>
          </a:p>
        </p:txBody>
      </p:sp>
      <p:sp>
        <p:nvSpPr>
          <p:cNvPr id="30" name="Shape 23"/>
          <p:cNvSpPr/>
          <p:nvPr/>
        </p:nvSpPr>
        <p:spPr>
          <a:xfrm>
            <a:off x="6071616" y="2880360"/>
            <a:ext cx="2624328" cy="1554480"/>
          </a:xfrm>
          <a:prstGeom prst="roundRect">
            <a:avLst>
              <a:gd name="adj" fmla="val 4706"/>
            </a:avLst>
          </a:prstGeom>
          <a:solidFill>
            <a:schemeClr val="bg2"/>
          </a:solidFill>
          <a:ln/>
        </p:spPr>
      </p:sp>
      <p:sp>
        <p:nvSpPr>
          <p:cNvPr id="31" name="Shape 24"/>
          <p:cNvSpPr/>
          <p:nvPr/>
        </p:nvSpPr>
        <p:spPr>
          <a:xfrm>
            <a:off x="6254496" y="3063240"/>
            <a:ext cx="502920" cy="50292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6375197" y="3183941"/>
            <a:ext cx="261518" cy="261518"/>
          </a:xfrm>
          <a:prstGeom prst="rect">
            <a:avLst/>
          </a:prstGeom>
        </p:spPr>
      </p:pic>
      <p:sp>
        <p:nvSpPr>
          <p:cNvPr id="33" name="Text 25"/>
          <p:cNvSpPr txBox="1"/>
          <p:nvPr/>
        </p:nvSpPr>
        <p:spPr>
          <a:xfrm>
            <a:off x="6894576" y="3063240"/>
            <a:ext cx="1691640" cy="5029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Watch for islands</a:t>
            </a:r>
            <a:endParaRPr lang="en-US" sz="1500" dirty="0"/>
          </a:p>
        </p:txBody>
      </p:sp>
      <p:sp>
        <p:nvSpPr>
          <p:cNvPr id="34" name="Text 26"/>
          <p:cNvSpPr txBox="1"/>
          <p:nvPr/>
        </p:nvSpPr>
        <p:spPr>
          <a:xfrm>
            <a:off x="6254496" y="3685032"/>
            <a:ext cx="228600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middle of an O or A falls out when cut. Engrave text, or use a stencil font.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Turning flat into 3D</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PLAN YOUR PART</a:t>
            </a:r>
            <a:endParaRPr lang="en-US" sz="1100" dirty="0"/>
          </a:p>
        </p:txBody>
      </p:sp>
      <p:sp>
        <p:nvSpPr>
          <p:cNvPr id="5" name="Shape 3"/>
          <p:cNvSpPr/>
          <p:nvPr/>
        </p:nvSpPr>
        <p:spPr>
          <a:xfrm>
            <a:off x="457200" y="1143000"/>
            <a:ext cx="2624328" cy="2148840"/>
          </a:xfrm>
          <a:prstGeom prst="roundRect">
            <a:avLst>
              <a:gd name="adj" fmla="val 3404"/>
            </a:avLst>
          </a:prstGeom>
          <a:solidFill>
            <a:schemeClr val="bg2"/>
          </a:solidFill>
          <a:ln/>
        </p:spPr>
      </p:sp>
      <p:sp>
        <p:nvSpPr>
          <p:cNvPr id="6" name="Shape 4"/>
          <p:cNvSpPr/>
          <p:nvPr/>
        </p:nvSpPr>
        <p:spPr>
          <a:xfrm>
            <a:off x="868680" y="2103120"/>
            <a:ext cx="1828800" cy="320040"/>
          </a:xfrm>
          <a:prstGeom prst="rect">
            <a:avLst/>
          </a:prstGeom>
          <a:solidFill>
            <a:schemeClr val="accent2"/>
          </a:solidFill>
          <a:ln/>
        </p:spPr>
      </p:sp>
      <p:sp>
        <p:nvSpPr>
          <p:cNvPr id="7" name="Shape 5"/>
          <p:cNvSpPr/>
          <p:nvPr/>
        </p:nvSpPr>
        <p:spPr>
          <a:xfrm>
            <a:off x="1600200" y="2103120"/>
            <a:ext cx="320040" cy="320040"/>
          </a:xfrm>
          <a:prstGeom prst="rect">
            <a:avLst/>
          </a:prstGeom>
          <a:solidFill>
            <a:schemeClr val="bg2"/>
          </a:solidFill>
          <a:ln/>
        </p:spPr>
      </p:sp>
      <p:sp>
        <p:nvSpPr>
          <p:cNvPr id="8" name="Shape 6"/>
          <p:cNvSpPr/>
          <p:nvPr/>
        </p:nvSpPr>
        <p:spPr>
          <a:xfrm>
            <a:off x="1600200" y="1417320"/>
            <a:ext cx="320040" cy="685800"/>
          </a:xfrm>
          <a:prstGeom prst="rect">
            <a:avLst/>
          </a:prstGeom>
          <a:solidFill>
            <a:schemeClr val="accent2"/>
          </a:solidFill>
          <a:ln/>
        </p:spPr>
      </p:sp>
      <p:sp>
        <p:nvSpPr>
          <p:cNvPr id="9" name="Shape 7"/>
          <p:cNvSpPr/>
          <p:nvPr/>
        </p:nvSpPr>
        <p:spPr>
          <a:xfrm>
            <a:off x="1600200" y="1417320"/>
            <a:ext cx="320040" cy="1005840"/>
          </a:xfrm>
          <a:prstGeom prst="rect">
            <a:avLst/>
          </a:prstGeom>
          <a:ln w="19050">
            <a:solidFill>
              <a:schemeClr val="accent1"/>
            </a:solidFill>
            <a:prstDash val="solid"/>
          </a:ln>
        </p:spPr>
      </p:sp>
      <p:sp>
        <p:nvSpPr>
          <p:cNvPr id="10" name="Text 8"/>
          <p:cNvSpPr txBox="1"/>
          <p:nvPr/>
        </p:nvSpPr>
        <p:spPr>
          <a:xfrm>
            <a:off x="640080" y="2834640"/>
            <a:ext cx="2258568"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Tab &amp; slot</a:t>
            </a:r>
            <a:endParaRPr lang="en-US" sz="1500" dirty="0"/>
          </a:p>
        </p:txBody>
      </p:sp>
      <p:sp>
        <p:nvSpPr>
          <p:cNvPr id="11" name="Shape 9"/>
          <p:cNvSpPr/>
          <p:nvPr/>
        </p:nvSpPr>
        <p:spPr>
          <a:xfrm>
            <a:off x="3264408" y="1143000"/>
            <a:ext cx="2624328" cy="2148840"/>
          </a:xfrm>
          <a:prstGeom prst="roundRect">
            <a:avLst>
              <a:gd name="adj" fmla="val 3404"/>
            </a:avLst>
          </a:prstGeom>
          <a:solidFill>
            <a:schemeClr val="bg2"/>
          </a:solidFill>
          <a:ln/>
        </p:spPr>
      </p:sp>
      <p:sp>
        <p:nvSpPr>
          <p:cNvPr id="12" name="Shape 10"/>
          <p:cNvSpPr/>
          <p:nvPr/>
        </p:nvSpPr>
        <p:spPr>
          <a:xfrm>
            <a:off x="3721608" y="1874520"/>
            <a:ext cx="347472" cy="274320"/>
          </a:xfrm>
          <a:prstGeom prst="rect">
            <a:avLst/>
          </a:prstGeom>
          <a:solidFill>
            <a:schemeClr val="accent2"/>
          </a:solidFill>
          <a:ln/>
        </p:spPr>
      </p:sp>
      <p:sp>
        <p:nvSpPr>
          <p:cNvPr id="13" name="Shape 11"/>
          <p:cNvSpPr/>
          <p:nvPr/>
        </p:nvSpPr>
        <p:spPr>
          <a:xfrm>
            <a:off x="3721608" y="1645920"/>
            <a:ext cx="347472" cy="228600"/>
          </a:xfrm>
          <a:prstGeom prst="rect">
            <a:avLst/>
          </a:prstGeom>
          <a:solidFill>
            <a:schemeClr val="accent1"/>
          </a:solidFill>
          <a:ln/>
        </p:spPr>
      </p:sp>
      <p:sp>
        <p:nvSpPr>
          <p:cNvPr id="14" name="Shape 12"/>
          <p:cNvSpPr/>
          <p:nvPr/>
        </p:nvSpPr>
        <p:spPr>
          <a:xfrm>
            <a:off x="4069080" y="1645920"/>
            <a:ext cx="347472" cy="274320"/>
          </a:xfrm>
          <a:prstGeom prst="rect">
            <a:avLst/>
          </a:prstGeom>
          <a:solidFill>
            <a:schemeClr val="accent2"/>
          </a:solidFill>
          <a:ln/>
        </p:spPr>
      </p:sp>
      <p:sp>
        <p:nvSpPr>
          <p:cNvPr id="15" name="Shape 13"/>
          <p:cNvSpPr/>
          <p:nvPr/>
        </p:nvSpPr>
        <p:spPr>
          <a:xfrm>
            <a:off x="4069080" y="1920240"/>
            <a:ext cx="347472" cy="228600"/>
          </a:xfrm>
          <a:prstGeom prst="rect">
            <a:avLst/>
          </a:prstGeom>
          <a:solidFill>
            <a:schemeClr val="accent1"/>
          </a:solidFill>
          <a:ln/>
        </p:spPr>
      </p:sp>
      <p:sp>
        <p:nvSpPr>
          <p:cNvPr id="16" name="Shape 14"/>
          <p:cNvSpPr/>
          <p:nvPr/>
        </p:nvSpPr>
        <p:spPr>
          <a:xfrm>
            <a:off x="4416552" y="1874520"/>
            <a:ext cx="347472" cy="274320"/>
          </a:xfrm>
          <a:prstGeom prst="rect">
            <a:avLst/>
          </a:prstGeom>
          <a:solidFill>
            <a:schemeClr val="accent2"/>
          </a:solidFill>
          <a:ln/>
        </p:spPr>
      </p:sp>
      <p:sp>
        <p:nvSpPr>
          <p:cNvPr id="17" name="Shape 15"/>
          <p:cNvSpPr/>
          <p:nvPr/>
        </p:nvSpPr>
        <p:spPr>
          <a:xfrm>
            <a:off x="4416552" y="1645920"/>
            <a:ext cx="347472" cy="228600"/>
          </a:xfrm>
          <a:prstGeom prst="rect">
            <a:avLst/>
          </a:prstGeom>
          <a:solidFill>
            <a:schemeClr val="accent1"/>
          </a:solidFill>
          <a:ln/>
        </p:spPr>
      </p:sp>
      <p:sp>
        <p:nvSpPr>
          <p:cNvPr id="18" name="Shape 16"/>
          <p:cNvSpPr/>
          <p:nvPr/>
        </p:nvSpPr>
        <p:spPr>
          <a:xfrm>
            <a:off x="4764024" y="1645920"/>
            <a:ext cx="347472" cy="274320"/>
          </a:xfrm>
          <a:prstGeom prst="rect">
            <a:avLst/>
          </a:prstGeom>
          <a:solidFill>
            <a:schemeClr val="accent2"/>
          </a:solidFill>
          <a:ln/>
        </p:spPr>
      </p:sp>
      <p:sp>
        <p:nvSpPr>
          <p:cNvPr id="19" name="Shape 17"/>
          <p:cNvSpPr/>
          <p:nvPr/>
        </p:nvSpPr>
        <p:spPr>
          <a:xfrm>
            <a:off x="4764024" y="1920240"/>
            <a:ext cx="347472" cy="228600"/>
          </a:xfrm>
          <a:prstGeom prst="rect">
            <a:avLst/>
          </a:prstGeom>
          <a:solidFill>
            <a:schemeClr val="accent1"/>
          </a:solidFill>
          <a:ln/>
        </p:spPr>
      </p:sp>
      <p:sp>
        <p:nvSpPr>
          <p:cNvPr id="20" name="Shape 18"/>
          <p:cNvSpPr/>
          <p:nvPr/>
        </p:nvSpPr>
        <p:spPr>
          <a:xfrm>
            <a:off x="5111496" y="1874520"/>
            <a:ext cx="347472" cy="274320"/>
          </a:xfrm>
          <a:prstGeom prst="rect">
            <a:avLst/>
          </a:prstGeom>
          <a:solidFill>
            <a:schemeClr val="accent2"/>
          </a:solidFill>
          <a:ln/>
        </p:spPr>
      </p:sp>
      <p:sp>
        <p:nvSpPr>
          <p:cNvPr id="21" name="Shape 19"/>
          <p:cNvSpPr/>
          <p:nvPr/>
        </p:nvSpPr>
        <p:spPr>
          <a:xfrm>
            <a:off x="5111496" y="1645920"/>
            <a:ext cx="347472" cy="228600"/>
          </a:xfrm>
          <a:prstGeom prst="rect">
            <a:avLst/>
          </a:prstGeom>
          <a:solidFill>
            <a:schemeClr val="accent1"/>
          </a:solidFill>
          <a:ln/>
        </p:spPr>
      </p:sp>
      <p:sp>
        <p:nvSpPr>
          <p:cNvPr id="22" name="Shape 20"/>
          <p:cNvSpPr/>
          <p:nvPr/>
        </p:nvSpPr>
        <p:spPr>
          <a:xfrm>
            <a:off x="3721608" y="2148840"/>
            <a:ext cx="1737360" cy="457200"/>
          </a:xfrm>
          <a:prstGeom prst="rect">
            <a:avLst/>
          </a:prstGeom>
          <a:solidFill>
            <a:schemeClr val="accent2"/>
          </a:solidFill>
          <a:ln/>
        </p:spPr>
      </p:sp>
      <p:sp>
        <p:nvSpPr>
          <p:cNvPr id="23" name="Shape 21"/>
          <p:cNvSpPr/>
          <p:nvPr/>
        </p:nvSpPr>
        <p:spPr>
          <a:xfrm>
            <a:off x="3721608" y="1188720"/>
            <a:ext cx="1737360" cy="457200"/>
          </a:xfrm>
          <a:prstGeom prst="rect">
            <a:avLst/>
          </a:prstGeom>
          <a:solidFill>
            <a:schemeClr val="accent1"/>
          </a:solidFill>
          <a:ln/>
        </p:spPr>
      </p:sp>
      <p:sp>
        <p:nvSpPr>
          <p:cNvPr id="24" name="Text 22"/>
          <p:cNvSpPr txBox="1"/>
          <p:nvPr/>
        </p:nvSpPr>
        <p:spPr>
          <a:xfrm>
            <a:off x="3447288" y="2834640"/>
            <a:ext cx="2258568"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Finger joint</a:t>
            </a:r>
            <a:endParaRPr lang="en-US" sz="1500" dirty="0"/>
          </a:p>
        </p:txBody>
      </p:sp>
      <p:sp>
        <p:nvSpPr>
          <p:cNvPr id="25" name="Shape 23"/>
          <p:cNvSpPr/>
          <p:nvPr/>
        </p:nvSpPr>
        <p:spPr>
          <a:xfrm>
            <a:off x="6071616" y="1143000"/>
            <a:ext cx="2624328" cy="2148840"/>
          </a:xfrm>
          <a:prstGeom prst="roundRect">
            <a:avLst>
              <a:gd name="adj" fmla="val 3404"/>
            </a:avLst>
          </a:prstGeom>
          <a:solidFill>
            <a:schemeClr val="bg2"/>
          </a:solidFill>
          <a:ln/>
        </p:spPr>
      </p:sp>
      <p:sp>
        <p:nvSpPr>
          <p:cNvPr id="26" name="Shape 24"/>
          <p:cNvSpPr/>
          <p:nvPr/>
        </p:nvSpPr>
        <p:spPr>
          <a:xfrm>
            <a:off x="6483096" y="1371600"/>
            <a:ext cx="1828800" cy="1143000"/>
          </a:xfrm>
          <a:prstGeom prst="rect">
            <a:avLst/>
          </a:prstGeom>
          <a:solidFill>
            <a:schemeClr val="accent2"/>
          </a:solidFill>
          <a:ln/>
        </p:spPr>
      </p:sp>
      <p:sp>
        <p:nvSpPr>
          <p:cNvPr id="27" name="Shape 25"/>
          <p:cNvSpPr/>
          <p:nvPr/>
        </p:nvSpPr>
        <p:spPr>
          <a:xfrm>
            <a:off x="6665976" y="1600200"/>
            <a:ext cx="0" cy="914400"/>
          </a:xfrm>
          <a:prstGeom prst="line">
            <a:avLst/>
          </a:prstGeom>
          <a:noFill/>
          <a:ln w="25400">
            <a:solidFill>
              <a:schemeClr val="bg2"/>
            </a:solidFill>
            <a:prstDash val="solid"/>
          </a:ln>
        </p:spPr>
      </p:sp>
      <p:sp>
        <p:nvSpPr>
          <p:cNvPr id="28" name="Shape 26"/>
          <p:cNvSpPr/>
          <p:nvPr/>
        </p:nvSpPr>
        <p:spPr>
          <a:xfrm>
            <a:off x="6867144" y="1371600"/>
            <a:ext cx="0" cy="914400"/>
          </a:xfrm>
          <a:prstGeom prst="line">
            <a:avLst/>
          </a:prstGeom>
          <a:noFill/>
          <a:ln w="25400">
            <a:solidFill>
              <a:schemeClr val="bg2"/>
            </a:solidFill>
            <a:prstDash val="solid"/>
          </a:ln>
        </p:spPr>
      </p:sp>
      <p:sp>
        <p:nvSpPr>
          <p:cNvPr id="29" name="Shape 27"/>
          <p:cNvSpPr/>
          <p:nvPr/>
        </p:nvSpPr>
        <p:spPr>
          <a:xfrm>
            <a:off x="7068312" y="1600200"/>
            <a:ext cx="0" cy="914400"/>
          </a:xfrm>
          <a:prstGeom prst="line">
            <a:avLst/>
          </a:prstGeom>
          <a:noFill/>
          <a:ln w="25400">
            <a:solidFill>
              <a:schemeClr val="bg2"/>
            </a:solidFill>
            <a:prstDash val="solid"/>
          </a:ln>
        </p:spPr>
      </p:sp>
      <p:sp>
        <p:nvSpPr>
          <p:cNvPr id="30" name="Shape 28"/>
          <p:cNvSpPr/>
          <p:nvPr/>
        </p:nvSpPr>
        <p:spPr>
          <a:xfrm>
            <a:off x="7269480" y="1371600"/>
            <a:ext cx="0" cy="914400"/>
          </a:xfrm>
          <a:prstGeom prst="line">
            <a:avLst/>
          </a:prstGeom>
          <a:noFill/>
          <a:ln w="25400">
            <a:solidFill>
              <a:schemeClr val="bg2"/>
            </a:solidFill>
            <a:prstDash val="solid"/>
          </a:ln>
        </p:spPr>
      </p:sp>
      <p:sp>
        <p:nvSpPr>
          <p:cNvPr id="31" name="Shape 29"/>
          <p:cNvSpPr/>
          <p:nvPr/>
        </p:nvSpPr>
        <p:spPr>
          <a:xfrm>
            <a:off x="7470648" y="1600200"/>
            <a:ext cx="0" cy="914400"/>
          </a:xfrm>
          <a:prstGeom prst="line">
            <a:avLst/>
          </a:prstGeom>
          <a:noFill/>
          <a:ln w="25400">
            <a:solidFill>
              <a:schemeClr val="bg2"/>
            </a:solidFill>
            <a:prstDash val="solid"/>
          </a:ln>
        </p:spPr>
      </p:sp>
      <p:sp>
        <p:nvSpPr>
          <p:cNvPr id="32" name="Shape 30"/>
          <p:cNvSpPr/>
          <p:nvPr/>
        </p:nvSpPr>
        <p:spPr>
          <a:xfrm>
            <a:off x="7671816" y="1371600"/>
            <a:ext cx="0" cy="914400"/>
          </a:xfrm>
          <a:prstGeom prst="line">
            <a:avLst/>
          </a:prstGeom>
          <a:noFill/>
          <a:ln w="25400">
            <a:solidFill>
              <a:schemeClr val="bg2"/>
            </a:solidFill>
            <a:prstDash val="solid"/>
          </a:ln>
        </p:spPr>
      </p:sp>
      <p:sp>
        <p:nvSpPr>
          <p:cNvPr id="33" name="Shape 31"/>
          <p:cNvSpPr/>
          <p:nvPr/>
        </p:nvSpPr>
        <p:spPr>
          <a:xfrm>
            <a:off x="7872984" y="1600200"/>
            <a:ext cx="0" cy="914400"/>
          </a:xfrm>
          <a:prstGeom prst="line">
            <a:avLst/>
          </a:prstGeom>
          <a:noFill/>
          <a:ln w="25400">
            <a:solidFill>
              <a:schemeClr val="bg2"/>
            </a:solidFill>
            <a:prstDash val="solid"/>
          </a:ln>
        </p:spPr>
      </p:sp>
      <p:sp>
        <p:nvSpPr>
          <p:cNvPr id="34" name="Shape 32"/>
          <p:cNvSpPr/>
          <p:nvPr/>
        </p:nvSpPr>
        <p:spPr>
          <a:xfrm>
            <a:off x="8074152" y="1371600"/>
            <a:ext cx="0" cy="914400"/>
          </a:xfrm>
          <a:prstGeom prst="line">
            <a:avLst/>
          </a:prstGeom>
          <a:noFill/>
          <a:ln w="25400">
            <a:solidFill>
              <a:schemeClr val="bg2"/>
            </a:solidFill>
            <a:prstDash val="solid"/>
          </a:ln>
        </p:spPr>
      </p:sp>
      <p:sp>
        <p:nvSpPr>
          <p:cNvPr id="35" name="Text 33"/>
          <p:cNvSpPr txBox="1"/>
          <p:nvPr/>
        </p:nvSpPr>
        <p:spPr>
          <a:xfrm>
            <a:off x="6254496" y="2834640"/>
            <a:ext cx="2258568"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Living hinge</a:t>
            </a:r>
            <a:endParaRPr lang="en-US" sz="1500" dirty="0"/>
          </a:p>
        </p:txBody>
      </p:sp>
      <p:sp>
        <p:nvSpPr>
          <p:cNvPr id="36" name="Shape 34"/>
          <p:cNvSpPr/>
          <p:nvPr/>
        </p:nvSpPr>
        <p:spPr>
          <a:xfrm>
            <a:off x="457200" y="3474720"/>
            <a:ext cx="8229600" cy="1097280"/>
          </a:xfrm>
          <a:prstGeom prst="roundRect">
            <a:avLst>
              <a:gd name="adj" fmla="val 6667"/>
            </a:avLst>
          </a:prstGeom>
          <a:solidFill>
            <a:schemeClr val="accent1"/>
          </a:solidFill>
          <a:ln/>
        </p:spPr>
      </p:sp>
      <p:sp>
        <p:nvSpPr>
          <p:cNvPr id="37" name="Text 35"/>
          <p:cNvSpPr txBox="1"/>
          <p:nvPr/>
        </p:nvSpPr>
        <p:spPr>
          <a:xfrm>
            <a:off x="685800" y="3566160"/>
            <a:ext cx="7772400" cy="91440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Decide as a group: </a:t>
            </a:r>
            <a:pPr indent="0" marL="0">
              <a:buNone/>
            </a:pPr>
            <a:r>
              <a:rPr lang="en-US" sz="1400" dirty="0">
                <a:solidFill>
                  <a:schemeClr val="bg1"/>
                </a:solidFill>
                <a:latin typeface="Calibri" pitchFamily="34" charset="0"/>
                <a:ea typeface="Calibri" pitchFamily="34" charset="-122"/>
                <a:cs typeface="Calibri" pitchFamily="34" charset="-120"/>
              </a:rPr>
              <a:t>Your plywood measures 3.0 mm. How wide should the slot be for a snug fit? Why might a slot drawn at exactly 3.0 mm come out loose? How could you find out before cutting your real part?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Turn on the fan and the machine</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MACHINE · 1–2</a:t>
            </a:r>
            <a:endParaRPr lang="en-US" sz="1100" dirty="0"/>
          </a:p>
        </p:txBody>
      </p:sp>
      <p:sp>
        <p:nvSpPr>
          <p:cNvPr id="5" name="Shape 3"/>
          <p:cNvSpPr/>
          <p:nvPr/>
        </p:nvSpPr>
        <p:spPr>
          <a:xfrm>
            <a:off x="457200" y="1097280"/>
            <a:ext cx="4023360" cy="3474720"/>
          </a:xfrm>
          <a:prstGeom prst="roundRect">
            <a:avLst>
              <a:gd name="adj" fmla="val 2105"/>
            </a:avLst>
          </a:prstGeom>
          <a:solidFill>
            <a:schemeClr val="bg2"/>
          </a:solidFill>
          <a:ln/>
        </p:spPr>
      </p:sp>
      <p:pic>
        <p:nvPicPr>
          <p:cNvPr id="6" name="Image 0" descr="/tmp/work/media/image4.jpg">    </p:cNvPr>
          <p:cNvPicPr>
            <a:picLocks noChangeAspect="1"/>
          </p:cNvPicPr>
          <p:nvPr/>
        </p:nvPicPr>
        <p:blipFill>
          <a:blip r:embed="rId1"/>
          <a:stretch>
            <a:fillRect/>
          </a:stretch>
        </p:blipFill>
        <p:spPr>
          <a:xfrm>
            <a:off x="883920" y="1234440"/>
            <a:ext cx="3169920" cy="2377440"/>
          </a:xfrm>
          <a:prstGeom prst="rect">
            <a:avLst/>
          </a:prstGeom>
        </p:spPr>
      </p:pic>
      <p:sp>
        <p:nvSpPr>
          <p:cNvPr id="7" name="Text 4"/>
          <p:cNvSpPr txBox="1"/>
          <p:nvPr/>
        </p:nvSpPr>
        <p:spPr>
          <a:xfrm>
            <a:off x="640080" y="3703320"/>
            <a:ext cx="36576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1. Turn on Ventilation Fan</a:t>
            </a:r>
            <a:endParaRPr lang="en-US" sz="1600" dirty="0"/>
          </a:p>
        </p:txBody>
      </p:sp>
      <p:sp>
        <p:nvSpPr>
          <p:cNvPr id="8" name="Text 5"/>
          <p:cNvSpPr txBox="1"/>
          <p:nvPr/>
        </p:nvSpPr>
        <p:spPr>
          <a:xfrm>
            <a:off x="640080" y="4069080"/>
            <a:ext cx="3657600" cy="411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Fan unit next to the machine. No fan, no laser.</a:t>
            </a:r>
            <a:endParaRPr lang="en-US" sz="1200" dirty="0"/>
          </a:p>
        </p:txBody>
      </p:sp>
      <p:sp>
        <p:nvSpPr>
          <p:cNvPr id="9" name="Shape 6"/>
          <p:cNvSpPr/>
          <p:nvPr/>
        </p:nvSpPr>
        <p:spPr>
          <a:xfrm>
            <a:off x="4663440" y="1097280"/>
            <a:ext cx="4023360" cy="3474720"/>
          </a:xfrm>
          <a:prstGeom prst="roundRect">
            <a:avLst>
              <a:gd name="adj" fmla="val 2105"/>
            </a:avLst>
          </a:prstGeom>
          <a:solidFill>
            <a:schemeClr val="bg2"/>
          </a:solidFill>
          <a:ln/>
        </p:spPr>
      </p:sp>
      <p:pic>
        <p:nvPicPr>
          <p:cNvPr id="10" name="Image 1" descr="/tmp/work/media/image15.jpg">    </p:cNvPr>
          <p:cNvPicPr>
            <a:picLocks noChangeAspect="1"/>
          </p:cNvPicPr>
          <p:nvPr/>
        </p:nvPicPr>
        <p:blipFill>
          <a:blip r:embed="rId2"/>
          <a:stretch>
            <a:fillRect/>
          </a:stretch>
        </p:blipFill>
        <p:spPr>
          <a:xfrm>
            <a:off x="5090160" y="1234440"/>
            <a:ext cx="3169920" cy="2377440"/>
          </a:xfrm>
          <a:prstGeom prst="rect">
            <a:avLst/>
          </a:prstGeom>
        </p:spPr>
      </p:pic>
      <p:sp>
        <p:nvSpPr>
          <p:cNvPr id="11" name="Text 7"/>
          <p:cNvSpPr txBox="1"/>
          <p:nvPr/>
        </p:nvSpPr>
        <p:spPr>
          <a:xfrm>
            <a:off x="4846320" y="3703320"/>
            <a:ext cx="36576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2. Turn on Laser Cutting Machine</a:t>
            </a:r>
            <a:endParaRPr lang="en-US" sz="1600" dirty="0"/>
          </a:p>
        </p:txBody>
      </p:sp>
      <p:sp>
        <p:nvSpPr>
          <p:cNvPr id="12" name="Text 8"/>
          <p:cNvSpPr txBox="1"/>
          <p:nvPr/>
        </p:nvSpPr>
        <p:spPr>
          <a:xfrm>
            <a:off x="4846320" y="4069080"/>
            <a:ext cx="3657600" cy="411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Switch on the back, labeled Power ⬆</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Let the machine start up</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MACHINE · 3</a:t>
            </a:r>
            <a:endParaRPr lang="en-US" sz="1100" dirty="0"/>
          </a:p>
        </p:txBody>
      </p:sp>
      <p:sp>
        <p:nvSpPr>
          <p:cNvPr id="5" name="Shape 3"/>
          <p:cNvSpPr/>
          <p:nvPr/>
        </p:nvSpPr>
        <p:spPr>
          <a:xfrm>
            <a:off x="457200" y="1179576"/>
            <a:ext cx="384048" cy="384048"/>
          </a:xfrm>
          <a:prstGeom prst="ellipse">
            <a:avLst/>
          </a:prstGeom>
          <a:solidFill>
            <a:schemeClr val="accent1"/>
          </a:solidFill>
          <a:ln/>
        </p:spPr>
      </p:sp>
      <p:sp>
        <p:nvSpPr>
          <p:cNvPr id="6" name="Text 4"/>
          <p:cNvSpPr txBox="1"/>
          <p:nvPr/>
        </p:nvSpPr>
        <p:spPr>
          <a:xfrm>
            <a:off x="457200" y="11795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0120" y="1106424"/>
            <a:ext cx="3977640" cy="576072"/>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Lid needs to be closed</a:t>
            </a:r>
            <a:endParaRPr lang="en-US" sz="1400" dirty="0"/>
          </a:p>
        </p:txBody>
      </p:sp>
      <p:sp>
        <p:nvSpPr>
          <p:cNvPr id="8" name="Shape 6"/>
          <p:cNvSpPr/>
          <p:nvPr/>
        </p:nvSpPr>
        <p:spPr>
          <a:xfrm>
            <a:off x="457200" y="1801368"/>
            <a:ext cx="384048" cy="384048"/>
          </a:xfrm>
          <a:prstGeom prst="ellipse">
            <a:avLst/>
          </a:prstGeom>
          <a:solidFill>
            <a:schemeClr val="accent1"/>
          </a:solidFill>
          <a:ln/>
        </p:spPr>
      </p:sp>
      <p:sp>
        <p:nvSpPr>
          <p:cNvPr id="9" name="Text 7"/>
          <p:cNvSpPr txBox="1"/>
          <p:nvPr/>
        </p:nvSpPr>
        <p:spPr>
          <a:xfrm>
            <a:off x="457200" y="18013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0120" y="1728216"/>
            <a:ext cx="3977640" cy="576072"/>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The machine will lower its bed then move the laser head</a:t>
            </a:r>
            <a:endParaRPr lang="en-US" sz="1400" dirty="0"/>
          </a:p>
        </p:txBody>
      </p:sp>
      <p:sp>
        <p:nvSpPr>
          <p:cNvPr id="11" name="Shape 9"/>
          <p:cNvSpPr/>
          <p:nvPr/>
        </p:nvSpPr>
        <p:spPr>
          <a:xfrm>
            <a:off x="457200" y="2423160"/>
            <a:ext cx="384048" cy="384048"/>
          </a:xfrm>
          <a:prstGeom prst="ellipse">
            <a:avLst/>
          </a:prstGeom>
          <a:solidFill>
            <a:schemeClr val="accent1"/>
          </a:solidFill>
          <a:ln/>
        </p:spPr>
      </p:sp>
      <p:sp>
        <p:nvSpPr>
          <p:cNvPr id="12" name="Text 10"/>
          <p:cNvSpPr txBox="1"/>
          <p:nvPr/>
        </p:nvSpPr>
        <p:spPr>
          <a:xfrm>
            <a:off x="457200" y="2423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0120" y="2350008"/>
            <a:ext cx="3977640" cy="576072"/>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The machine will beep 3 times then do a final beep</a:t>
            </a:r>
            <a:endParaRPr lang="en-US" sz="1400" dirty="0"/>
          </a:p>
        </p:txBody>
      </p:sp>
      <p:sp>
        <p:nvSpPr>
          <p:cNvPr id="14" name="Shape 12"/>
          <p:cNvSpPr/>
          <p:nvPr/>
        </p:nvSpPr>
        <p:spPr>
          <a:xfrm>
            <a:off x="457200" y="3044952"/>
            <a:ext cx="384048" cy="384048"/>
          </a:xfrm>
          <a:prstGeom prst="ellipse">
            <a:avLst/>
          </a:prstGeom>
          <a:solidFill>
            <a:schemeClr val="accent1"/>
          </a:solidFill>
          <a:ln/>
        </p:spPr>
      </p:sp>
      <p:sp>
        <p:nvSpPr>
          <p:cNvPr id="15" name="Text 13"/>
          <p:cNvSpPr txBox="1"/>
          <p:nvPr/>
        </p:nvSpPr>
        <p:spPr>
          <a:xfrm>
            <a:off x="457200" y="3044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0120" y="2971800"/>
            <a:ext cx="3977640" cy="576072"/>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After the final beep, you can continue to calibrate the machine</a:t>
            </a:r>
            <a:endParaRPr lang="en-US" sz="1400" dirty="0"/>
          </a:p>
        </p:txBody>
      </p:sp>
      <p:sp>
        <p:nvSpPr>
          <p:cNvPr id="17" name="Shape 15"/>
          <p:cNvSpPr/>
          <p:nvPr/>
        </p:nvSpPr>
        <p:spPr>
          <a:xfrm>
            <a:off x="457200" y="3703320"/>
            <a:ext cx="4480560" cy="868680"/>
          </a:xfrm>
          <a:prstGeom prst="roundRect">
            <a:avLst>
              <a:gd name="adj" fmla="val 8421"/>
            </a:avLst>
          </a:prstGeom>
          <a:solidFill>
            <a:schemeClr val="accent1"/>
          </a:solidFill>
          <a:ln/>
        </p:spPr>
      </p:sp>
      <p:sp>
        <p:nvSpPr>
          <p:cNvPr id="18" name="Text 16"/>
          <p:cNvSpPr txBox="1"/>
          <p:nvPr/>
        </p:nvSpPr>
        <p:spPr>
          <a:xfrm>
            <a:off x="640080" y="3703320"/>
            <a:ext cx="1188720" cy="86868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Listen for:</a:t>
            </a:r>
            <a:endParaRPr lang="en-US" sz="1400" dirty="0"/>
          </a:p>
        </p:txBody>
      </p:sp>
      <p:sp>
        <p:nvSpPr>
          <p:cNvPr id="19" name="Shape 17"/>
          <p:cNvSpPr/>
          <p:nvPr/>
        </p:nvSpPr>
        <p:spPr>
          <a:xfrm>
            <a:off x="1828800" y="4005072"/>
            <a:ext cx="274320" cy="274320"/>
          </a:xfrm>
          <a:prstGeom prst="ellipse">
            <a:avLst/>
          </a:prstGeom>
          <a:solidFill>
            <a:schemeClr val="accent4"/>
          </a:solidFill>
          <a:ln/>
        </p:spPr>
      </p:sp>
      <p:sp>
        <p:nvSpPr>
          <p:cNvPr id="20" name="Shape 18"/>
          <p:cNvSpPr/>
          <p:nvPr/>
        </p:nvSpPr>
        <p:spPr>
          <a:xfrm>
            <a:off x="2240280" y="4005072"/>
            <a:ext cx="274320" cy="274320"/>
          </a:xfrm>
          <a:prstGeom prst="ellipse">
            <a:avLst/>
          </a:prstGeom>
          <a:solidFill>
            <a:schemeClr val="accent4"/>
          </a:solidFill>
          <a:ln/>
        </p:spPr>
      </p:sp>
      <p:sp>
        <p:nvSpPr>
          <p:cNvPr id="21" name="Shape 19"/>
          <p:cNvSpPr/>
          <p:nvPr/>
        </p:nvSpPr>
        <p:spPr>
          <a:xfrm>
            <a:off x="2651760" y="4005072"/>
            <a:ext cx="274320" cy="274320"/>
          </a:xfrm>
          <a:prstGeom prst="ellipse">
            <a:avLst/>
          </a:prstGeom>
          <a:solidFill>
            <a:schemeClr val="accent4"/>
          </a:solidFill>
          <a:ln/>
        </p:spPr>
      </p:sp>
      <p:sp>
        <p:nvSpPr>
          <p:cNvPr id="22" name="Shape 20"/>
          <p:cNvSpPr/>
          <p:nvPr/>
        </p:nvSpPr>
        <p:spPr>
          <a:xfrm>
            <a:off x="3246120" y="3913632"/>
            <a:ext cx="457200" cy="457200"/>
          </a:xfrm>
          <a:prstGeom prst="ellipse">
            <a:avLst/>
          </a:prstGeom>
          <a:solidFill>
            <a:schemeClr val="accent3"/>
          </a:solidFill>
          <a:ln/>
        </p:spPr>
      </p:sp>
      <p:sp>
        <p:nvSpPr>
          <p:cNvPr id="23" name="Text 21"/>
          <p:cNvSpPr txBox="1"/>
          <p:nvPr/>
        </p:nvSpPr>
        <p:spPr>
          <a:xfrm>
            <a:off x="3840480" y="3703320"/>
            <a:ext cx="914400" cy="86868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 go</a:t>
            </a:r>
            <a:endParaRPr lang="en-US" sz="1400" dirty="0"/>
          </a:p>
        </p:txBody>
      </p:sp>
      <p:sp>
        <p:nvSpPr>
          <p:cNvPr id="24" name="Shape 22"/>
          <p:cNvSpPr/>
          <p:nvPr/>
        </p:nvSpPr>
        <p:spPr>
          <a:xfrm>
            <a:off x="5212080" y="1097280"/>
            <a:ext cx="3474720" cy="3474720"/>
          </a:xfrm>
          <a:prstGeom prst="roundRect">
            <a:avLst>
              <a:gd name="adj" fmla="val 2105"/>
            </a:avLst>
          </a:prstGeom>
          <a:solidFill>
            <a:schemeClr val="bg2"/>
          </a:solidFill>
          <a:ln/>
        </p:spPr>
      </p:sp>
      <p:pic>
        <p:nvPicPr>
          <p:cNvPr id="25" name="Image 0" descr="/tmp/work/media/image7.jpg">    </p:cNvPr>
          <p:cNvPicPr>
            <a:picLocks noChangeAspect="1"/>
          </p:cNvPicPr>
          <p:nvPr/>
        </p:nvPicPr>
        <p:blipFill>
          <a:blip r:embed="rId1"/>
          <a:stretch>
            <a:fillRect/>
          </a:stretch>
        </p:blipFill>
        <p:spPr>
          <a:xfrm>
            <a:off x="5303520" y="1908810"/>
            <a:ext cx="3291840" cy="185166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Calibrate the machine (Z-direction)</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MACHINE · 4a–b</a:t>
            </a:r>
            <a:endParaRPr lang="en-US" sz="1100" dirty="0"/>
          </a:p>
        </p:txBody>
      </p:sp>
      <p:sp>
        <p:nvSpPr>
          <p:cNvPr id="5" name="Shape 3"/>
          <p:cNvSpPr/>
          <p:nvPr/>
        </p:nvSpPr>
        <p:spPr>
          <a:xfrm>
            <a:off x="457200" y="1225296"/>
            <a:ext cx="384048" cy="384048"/>
          </a:xfrm>
          <a:prstGeom prst="ellipse">
            <a:avLst/>
          </a:prstGeom>
          <a:solidFill>
            <a:schemeClr val="accent1"/>
          </a:solidFill>
          <a:ln/>
        </p:spPr>
      </p:sp>
      <p:sp>
        <p:nvSpPr>
          <p:cNvPr id="6" name="Text 4"/>
          <p:cNvSpPr txBox="1"/>
          <p:nvPr/>
        </p:nvSpPr>
        <p:spPr>
          <a:xfrm>
            <a:off x="457200" y="1225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a:t>
            </a:r>
            <a:endParaRPr lang="en-US" sz="1400" dirty="0"/>
          </a:p>
        </p:txBody>
      </p:sp>
      <p:sp>
        <p:nvSpPr>
          <p:cNvPr id="7" name="Text 5"/>
          <p:cNvSpPr txBox="1"/>
          <p:nvPr/>
        </p:nvSpPr>
        <p:spPr>
          <a:xfrm>
            <a:off x="960120" y="1152144"/>
            <a:ext cx="4251960" cy="10058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Place material on machine bed</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Flat, and inside the 29" × 17" bed</a:t>
            </a:r>
            <a:endParaRPr lang="en-US" sz="1400" dirty="0"/>
          </a:p>
        </p:txBody>
      </p:sp>
      <p:sp>
        <p:nvSpPr>
          <p:cNvPr id="8" name="Shape 6"/>
          <p:cNvSpPr/>
          <p:nvPr/>
        </p:nvSpPr>
        <p:spPr>
          <a:xfrm>
            <a:off x="457200" y="2276856"/>
            <a:ext cx="384048" cy="384048"/>
          </a:xfrm>
          <a:prstGeom prst="ellipse">
            <a:avLst/>
          </a:prstGeom>
          <a:solidFill>
            <a:schemeClr val="accent1"/>
          </a:solidFill>
          <a:ln/>
        </p:spPr>
      </p:sp>
      <p:sp>
        <p:nvSpPr>
          <p:cNvPr id="9" name="Text 7"/>
          <p:cNvSpPr txBox="1"/>
          <p:nvPr/>
        </p:nvSpPr>
        <p:spPr>
          <a:xfrm>
            <a:off x="457200" y="22768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a:t>
            </a:r>
            <a:endParaRPr lang="en-US" sz="1400" dirty="0"/>
          </a:p>
        </p:txBody>
      </p:sp>
      <p:sp>
        <p:nvSpPr>
          <p:cNvPr id="10" name="Text 8"/>
          <p:cNvSpPr txBox="1"/>
          <p:nvPr/>
        </p:nvSpPr>
        <p:spPr>
          <a:xfrm>
            <a:off x="960120" y="2203704"/>
            <a:ext cx="4251960" cy="10058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Bring the bed UP about 1 inch from your material</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Using the control panel, bring the bed UP (in the z direction) about 1 inch away from your material on the bed</a:t>
            </a:r>
            <a:endParaRPr lang="en-US" sz="1400" dirty="0"/>
          </a:p>
        </p:txBody>
      </p:sp>
      <p:sp>
        <p:nvSpPr>
          <p:cNvPr id="11" name="Shape 9"/>
          <p:cNvSpPr/>
          <p:nvPr/>
        </p:nvSpPr>
        <p:spPr>
          <a:xfrm>
            <a:off x="457200" y="3429000"/>
            <a:ext cx="4754880" cy="1143000"/>
          </a:xfrm>
          <a:prstGeom prst="roundRect">
            <a:avLst>
              <a:gd name="adj" fmla="val 6400"/>
            </a:avLst>
          </a:prstGeom>
          <a:solidFill>
            <a:schemeClr val="accent6"/>
          </a:solidFill>
          <a:ln/>
        </p:spPr>
      </p:sp>
      <p:pic>
        <p:nvPicPr>
          <p:cNvPr id="12" name="Image 0" descr="preencoded.png">    </p:cNvPr>
          <p:cNvPicPr>
            <a:picLocks noChangeAspect="1"/>
          </p:cNvPicPr>
          <p:nvPr/>
        </p:nvPicPr>
        <p:blipFill>
          <a:blip r:embed="rId1"/>
          <a:stretch>
            <a:fillRect/>
          </a:stretch>
        </p:blipFill>
        <p:spPr>
          <a:xfrm>
            <a:off x="640080" y="3566160"/>
            <a:ext cx="347472" cy="347472"/>
          </a:xfrm>
          <a:prstGeom prst="rect">
            <a:avLst/>
          </a:prstGeom>
        </p:spPr>
      </p:pic>
      <p:sp>
        <p:nvSpPr>
          <p:cNvPr id="13" name="Text 10"/>
          <p:cNvSpPr txBox="1"/>
          <p:nvPr/>
        </p:nvSpPr>
        <p:spPr>
          <a:xfrm>
            <a:off x="1097280" y="3538728"/>
            <a:ext cx="397764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DO NOT CRASH LASER INTO BED or MATERIAL</a:t>
            </a:r>
            <a:endParaRPr lang="en-US" sz="1500" dirty="0"/>
          </a:p>
        </p:txBody>
      </p:sp>
      <p:sp>
        <p:nvSpPr>
          <p:cNvPr id="14" name="Text 11"/>
          <p:cNvSpPr txBox="1"/>
          <p:nvPr/>
        </p:nvSpPr>
        <p:spPr>
          <a:xfrm>
            <a:off x="640080" y="3995928"/>
            <a:ext cx="4389120" cy="50292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Go slowly with the Z arrows and watch the gap the whole time.</a:t>
            </a:r>
            <a:endParaRPr lang="en-US" sz="1200" dirty="0"/>
          </a:p>
        </p:txBody>
      </p:sp>
      <p:sp>
        <p:nvSpPr>
          <p:cNvPr id="15" name="Shape 12"/>
          <p:cNvSpPr/>
          <p:nvPr/>
        </p:nvSpPr>
        <p:spPr>
          <a:xfrm>
            <a:off x="5486400" y="1097280"/>
            <a:ext cx="3200400" cy="3474720"/>
          </a:xfrm>
          <a:prstGeom prst="roundRect">
            <a:avLst>
              <a:gd name="adj" fmla="val 2286"/>
            </a:avLst>
          </a:prstGeom>
          <a:solidFill>
            <a:schemeClr val="bg2"/>
          </a:solidFill>
          <a:ln/>
        </p:spPr>
      </p:sp>
      <p:pic>
        <p:nvPicPr>
          <p:cNvPr id="16" name="Image 1" descr="/tmp/work/media/image19.jpg">    </p:cNvPr>
          <p:cNvPicPr>
            <a:picLocks noChangeAspect="1"/>
          </p:cNvPicPr>
          <p:nvPr/>
        </p:nvPicPr>
        <p:blipFill>
          <a:blip r:embed="rId2"/>
          <a:stretch>
            <a:fillRect/>
          </a:stretch>
        </p:blipFill>
        <p:spPr>
          <a:xfrm>
            <a:off x="6160770" y="1188720"/>
            <a:ext cx="1851660" cy="329184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Calibrate with the calibration tool</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MACHINE · 4c–d</a:t>
            </a:r>
            <a:endParaRPr lang="en-US" sz="1100" dirty="0"/>
          </a:p>
        </p:txBody>
      </p:sp>
      <p:sp>
        <p:nvSpPr>
          <p:cNvPr id="5" name="Shape 3"/>
          <p:cNvSpPr/>
          <p:nvPr/>
        </p:nvSpPr>
        <p:spPr>
          <a:xfrm>
            <a:off x="457200" y="1225296"/>
            <a:ext cx="384048" cy="384048"/>
          </a:xfrm>
          <a:prstGeom prst="ellipse">
            <a:avLst/>
          </a:prstGeom>
          <a:solidFill>
            <a:schemeClr val="accent1"/>
          </a:solidFill>
          <a:ln/>
        </p:spPr>
      </p:sp>
      <p:sp>
        <p:nvSpPr>
          <p:cNvPr id="6" name="Text 4"/>
          <p:cNvSpPr txBox="1"/>
          <p:nvPr/>
        </p:nvSpPr>
        <p:spPr>
          <a:xfrm>
            <a:off x="457200" y="1225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a:t>
            </a:r>
            <a:endParaRPr lang="en-US" sz="1400" dirty="0"/>
          </a:p>
        </p:txBody>
      </p:sp>
      <p:sp>
        <p:nvSpPr>
          <p:cNvPr id="7" name="Text 5"/>
          <p:cNvSpPr txBox="1"/>
          <p:nvPr/>
        </p:nvSpPr>
        <p:spPr>
          <a:xfrm>
            <a:off x="960120" y="1152144"/>
            <a:ext cx="3429000" cy="9601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Place calibration tool on end of laser</a:t>
            </a:r>
            <a:endParaRPr lang="en-US" sz="1400" dirty="0"/>
          </a:p>
        </p:txBody>
      </p:sp>
      <p:sp>
        <p:nvSpPr>
          <p:cNvPr id="8" name="Shape 6"/>
          <p:cNvSpPr/>
          <p:nvPr/>
        </p:nvSpPr>
        <p:spPr>
          <a:xfrm>
            <a:off x="457200" y="2231136"/>
            <a:ext cx="384048" cy="384048"/>
          </a:xfrm>
          <a:prstGeom prst="ellipse">
            <a:avLst/>
          </a:prstGeom>
          <a:solidFill>
            <a:schemeClr val="accent1"/>
          </a:solidFill>
          <a:ln/>
        </p:spPr>
      </p:sp>
      <p:sp>
        <p:nvSpPr>
          <p:cNvPr id="9" name="Text 7"/>
          <p:cNvSpPr txBox="1"/>
          <p:nvPr/>
        </p:nvSpPr>
        <p:spPr>
          <a:xfrm>
            <a:off x="457200" y="22311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a:t>
            </a:r>
            <a:endParaRPr lang="en-US" sz="1400" dirty="0"/>
          </a:p>
        </p:txBody>
      </p:sp>
      <p:sp>
        <p:nvSpPr>
          <p:cNvPr id="10" name="Text 8"/>
          <p:cNvSpPr txBox="1"/>
          <p:nvPr/>
        </p:nvSpPr>
        <p:spPr>
          <a:xfrm>
            <a:off x="960120" y="2157984"/>
            <a:ext cx="3429000" cy="9601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SLOWLY raise the bed</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Using the control panel, SLOWLY bring the bed up (in z) so that the calibration tool barely meets your material and falls off</a:t>
            </a:r>
            <a:endParaRPr lang="en-US" sz="1400" dirty="0"/>
          </a:p>
        </p:txBody>
      </p:sp>
      <p:sp>
        <p:nvSpPr>
          <p:cNvPr id="11" name="Shape 9"/>
          <p:cNvSpPr/>
          <p:nvPr/>
        </p:nvSpPr>
        <p:spPr>
          <a:xfrm>
            <a:off x="457200" y="3236976"/>
            <a:ext cx="384048" cy="384048"/>
          </a:xfrm>
          <a:prstGeom prst="ellipse">
            <a:avLst/>
          </a:prstGeom>
          <a:solidFill>
            <a:schemeClr val="accent1"/>
          </a:solidFill>
          <a:ln/>
        </p:spPr>
      </p:sp>
      <p:sp>
        <p:nvSpPr>
          <p:cNvPr id="12" name="Text 10"/>
          <p:cNvSpPr txBox="1"/>
          <p:nvPr/>
        </p:nvSpPr>
        <p:spPr>
          <a:xfrm>
            <a:off x="457200" y="32369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e</a:t>
            </a:r>
            <a:endParaRPr lang="en-US" sz="1400" dirty="0"/>
          </a:p>
        </p:txBody>
      </p:sp>
      <p:sp>
        <p:nvSpPr>
          <p:cNvPr id="13" name="Text 11"/>
          <p:cNvSpPr txBox="1"/>
          <p:nvPr/>
        </p:nvSpPr>
        <p:spPr>
          <a:xfrm>
            <a:off x="960120" y="3163824"/>
            <a:ext cx="3429000" cy="9601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Put the tool back</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Place calibration tool in its spot on the machine edge once done using</a:t>
            </a:r>
            <a:endParaRPr lang="en-US" sz="1400" dirty="0"/>
          </a:p>
        </p:txBody>
      </p:sp>
      <p:sp>
        <p:nvSpPr>
          <p:cNvPr id="14" name="Shape 12"/>
          <p:cNvSpPr/>
          <p:nvPr/>
        </p:nvSpPr>
        <p:spPr>
          <a:xfrm>
            <a:off x="4572000" y="1097280"/>
            <a:ext cx="2606040" cy="3474720"/>
          </a:xfrm>
          <a:prstGeom prst="roundRect">
            <a:avLst>
              <a:gd name="adj" fmla="val 2807"/>
            </a:avLst>
          </a:prstGeom>
          <a:solidFill>
            <a:schemeClr val="bg2"/>
          </a:solidFill>
          <a:ln/>
        </p:spPr>
      </p:sp>
      <p:pic>
        <p:nvPicPr>
          <p:cNvPr id="15" name="Image 0" descr="/tmp/work/media/image14.jpg">    </p:cNvPr>
          <p:cNvPicPr>
            <a:picLocks noChangeAspect="1"/>
          </p:cNvPicPr>
          <p:nvPr/>
        </p:nvPicPr>
        <p:blipFill>
          <a:blip r:embed="rId1"/>
          <a:stretch>
            <a:fillRect/>
          </a:stretch>
        </p:blipFill>
        <p:spPr>
          <a:xfrm>
            <a:off x="4663440" y="2153126"/>
            <a:ext cx="2423160" cy="1363028"/>
          </a:xfrm>
          <a:prstGeom prst="rect">
            <a:avLst/>
          </a:prstGeom>
        </p:spPr>
      </p:pic>
      <p:sp>
        <p:nvSpPr>
          <p:cNvPr id="16" name="Shape 13"/>
          <p:cNvSpPr/>
          <p:nvPr/>
        </p:nvSpPr>
        <p:spPr>
          <a:xfrm>
            <a:off x="7315200" y="1097280"/>
            <a:ext cx="1371600" cy="3474720"/>
          </a:xfrm>
          <a:prstGeom prst="roundRect">
            <a:avLst>
              <a:gd name="adj" fmla="val 5333"/>
            </a:avLst>
          </a:prstGeom>
          <a:solidFill>
            <a:schemeClr val="bg2"/>
          </a:solidFill>
          <a:ln/>
        </p:spPr>
      </p:sp>
      <p:pic>
        <p:nvPicPr>
          <p:cNvPr id="17" name="Image 1" descr="/tmp/work/media/image9.jpg">    </p:cNvPr>
          <p:cNvPicPr>
            <a:picLocks noChangeAspect="1"/>
          </p:cNvPicPr>
          <p:nvPr/>
        </p:nvPicPr>
        <p:blipFill>
          <a:blip r:embed="rId2"/>
          <a:stretch>
            <a:fillRect/>
          </a:stretch>
        </p:blipFill>
        <p:spPr>
          <a:xfrm>
            <a:off x="7360920" y="1696720"/>
            <a:ext cx="1280160" cy="2275840"/>
          </a:xfrm>
          <a:prstGeom prst="rect">
            <a:avLst/>
          </a:prstGeom>
        </p:spPr>
      </p:pic>
      <p:sp>
        <p:nvSpPr>
          <p:cNvPr id="18" name="Text 14"/>
          <p:cNvSpPr txBox="1"/>
          <p:nvPr/>
        </p:nvSpPr>
        <p:spPr>
          <a:xfrm>
            <a:off x="457200" y="4160520"/>
            <a:ext cx="3931920" cy="411480"/>
          </a:xfrm>
          <a:prstGeom prst="rect">
            <a:avLst/>
          </a:prstGeom>
          <a:noFill/>
          <a:ln/>
        </p:spPr>
        <p:txBody>
          <a:bodyPr wrap="square" lIns="0" tIns="0" rIns="0" bIns="0" rtlCol="0" anchor="t"/>
          <a:lstStyle/>
          <a:p>
            <a:pPr indent="0" marL="0">
              <a:buNone/>
            </a:pPr>
            <a:r>
              <a:rPr lang="en-US" sz="1300" i="1" dirty="0">
                <a:solidFill>
                  <a:schemeClr val="accent2"/>
                </a:solidFill>
                <a:latin typeface="Calibri" pitchFamily="34" charset="0"/>
                <a:ea typeface="Calibri" pitchFamily="34" charset="-122"/>
                <a:cs typeface="Calibri" pitchFamily="34" charset="-120"/>
              </a:rPr>
              <a:t>When the tool tips off, the lens is at the right height.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Position the laser starting point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MACHINE · 5</a:t>
            </a:r>
            <a:endParaRPr lang="en-US" sz="1100" dirty="0"/>
          </a:p>
        </p:txBody>
      </p:sp>
      <p:sp>
        <p:nvSpPr>
          <p:cNvPr id="5" name="Shape 3"/>
          <p:cNvSpPr/>
          <p:nvPr/>
        </p:nvSpPr>
        <p:spPr>
          <a:xfrm>
            <a:off x="457200" y="1225296"/>
            <a:ext cx="384048" cy="384048"/>
          </a:xfrm>
          <a:prstGeom prst="ellipse">
            <a:avLst/>
          </a:prstGeom>
          <a:solidFill>
            <a:schemeClr val="accent1"/>
          </a:solidFill>
          <a:ln/>
        </p:spPr>
      </p:sp>
      <p:sp>
        <p:nvSpPr>
          <p:cNvPr id="6" name="Text 4"/>
          <p:cNvSpPr txBox="1"/>
          <p:nvPr/>
        </p:nvSpPr>
        <p:spPr>
          <a:xfrm>
            <a:off x="457200" y="1225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0120" y="1152144"/>
            <a:ext cx="3703320" cy="91440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Use the X / Y arrows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Move the laser head over the top-left corner of your material</a:t>
            </a:r>
            <a:endParaRPr lang="en-US" sz="1400" dirty="0"/>
          </a:p>
        </p:txBody>
      </p:sp>
      <p:sp>
        <p:nvSpPr>
          <p:cNvPr id="8" name="Shape 6"/>
          <p:cNvSpPr/>
          <p:nvPr/>
        </p:nvSpPr>
        <p:spPr>
          <a:xfrm>
            <a:off x="457200" y="2185416"/>
            <a:ext cx="384048" cy="384048"/>
          </a:xfrm>
          <a:prstGeom prst="ellipse">
            <a:avLst/>
          </a:prstGeom>
          <a:solidFill>
            <a:schemeClr val="accent1"/>
          </a:solidFill>
          <a:ln/>
        </p:spPr>
      </p:sp>
      <p:sp>
        <p:nvSpPr>
          <p:cNvPr id="9" name="Text 7"/>
          <p:cNvSpPr txBox="1"/>
          <p:nvPr/>
        </p:nvSpPr>
        <p:spPr>
          <a:xfrm>
            <a:off x="457200" y="21854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0120" y="2112264"/>
            <a:ext cx="3703320" cy="91440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Leave a small margin</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Stay a little in from the edge so the cut lands on the material</a:t>
            </a:r>
            <a:endParaRPr lang="en-US" sz="1400" dirty="0"/>
          </a:p>
        </p:txBody>
      </p:sp>
      <p:sp>
        <p:nvSpPr>
          <p:cNvPr id="11" name="Shape 9"/>
          <p:cNvSpPr/>
          <p:nvPr/>
        </p:nvSpPr>
        <p:spPr>
          <a:xfrm>
            <a:off x="457200" y="3145536"/>
            <a:ext cx="384048" cy="384048"/>
          </a:xfrm>
          <a:prstGeom prst="ellipse">
            <a:avLst/>
          </a:prstGeom>
          <a:solidFill>
            <a:schemeClr val="accent1"/>
          </a:solidFill>
          <a:ln/>
        </p:spPr>
      </p:sp>
      <p:sp>
        <p:nvSpPr>
          <p:cNvPr id="12" name="Text 10"/>
          <p:cNvSpPr txBox="1"/>
          <p:nvPr/>
        </p:nvSpPr>
        <p:spPr>
          <a:xfrm>
            <a:off x="457200" y="31455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0120" y="3072384"/>
            <a:ext cx="3703320" cy="91440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Check it fits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Your design has to fit between this point and the far edges of the sheet</a:t>
            </a:r>
            <a:endParaRPr lang="en-US" sz="1400" dirty="0"/>
          </a:p>
        </p:txBody>
      </p:sp>
      <p:sp>
        <p:nvSpPr>
          <p:cNvPr id="14" name="Shape 12"/>
          <p:cNvSpPr/>
          <p:nvPr/>
        </p:nvSpPr>
        <p:spPr>
          <a:xfrm>
            <a:off x="4937760" y="1097280"/>
            <a:ext cx="3749040" cy="3474720"/>
          </a:xfrm>
          <a:prstGeom prst="roundRect">
            <a:avLst>
              <a:gd name="adj" fmla="val 2105"/>
            </a:avLst>
          </a:prstGeom>
          <a:solidFill>
            <a:schemeClr val="bg1"/>
          </a:solidFill>
          <a:ln/>
        </p:spPr>
      </p:sp>
      <p:pic>
        <p:nvPicPr>
          <p:cNvPr id="15" name="Image 0" descr="/tmp/work/media/image17.png">    </p:cNvPr>
          <p:cNvPicPr>
            <a:picLocks noChangeAspect="1"/>
          </p:cNvPicPr>
          <p:nvPr/>
        </p:nvPicPr>
        <p:blipFill>
          <a:blip r:embed="rId1"/>
          <a:stretch>
            <a:fillRect/>
          </a:stretch>
        </p:blipFill>
        <p:spPr>
          <a:xfrm>
            <a:off x="4937760" y="1297160"/>
            <a:ext cx="3749040" cy="2069121"/>
          </a:xfrm>
          <a:prstGeom prst="rect">
            <a:avLst/>
          </a:prstGeom>
        </p:spPr>
      </p:pic>
      <p:sp>
        <p:nvSpPr>
          <p:cNvPr id="16" name="Shape 13"/>
          <p:cNvSpPr/>
          <p:nvPr/>
        </p:nvSpPr>
        <p:spPr>
          <a:xfrm>
            <a:off x="4937760" y="3520440"/>
            <a:ext cx="3749040" cy="1051560"/>
          </a:xfrm>
          <a:prstGeom prst="roundRect">
            <a:avLst>
              <a:gd name="adj" fmla="val 6957"/>
            </a:avLst>
          </a:prstGeom>
          <a:solidFill>
            <a:schemeClr val="accent1"/>
          </a:solidFill>
          <a:ln/>
        </p:spPr>
      </p:sp>
      <p:sp>
        <p:nvSpPr>
          <p:cNvPr id="17" name="Text 14"/>
          <p:cNvSpPr txBox="1"/>
          <p:nvPr/>
        </p:nvSpPr>
        <p:spPr>
          <a:xfrm>
            <a:off x="5120640" y="3520440"/>
            <a:ext cx="3383280" cy="105156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Next: prepare your design on the CAS 117 computer.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Export your Drawing as a DXF</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DESIGN · 1</a:t>
            </a:r>
            <a:endParaRPr lang="en-US" sz="1100" dirty="0"/>
          </a:p>
        </p:txBody>
      </p:sp>
      <p:sp>
        <p:nvSpPr>
          <p:cNvPr id="5" name="Shape 3"/>
          <p:cNvSpPr/>
          <p:nvPr/>
        </p:nvSpPr>
        <p:spPr>
          <a:xfrm>
            <a:off x="457200" y="1225296"/>
            <a:ext cx="384048" cy="384048"/>
          </a:xfrm>
          <a:prstGeom prst="ellipse">
            <a:avLst/>
          </a:prstGeom>
          <a:solidFill>
            <a:schemeClr val="accent1"/>
          </a:solidFill>
          <a:ln/>
        </p:spPr>
      </p:sp>
      <p:sp>
        <p:nvSpPr>
          <p:cNvPr id="6" name="Text 4"/>
          <p:cNvSpPr txBox="1"/>
          <p:nvPr/>
        </p:nvSpPr>
        <p:spPr>
          <a:xfrm>
            <a:off x="457200" y="1225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0120" y="1152144"/>
            <a:ext cx="3703320" cy="55778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Open your Drawing tab</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Your flat part, drawn at 1:1 scale</a:t>
            </a:r>
            <a:endParaRPr lang="en-US" sz="1400" dirty="0"/>
          </a:p>
        </p:txBody>
      </p:sp>
      <p:sp>
        <p:nvSpPr>
          <p:cNvPr id="8" name="Shape 6"/>
          <p:cNvSpPr/>
          <p:nvPr/>
        </p:nvSpPr>
        <p:spPr>
          <a:xfrm>
            <a:off x="457200" y="1828800"/>
            <a:ext cx="384048" cy="384048"/>
          </a:xfrm>
          <a:prstGeom prst="ellipse">
            <a:avLst/>
          </a:prstGeom>
          <a:solidFill>
            <a:schemeClr val="accent1"/>
          </a:solidFill>
          <a:ln/>
        </p:spPr>
      </p:sp>
      <p:sp>
        <p:nvSpPr>
          <p:cNvPr id="9" name="Text 7"/>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0120" y="1755648"/>
            <a:ext cx="3703320" cy="55778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Right-click the tab → Export…</a:t>
            </a:r>
            <a:endParaRPr lang="en-US" sz="1400" dirty="0"/>
          </a:p>
        </p:txBody>
      </p:sp>
      <p:sp>
        <p:nvSpPr>
          <p:cNvPr id="11" name="Shape 9"/>
          <p:cNvSpPr/>
          <p:nvPr/>
        </p:nvSpPr>
        <p:spPr>
          <a:xfrm>
            <a:off x="457200" y="2432304"/>
            <a:ext cx="384048" cy="384048"/>
          </a:xfrm>
          <a:prstGeom prst="ellipse">
            <a:avLst/>
          </a:prstGeom>
          <a:solidFill>
            <a:schemeClr val="accent1"/>
          </a:solidFill>
          <a:ln/>
        </p:spPr>
      </p:sp>
      <p:sp>
        <p:nvSpPr>
          <p:cNvPr id="12" name="Text 10"/>
          <p:cNvSpPr txBox="1"/>
          <p:nvPr/>
        </p:nvSpPr>
        <p:spPr>
          <a:xfrm>
            <a:off x="457200" y="24323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0120" y="2359152"/>
            <a:ext cx="3703320" cy="55778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File name: Student Name - Project</a:t>
            </a:r>
            <a:endParaRPr lang="en-US" sz="1400" dirty="0"/>
          </a:p>
        </p:txBody>
      </p:sp>
      <p:sp>
        <p:nvSpPr>
          <p:cNvPr id="14" name="Shape 12"/>
          <p:cNvSpPr/>
          <p:nvPr/>
        </p:nvSpPr>
        <p:spPr>
          <a:xfrm>
            <a:off x="457200" y="3035808"/>
            <a:ext cx="384048" cy="384048"/>
          </a:xfrm>
          <a:prstGeom prst="ellipse">
            <a:avLst/>
          </a:prstGeom>
          <a:solidFill>
            <a:schemeClr val="accent1"/>
          </a:solidFill>
          <a:ln/>
        </p:spPr>
      </p:sp>
      <p:sp>
        <p:nvSpPr>
          <p:cNvPr id="15" name="Text 13"/>
          <p:cNvSpPr txBox="1"/>
          <p:nvPr/>
        </p:nvSpPr>
        <p:spPr>
          <a:xfrm>
            <a:off x="457200" y="30358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0120" y="2962656"/>
            <a:ext cx="3703320" cy="55778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Format: DXF</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Then Download</a:t>
            </a:r>
            <a:endParaRPr lang="en-US" sz="1400" dirty="0"/>
          </a:p>
        </p:txBody>
      </p:sp>
      <p:sp>
        <p:nvSpPr>
          <p:cNvPr id="17" name="Shape 15"/>
          <p:cNvSpPr/>
          <p:nvPr/>
        </p:nvSpPr>
        <p:spPr>
          <a:xfrm>
            <a:off x="457200" y="3657600"/>
            <a:ext cx="4206240" cy="914400"/>
          </a:xfrm>
          <a:prstGeom prst="roundRect">
            <a:avLst>
              <a:gd name="adj" fmla="val 8000"/>
            </a:avLst>
          </a:prstGeom>
          <a:solidFill>
            <a:schemeClr val="accent6"/>
          </a:solidFill>
          <a:ln/>
        </p:spPr>
      </p:sp>
      <p:pic>
        <p:nvPicPr>
          <p:cNvPr id="18" name="Image 0" descr="preencoded.png">    </p:cNvPr>
          <p:cNvPicPr>
            <a:picLocks noChangeAspect="1"/>
          </p:cNvPicPr>
          <p:nvPr/>
        </p:nvPicPr>
        <p:blipFill>
          <a:blip r:embed="rId1"/>
          <a:stretch>
            <a:fillRect/>
          </a:stretch>
        </p:blipFill>
        <p:spPr>
          <a:xfrm>
            <a:off x="640080" y="3794760"/>
            <a:ext cx="347472" cy="347472"/>
          </a:xfrm>
          <a:prstGeom prst="rect">
            <a:avLst/>
          </a:prstGeom>
        </p:spPr>
      </p:pic>
      <p:sp>
        <p:nvSpPr>
          <p:cNvPr id="19" name="Text 16"/>
          <p:cNvSpPr txBox="1"/>
          <p:nvPr/>
        </p:nvSpPr>
        <p:spPr>
          <a:xfrm>
            <a:off x="1097280" y="3767328"/>
            <a:ext cx="342900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Scale must be 1:1</a:t>
            </a:r>
            <a:endParaRPr lang="en-US" sz="1500" dirty="0"/>
          </a:p>
        </p:txBody>
      </p:sp>
      <p:sp>
        <p:nvSpPr>
          <p:cNvPr id="20" name="Text 17"/>
          <p:cNvSpPr txBox="1"/>
          <p:nvPr/>
        </p:nvSpPr>
        <p:spPr>
          <a:xfrm>
            <a:off x="640080" y="4224528"/>
            <a:ext cx="3840480" cy="27432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If the drawing isn't 1:1, the laser cuts the wrong size.</a:t>
            </a:r>
            <a:endParaRPr lang="en-US" sz="1200" dirty="0"/>
          </a:p>
        </p:txBody>
      </p:sp>
      <p:sp>
        <p:nvSpPr>
          <p:cNvPr id="21" name="Shape 18"/>
          <p:cNvSpPr/>
          <p:nvPr/>
        </p:nvSpPr>
        <p:spPr>
          <a:xfrm>
            <a:off x="4937760" y="1097280"/>
            <a:ext cx="3749040" cy="3474720"/>
          </a:xfrm>
          <a:prstGeom prst="roundRect">
            <a:avLst>
              <a:gd name="adj" fmla="val 2105"/>
            </a:avLst>
          </a:prstGeom>
          <a:solidFill>
            <a:schemeClr val="bg1"/>
          </a:solidFill>
          <a:ln/>
        </p:spPr>
      </p:sp>
      <p:pic>
        <p:nvPicPr>
          <p:cNvPr id="22" name="Image 1" descr="/tmp/work/media/image13.png">    </p:cNvPr>
          <p:cNvPicPr>
            <a:picLocks noChangeAspect="1"/>
          </p:cNvPicPr>
          <p:nvPr/>
        </p:nvPicPr>
        <p:blipFill>
          <a:blip r:embed="rId2"/>
          <a:stretch>
            <a:fillRect/>
          </a:stretch>
        </p:blipFill>
        <p:spPr>
          <a:xfrm>
            <a:off x="5310795" y="1143000"/>
            <a:ext cx="3002970" cy="338328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Open the software and import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DESIGN · 2–6</a:t>
            </a:r>
            <a:endParaRPr lang="en-US" sz="1100" dirty="0"/>
          </a:p>
        </p:txBody>
      </p:sp>
      <p:sp>
        <p:nvSpPr>
          <p:cNvPr id="5" name="Shape 3"/>
          <p:cNvSpPr/>
          <p:nvPr/>
        </p:nvSpPr>
        <p:spPr>
          <a:xfrm>
            <a:off x="457200" y="1179576"/>
            <a:ext cx="384048" cy="384048"/>
          </a:xfrm>
          <a:prstGeom prst="ellipse">
            <a:avLst/>
          </a:prstGeom>
          <a:solidFill>
            <a:schemeClr val="accent1"/>
          </a:solidFill>
          <a:ln/>
        </p:spPr>
      </p:sp>
      <p:sp>
        <p:nvSpPr>
          <p:cNvPr id="6" name="Text 4"/>
          <p:cNvSpPr txBox="1"/>
          <p:nvPr/>
        </p:nvSpPr>
        <p:spPr>
          <a:xfrm>
            <a:off x="457200" y="11795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7" name="Text 5"/>
          <p:cNvSpPr txBox="1"/>
          <p:nvPr/>
        </p:nvSpPr>
        <p:spPr>
          <a:xfrm>
            <a:off x="960120" y="1106424"/>
            <a:ext cx="3703320" cy="6400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Open Rayjet Manager</a:t>
            </a:r>
            <a:endParaRPr lang="en-US" sz="1400" dirty="0"/>
          </a:p>
        </p:txBody>
      </p:sp>
      <p:sp>
        <p:nvSpPr>
          <p:cNvPr id="8" name="Shape 6"/>
          <p:cNvSpPr/>
          <p:nvPr/>
        </p:nvSpPr>
        <p:spPr>
          <a:xfrm>
            <a:off x="457200" y="1865376"/>
            <a:ext cx="384048" cy="384048"/>
          </a:xfrm>
          <a:prstGeom prst="ellipse">
            <a:avLst/>
          </a:prstGeom>
          <a:solidFill>
            <a:schemeClr val="accent1"/>
          </a:solidFill>
          <a:ln/>
        </p:spPr>
      </p:sp>
      <p:sp>
        <p:nvSpPr>
          <p:cNvPr id="9" name="Text 7"/>
          <p:cNvSpPr txBox="1"/>
          <p:nvPr/>
        </p:nvSpPr>
        <p:spPr>
          <a:xfrm>
            <a:off x="457200" y="18653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0" name="Text 8"/>
          <p:cNvSpPr txBox="1"/>
          <p:nvPr/>
        </p:nvSpPr>
        <p:spPr>
          <a:xfrm>
            <a:off x="960120" y="1792224"/>
            <a:ext cx="3703320" cy="6400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Open CorelDRAW</a:t>
            </a:r>
            <a:endParaRPr lang="en-US" sz="1400" dirty="0"/>
          </a:p>
        </p:txBody>
      </p:sp>
      <p:sp>
        <p:nvSpPr>
          <p:cNvPr id="11" name="Shape 9"/>
          <p:cNvSpPr/>
          <p:nvPr/>
        </p:nvSpPr>
        <p:spPr>
          <a:xfrm>
            <a:off x="457200" y="2551176"/>
            <a:ext cx="384048" cy="384048"/>
          </a:xfrm>
          <a:prstGeom prst="ellipse">
            <a:avLst/>
          </a:prstGeom>
          <a:solidFill>
            <a:schemeClr val="accent1"/>
          </a:solidFill>
          <a:ln/>
        </p:spPr>
      </p:sp>
      <p:sp>
        <p:nvSpPr>
          <p:cNvPr id="12" name="Text 10"/>
          <p:cNvSpPr txBox="1"/>
          <p:nvPr/>
        </p:nvSpPr>
        <p:spPr>
          <a:xfrm>
            <a:off x="457200" y="25511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3" name="Text 11"/>
          <p:cNvSpPr txBox="1"/>
          <p:nvPr/>
        </p:nvSpPr>
        <p:spPr>
          <a:xfrm>
            <a:off x="960120" y="2478024"/>
            <a:ext cx="3703320" cy="6400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Create new CorelDRAW document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File → New</a:t>
            </a:r>
            <a:endParaRPr lang="en-US" sz="1400" dirty="0"/>
          </a:p>
        </p:txBody>
      </p:sp>
      <p:sp>
        <p:nvSpPr>
          <p:cNvPr id="14" name="Shape 12"/>
          <p:cNvSpPr/>
          <p:nvPr/>
        </p:nvSpPr>
        <p:spPr>
          <a:xfrm>
            <a:off x="457200" y="3236976"/>
            <a:ext cx="384048" cy="384048"/>
          </a:xfrm>
          <a:prstGeom prst="ellipse">
            <a:avLst/>
          </a:prstGeom>
          <a:solidFill>
            <a:schemeClr val="accent1"/>
          </a:solidFill>
          <a:ln/>
        </p:spPr>
      </p:sp>
      <p:sp>
        <p:nvSpPr>
          <p:cNvPr id="15" name="Text 13"/>
          <p:cNvSpPr txBox="1"/>
          <p:nvPr/>
        </p:nvSpPr>
        <p:spPr>
          <a:xfrm>
            <a:off x="457200" y="32369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16" name="Text 14"/>
          <p:cNvSpPr txBox="1"/>
          <p:nvPr/>
        </p:nvSpPr>
        <p:spPr>
          <a:xfrm>
            <a:off x="960120" y="3163824"/>
            <a:ext cx="3703320" cy="6400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Set document size = your material</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Choose a template or custom (max 29" × 17")</a:t>
            </a:r>
            <a:endParaRPr lang="en-US" sz="1400" dirty="0"/>
          </a:p>
        </p:txBody>
      </p:sp>
      <p:sp>
        <p:nvSpPr>
          <p:cNvPr id="17" name="Shape 15"/>
          <p:cNvSpPr/>
          <p:nvPr/>
        </p:nvSpPr>
        <p:spPr>
          <a:xfrm>
            <a:off x="457200" y="3922776"/>
            <a:ext cx="384048" cy="384048"/>
          </a:xfrm>
          <a:prstGeom prst="ellipse">
            <a:avLst/>
          </a:prstGeom>
          <a:solidFill>
            <a:schemeClr val="accent1"/>
          </a:solidFill>
          <a:ln/>
        </p:spPr>
      </p:sp>
      <p:sp>
        <p:nvSpPr>
          <p:cNvPr id="18" name="Text 16"/>
          <p:cNvSpPr txBox="1"/>
          <p:nvPr/>
        </p:nvSpPr>
        <p:spPr>
          <a:xfrm>
            <a:off x="457200" y="39227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19" name="Text 17"/>
          <p:cNvSpPr txBox="1"/>
          <p:nvPr/>
        </p:nvSpPr>
        <p:spPr>
          <a:xfrm>
            <a:off x="960120" y="3849624"/>
            <a:ext cx="3703320" cy="6400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Import your Onshape DXF</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File → Import. Check the size matches Onshape</a:t>
            </a:r>
            <a:endParaRPr lang="en-US" sz="1400" dirty="0"/>
          </a:p>
        </p:txBody>
      </p:sp>
      <p:sp>
        <p:nvSpPr>
          <p:cNvPr id="20" name="Shape 18"/>
          <p:cNvSpPr/>
          <p:nvPr/>
        </p:nvSpPr>
        <p:spPr>
          <a:xfrm>
            <a:off x="4937760" y="1097280"/>
            <a:ext cx="3749040" cy="3474720"/>
          </a:xfrm>
          <a:prstGeom prst="roundRect">
            <a:avLst>
              <a:gd name="adj" fmla="val 2105"/>
            </a:avLst>
          </a:prstGeom>
          <a:solidFill>
            <a:schemeClr val="bg1"/>
          </a:solidFill>
          <a:ln/>
        </p:spPr>
      </p:sp>
      <p:pic>
        <p:nvPicPr>
          <p:cNvPr id="21" name="Image 0" descr="/tmp/work/media/image23.png">    </p:cNvPr>
          <p:cNvPicPr>
            <a:picLocks noChangeAspect="1"/>
          </p:cNvPicPr>
          <p:nvPr/>
        </p:nvPicPr>
        <p:blipFill>
          <a:blip r:embed="rId1"/>
          <a:stretch>
            <a:fillRect/>
          </a:stretch>
        </p:blipFill>
        <p:spPr>
          <a:xfrm>
            <a:off x="5029200" y="1543035"/>
            <a:ext cx="3566160" cy="258321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Customize lines to engrave, etch, or cut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DESIGN · 7</a:t>
            </a:r>
            <a:endParaRPr lang="en-US" sz="1100" dirty="0"/>
          </a:p>
        </p:txBody>
      </p:sp>
      <p:sp>
        <p:nvSpPr>
          <p:cNvPr id="5" name="Shape 3"/>
          <p:cNvSpPr/>
          <p:nvPr/>
        </p:nvSpPr>
        <p:spPr>
          <a:xfrm>
            <a:off x="457200" y="1097280"/>
            <a:ext cx="4480560" cy="3474720"/>
          </a:xfrm>
          <a:prstGeom prst="roundRect">
            <a:avLst>
              <a:gd name="adj" fmla="val 2105"/>
            </a:avLst>
          </a:prstGeom>
          <a:solidFill>
            <a:schemeClr val="bg1"/>
          </a:solidFill>
          <a:ln/>
        </p:spPr>
      </p:sp>
      <p:pic>
        <p:nvPicPr>
          <p:cNvPr id="6" name="Image 0" descr="/tmp/work/media/image26.png">    </p:cNvPr>
          <p:cNvPicPr>
            <a:picLocks noChangeAspect="1"/>
          </p:cNvPicPr>
          <p:nvPr/>
        </p:nvPicPr>
        <p:blipFill>
          <a:blip r:embed="rId1"/>
          <a:stretch>
            <a:fillRect/>
          </a:stretch>
        </p:blipFill>
        <p:spPr>
          <a:xfrm>
            <a:off x="502920" y="1182291"/>
            <a:ext cx="4389120" cy="3304699"/>
          </a:xfrm>
          <a:prstGeom prst="rect">
            <a:avLst/>
          </a:prstGeom>
        </p:spPr>
      </p:pic>
      <p:sp>
        <p:nvSpPr>
          <p:cNvPr id="7" name="Shape 4"/>
          <p:cNvSpPr/>
          <p:nvPr/>
        </p:nvSpPr>
        <p:spPr>
          <a:xfrm>
            <a:off x="5166360" y="1097280"/>
            <a:ext cx="3520440" cy="749808"/>
          </a:xfrm>
          <a:prstGeom prst="roundRect">
            <a:avLst>
              <a:gd name="adj" fmla="val 9756"/>
            </a:avLst>
          </a:prstGeom>
          <a:solidFill>
            <a:schemeClr val="bg2"/>
          </a:solidFill>
          <a:ln/>
        </p:spPr>
      </p:sp>
      <p:sp>
        <p:nvSpPr>
          <p:cNvPr id="8" name="Shape 5"/>
          <p:cNvSpPr/>
          <p:nvPr/>
        </p:nvSpPr>
        <p:spPr>
          <a:xfrm>
            <a:off x="5303520" y="1289304"/>
            <a:ext cx="365760" cy="365760"/>
          </a:xfrm>
          <a:prstGeom prst="roundRect">
            <a:avLst>
              <a:gd name="adj" fmla="val 15000"/>
            </a:avLst>
          </a:prstGeom>
          <a:solidFill>
            <a:srgbClr val="FF0000"/>
          </a:solidFill>
          <a:ln/>
        </p:spPr>
      </p:sp>
      <p:sp>
        <p:nvSpPr>
          <p:cNvPr id="9" name="Text 6"/>
          <p:cNvSpPr txBox="1"/>
          <p:nvPr/>
        </p:nvSpPr>
        <p:spPr>
          <a:xfrm>
            <a:off x="5806440" y="1133856"/>
            <a:ext cx="2788920" cy="676656"/>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Red: Vector Cut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Cuts all the way through</a:t>
            </a:r>
            <a:endParaRPr lang="en-US" sz="1400" dirty="0"/>
          </a:p>
        </p:txBody>
      </p:sp>
      <p:sp>
        <p:nvSpPr>
          <p:cNvPr id="10" name="Shape 7"/>
          <p:cNvSpPr/>
          <p:nvPr/>
        </p:nvSpPr>
        <p:spPr>
          <a:xfrm>
            <a:off x="5166360" y="1965960"/>
            <a:ext cx="3520440" cy="749808"/>
          </a:xfrm>
          <a:prstGeom prst="roundRect">
            <a:avLst>
              <a:gd name="adj" fmla="val 9756"/>
            </a:avLst>
          </a:prstGeom>
          <a:solidFill>
            <a:schemeClr val="bg2"/>
          </a:solidFill>
          <a:ln/>
        </p:spPr>
      </p:sp>
      <p:sp>
        <p:nvSpPr>
          <p:cNvPr id="11" name="Shape 8"/>
          <p:cNvSpPr/>
          <p:nvPr/>
        </p:nvSpPr>
        <p:spPr>
          <a:xfrm>
            <a:off x="5303520" y="2157984"/>
            <a:ext cx="365760" cy="365760"/>
          </a:xfrm>
          <a:prstGeom prst="roundRect">
            <a:avLst>
              <a:gd name="adj" fmla="val 15000"/>
            </a:avLst>
          </a:prstGeom>
          <a:solidFill>
            <a:srgbClr val="0000FF"/>
          </a:solidFill>
          <a:ln/>
        </p:spPr>
      </p:sp>
      <p:sp>
        <p:nvSpPr>
          <p:cNvPr id="12" name="Text 9"/>
          <p:cNvSpPr txBox="1"/>
          <p:nvPr/>
        </p:nvSpPr>
        <p:spPr>
          <a:xfrm>
            <a:off x="5806440" y="2002536"/>
            <a:ext cx="2788920" cy="676656"/>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Blue: Vector Engrave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Also called ‘Etching’, ‘Marking’, or ‘Scoring’</a:t>
            </a:r>
            <a:endParaRPr lang="en-US" sz="1400" dirty="0"/>
          </a:p>
        </p:txBody>
      </p:sp>
      <p:sp>
        <p:nvSpPr>
          <p:cNvPr id="13" name="Shape 10"/>
          <p:cNvSpPr/>
          <p:nvPr/>
        </p:nvSpPr>
        <p:spPr>
          <a:xfrm>
            <a:off x="5166360" y="2834640"/>
            <a:ext cx="3520440" cy="749808"/>
          </a:xfrm>
          <a:prstGeom prst="roundRect">
            <a:avLst>
              <a:gd name="adj" fmla="val 9756"/>
            </a:avLst>
          </a:prstGeom>
          <a:solidFill>
            <a:schemeClr val="bg2"/>
          </a:solidFill>
          <a:ln/>
        </p:spPr>
      </p:sp>
      <p:sp>
        <p:nvSpPr>
          <p:cNvPr id="14" name="Shape 11"/>
          <p:cNvSpPr/>
          <p:nvPr/>
        </p:nvSpPr>
        <p:spPr>
          <a:xfrm>
            <a:off x="5303520" y="3026664"/>
            <a:ext cx="365760" cy="365760"/>
          </a:xfrm>
          <a:prstGeom prst="roundRect">
            <a:avLst>
              <a:gd name="adj" fmla="val 15000"/>
            </a:avLst>
          </a:prstGeom>
          <a:solidFill>
            <a:srgbClr val="000000"/>
          </a:solidFill>
          <a:ln/>
        </p:spPr>
      </p:sp>
      <p:sp>
        <p:nvSpPr>
          <p:cNvPr id="15" name="Text 12"/>
          <p:cNvSpPr txBox="1"/>
          <p:nvPr/>
        </p:nvSpPr>
        <p:spPr>
          <a:xfrm>
            <a:off x="5806440" y="2871216"/>
            <a:ext cx="2788920" cy="676656"/>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Black: Raster Engrave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Fills in an area, like text or a logo</a:t>
            </a:r>
            <a:endParaRPr lang="en-US" sz="1400" dirty="0"/>
          </a:p>
        </p:txBody>
      </p:sp>
      <p:sp>
        <p:nvSpPr>
          <p:cNvPr id="16" name="Shape 13"/>
          <p:cNvSpPr/>
          <p:nvPr/>
        </p:nvSpPr>
        <p:spPr>
          <a:xfrm>
            <a:off x="5166360" y="3749040"/>
            <a:ext cx="3520440" cy="822960"/>
          </a:xfrm>
          <a:prstGeom prst="roundRect">
            <a:avLst>
              <a:gd name="adj" fmla="val 8889"/>
            </a:avLst>
          </a:prstGeom>
          <a:solidFill>
            <a:schemeClr val="accent1"/>
          </a:solidFill>
          <a:ln/>
        </p:spPr>
      </p:sp>
      <p:sp>
        <p:nvSpPr>
          <p:cNvPr id="17" name="Text 14"/>
          <p:cNvSpPr txBox="1"/>
          <p:nvPr/>
        </p:nvSpPr>
        <p:spPr>
          <a:xfrm>
            <a:off x="5303520" y="3749040"/>
            <a:ext cx="3291840" cy="82296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The laser engraves first and cuts last, so parts don't shift before the engraving is done.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Setting the line color</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DESIGN · 7</a:t>
            </a:r>
            <a:endParaRPr lang="en-US" sz="1100" dirty="0"/>
          </a:p>
        </p:txBody>
      </p:sp>
      <p:sp>
        <p:nvSpPr>
          <p:cNvPr id="5" name="Text 3"/>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Select All or Select lines to be CUT and </a:t>
            </a:r>
            <a:pPr indent="0" marL="0">
              <a:buNone/>
            </a:pPr>
            <a:r>
              <a:rPr lang="en-US" sz="1600" b="1" dirty="0">
                <a:solidFill>
                  <a:schemeClr val="tx1"/>
                </a:solidFill>
                <a:latin typeface="Calibri" pitchFamily="34" charset="0"/>
                <a:ea typeface="Calibri" pitchFamily="34" charset="-122"/>
                <a:cs typeface="Calibri" pitchFamily="34" charset="-120"/>
              </a:rPr>
              <a:t>right</a:t>
            </a:r>
            <a:pPr indent="0" marL="0">
              <a:buNone/>
            </a:pPr>
            <a:r>
              <a:rPr lang="en-US" sz="1600" dirty="0">
                <a:solidFill>
                  <a:schemeClr val="tx1"/>
                </a:solidFill>
                <a:latin typeface="Calibri" pitchFamily="34" charset="0"/>
                <a:ea typeface="Calibri" pitchFamily="34" charset="-122"/>
                <a:cs typeface="Calibri" pitchFamily="34" charset="-120"/>
              </a:rPr>
              <a:t> click on </a:t>
            </a:r>
            <a:pPr indent="0" marL="0">
              <a:buNone/>
            </a:pPr>
            <a:r>
              <a:rPr lang="en-US" sz="1600" b="1" dirty="0">
                <a:solidFill>
                  <a:srgbClr val="FF0000"/>
                </a:solidFill>
                <a:latin typeface="Calibri" pitchFamily="34" charset="0"/>
                <a:ea typeface="Calibri" pitchFamily="34" charset="-122"/>
                <a:cs typeface="Calibri" pitchFamily="34" charset="-120"/>
              </a:rPr>
              <a:t>RED</a:t>
            </a:r>
            <a:endParaRPr lang="en-US" sz="1600" dirty="0"/>
          </a:p>
        </p:txBody>
      </p:sp>
      <p:sp>
        <p:nvSpPr>
          <p:cNvPr id="6" name="Shape 4"/>
          <p:cNvSpPr/>
          <p:nvPr/>
        </p:nvSpPr>
        <p:spPr>
          <a:xfrm>
            <a:off x="457200" y="1417320"/>
            <a:ext cx="3840480" cy="2651760"/>
          </a:xfrm>
          <a:prstGeom prst="roundRect">
            <a:avLst>
              <a:gd name="adj" fmla="val 2759"/>
            </a:avLst>
          </a:prstGeom>
          <a:solidFill>
            <a:schemeClr val="bg1"/>
          </a:solidFill>
          <a:ln/>
        </p:spPr>
      </p:sp>
      <p:pic>
        <p:nvPicPr>
          <p:cNvPr id="7" name="Image 0" descr="/tmp/work/media/image18.png">    </p:cNvPr>
          <p:cNvPicPr>
            <a:picLocks noChangeAspect="1"/>
          </p:cNvPicPr>
          <p:nvPr/>
        </p:nvPicPr>
        <p:blipFill>
          <a:blip r:embed="rId1"/>
          <a:stretch>
            <a:fillRect/>
          </a:stretch>
        </p:blipFill>
        <p:spPr>
          <a:xfrm>
            <a:off x="502920" y="1527331"/>
            <a:ext cx="3749040" cy="2431739"/>
          </a:xfrm>
          <a:prstGeom prst="rect">
            <a:avLst/>
          </a:prstGeom>
        </p:spPr>
      </p:pic>
      <p:sp>
        <p:nvSpPr>
          <p:cNvPr id="8" name="Shape 5"/>
          <p:cNvSpPr/>
          <p:nvPr/>
        </p:nvSpPr>
        <p:spPr>
          <a:xfrm>
            <a:off x="4389120" y="2560320"/>
            <a:ext cx="365760" cy="320040"/>
          </a:xfrm>
          <a:prstGeom prst="rightArrow">
            <a:avLst/>
          </a:prstGeom>
          <a:solidFill>
            <a:schemeClr val="accent3"/>
          </a:solidFill>
          <a:ln/>
        </p:spPr>
      </p:sp>
      <p:sp>
        <p:nvSpPr>
          <p:cNvPr id="9" name="Shape 6"/>
          <p:cNvSpPr/>
          <p:nvPr/>
        </p:nvSpPr>
        <p:spPr>
          <a:xfrm>
            <a:off x="4846320" y="1417320"/>
            <a:ext cx="3840480" cy="2651760"/>
          </a:xfrm>
          <a:prstGeom prst="roundRect">
            <a:avLst>
              <a:gd name="adj" fmla="val 2759"/>
            </a:avLst>
          </a:prstGeom>
          <a:solidFill>
            <a:schemeClr val="bg1"/>
          </a:solidFill>
          <a:ln/>
        </p:spPr>
      </p:sp>
      <p:pic>
        <p:nvPicPr>
          <p:cNvPr id="10" name="Image 1" descr="/tmp/work/media/image20.png">    </p:cNvPr>
          <p:cNvPicPr>
            <a:picLocks noChangeAspect="1"/>
          </p:cNvPicPr>
          <p:nvPr/>
        </p:nvPicPr>
        <p:blipFill>
          <a:blip r:embed="rId2"/>
          <a:stretch>
            <a:fillRect/>
          </a:stretch>
        </p:blipFill>
        <p:spPr>
          <a:xfrm>
            <a:off x="4982440" y="1463040"/>
            <a:ext cx="3568240" cy="2560320"/>
          </a:xfrm>
          <a:prstGeom prst="rect">
            <a:avLst/>
          </a:prstGeom>
        </p:spPr>
      </p:pic>
      <p:sp>
        <p:nvSpPr>
          <p:cNvPr id="11" name="Text 7"/>
          <p:cNvSpPr txBox="1"/>
          <p:nvPr/>
        </p:nvSpPr>
        <p:spPr>
          <a:xfrm>
            <a:off x="457200" y="4114800"/>
            <a:ext cx="384048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libri" pitchFamily="34" charset="0"/>
                <a:ea typeface="Calibri" pitchFamily="34" charset="-122"/>
                <a:cs typeface="Calibri" pitchFamily="34" charset="-120"/>
              </a:rPr>
              <a:t>Before: black lines</a:t>
            </a:r>
            <a:endParaRPr lang="en-US" sz="1200" dirty="0"/>
          </a:p>
        </p:txBody>
      </p:sp>
      <p:sp>
        <p:nvSpPr>
          <p:cNvPr id="12" name="Text 8"/>
          <p:cNvSpPr txBox="1"/>
          <p:nvPr/>
        </p:nvSpPr>
        <p:spPr>
          <a:xfrm>
            <a:off x="4846320" y="4114800"/>
            <a:ext cx="384048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libri" pitchFamily="34" charset="0"/>
                <a:ea typeface="Calibri" pitchFamily="34" charset="-122"/>
                <a:cs typeface="Calibri" pitchFamily="34" charset="-120"/>
              </a:rPr>
              <a:t>After: red lines = cut</a:t>
            </a:r>
            <a:endParaRPr lang="en-US" sz="1200" dirty="0"/>
          </a:p>
        </p:txBody>
      </p:sp>
      <p:sp>
        <p:nvSpPr>
          <p:cNvPr id="13" name="Text 9"/>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200" i="1" dirty="0">
                <a:solidFill>
                  <a:schemeClr val="accent2"/>
                </a:solidFill>
                <a:latin typeface="Calibri" pitchFamily="34" charset="0"/>
                <a:ea typeface="Calibri" pitchFamily="34" charset="-122"/>
                <a:cs typeface="Calibri" pitchFamily="34" charset="-120"/>
              </a:rPr>
              <a:t>Right-click a swatch = line color. Left-click = fill color.</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Print to Rayjet Manager</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DESIGN · 8–9</a:t>
            </a:r>
            <a:endParaRPr lang="en-US" sz="1100" dirty="0"/>
          </a:p>
        </p:txBody>
      </p:sp>
      <p:sp>
        <p:nvSpPr>
          <p:cNvPr id="5" name="Shape 3"/>
          <p:cNvSpPr/>
          <p:nvPr/>
        </p:nvSpPr>
        <p:spPr>
          <a:xfrm>
            <a:off x="457200" y="1143000"/>
            <a:ext cx="1920240" cy="1920240"/>
          </a:xfrm>
          <a:prstGeom prst="roundRect">
            <a:avLst>
              <a:gd name="adj" fmla="val 3810"/>
            </a:avLst>
          </a:prstGeom>
          <a:solidFill>
            <a:schemeClr val="bg2"/>
          </a:solidFill>
          <a:ln/>
        </p:spPr>
      </p:sp>
      <p:sp>
        <p:nvSpPr>
          <p:cNvPr id="6" name="Shape 4"/>
          <p:cNvSpPr/>
          <p:nvPr/>
        </p:nvSpPr>
        <p:spPr>
          <a:xfrm>
            <a:off x="1097280" y="1280160"/>
            <a:ext cx="640080" cy="64008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250899" y="1433779"/>
            <a:ext cx="332842" cy="332842"/>
          </a:xfrm>
          <a:prstGeom prst="rect">
            <a:avLst/>
          </a:prstGeom>
        </p:spPr>
      </p:pic>
      <p:sp>
        <p:nvSpPr>
          <p:cNvPr id="8" name="Text 5"/>
          <p:cNvSpPr txBox="1"/>
          <p:nvPr/>
        </p:nvSpPr>
        <p:spPr>
          <a:xfrm>
            <a:off x="548640" y="2011680"/>
            <a:ext cx="1737360" cy="365760"/>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8) File ‘Print’</a:t>
            </a:r>
            <a:endParaRPr lang="en-US" sz="1400" dirty="0"/>
          </a:p>
        </p:txBody>
      </p:sp>
      <p:sp>
        <p:nvSpPr>
          <p:cNvPr id="9" name="Text 6"/>
          <p:cNvSpPr txBox="1"/>
          <p:nvPr/>
        </p:nvSpPr>
        <p:spPr>
          <a:xfrm>
            <a:off x="548640" y="2377440"/>
            <a:ext cx="17373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Sends your design to the Rayjet Manager Software</a:t>
            </a:r>
            <a:endParaRPr lang="en-US" sz="1200" dirty="0"/>
          </a:p>
        </p:txBody>
      </p:sp>
      <p:sp>
        <p:nvSpPr>
          <p:cNvPr id="10" name="Shape 7"/>
          <p:cNvSpPr/>
          <p:nvPr/>
        </p:nvSpPr>
        <p:spPr>
          <a:xfrm>
            <a:off x="2395728" y="1828800"/>
            <a:ext cx="146304" cy="182880"/>
          </a:xfrm>
          <a:prstGeom prst="rightArrow">
            <a:avLst/>
          </a:prstGeom>
          <a:solidFill>
            <a:schemeClr val="accent3"/>
          </a:solidFill>
          <a:ln/>
        </p:spPr>
      </p:sp>
      <p:sp>
        <p:nvSpPr>
          <p:cNvPr id="11" name="Shape 8"/>
          <p:cNvSpPr/>
          <p:nvPr/>
        </p:nvSpPr>
        <p:spPr>
          <a:xfrm>
            <a:off x="2560320" y="1143000"/>
            <a:ext cx="1920240" cy="1920240"/>
          </a:xfrm>
          <a:prstGeom prst="roundRect">
            <a:avLst>
              <a:gd name="adj" fmla="val 3810"/>
            </a:avLst>
          </a:prstGeom>
          <a:solidFill>
            <a:schemeClr val="bg2"/>
          </a:solidFill>
          <a:ln/>
        </p:spPr>
      </p:sp>
      <p:sp>
        <p:nvSpPr>
          <p:cNvPr id="12" name="Shape 9"/>
          <p:cNvSpPr/>
          <p:nvPr/>
        </p:nvSpPr>
        <p:spPr>
          <a:xfrm>
            <a:off x="3200400" y="1280160"/>
            <a:ext cx="640080" cy="6400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354019" y="1433779"/>
            <a:ext cx="332842" cy="332842"/>
          </a:xfrm>
          <a:prstGeom prst="rect">
            <a:avLst/>
          </a:prstGeom>
        </p:spPr>
      </p:pic>
      <p:sp>
        <p:nvSpPr>
          <p:cNvPr id="14" name="Text 10"/>
          <p:cNvSpPr txBox="1"/>
          <p:nvPr/>
        </p:nvSpPr>
        <p:spPr>
          <a:xfrm>
            <a:off x="2651760" y="2011680"/>
            <a:ext cx="1737360" cy="365760"/>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9) Rayjet Manager</a:t>
            </a:r>
            <a:endParaRPr lang="en-US" sz="1400" dirty="0"/>
          </a:p>
        </p:txBody>
      </p:sp>
      <p:sp>
        <p:nvSpPr>
          <p:cNvPr id="15" name="Text 11"/>
          <p:cNvSpPr txBox="1"/>
          <p:nvPr/>
        </p:nvSpPr>
        <p:spPr>
          <a:xfrm>
            <a:off x="2651760" y="2377440"/>
            <a:ext cx="17373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Go to the Rayjet Manager Software. Your job shows up there</a:t>
            </a:r>
            <a:endParaRPr lang="en-US" sz="1200" dirty="0"/>
          </a:p>
        </p:txBody>
      </p:sp>
      <p:sp>
        <p:nvSpPr>
          <p:cNvPr id="16" name="Shape 12"/>
          <p:cNvSpPr/>
          <p:nvPr/>
        </p:nvSpPr>
        <p:spPr>
          <a:xfrm>
            <a:off x="4498848" y="1828800"/>
            <a:ext cx="146304" cy="182880"/>
          </a:xfrm>
          <a:prstGeom prst="rightArrow">
            <a:avLst/>
          </a:prstGeom>
          <a:solidFill>
            <a:schemeClr val="accent3"/>
          </a:solidFill>
          <a:ln/>
        </p:spPr>
      </p:sp>
      <p:sp>
        <p:nvSpPr>
          <p:cNvPr id="17" name="Shape 13"/>
          <p:cNvSpPr/>
          <p:nvPr/>
        </p:nvSpPr>
        <p:spPr>
          <a:xfrm>
            <a:off x="4663440" y="1143000"/>
            <a:ext cx="1920240" cy="1920240"/>
          </a:xfrm>
          <a:prstGeom prst="roundRect">
            <a:avLst>
              <a:gd name="adj" fmla="val 3810"/>
            </a:avLst>
          </a:prstGeom>
          <a:solidFill>
            <a:schemeClr val="bg2"/>
          </a:solidFill>
          <a:ln/>
        </p:spPr>
      </p:sp>
      <p:sp>
        <p:nvSpPr>
          <p:cNvPr id="18" name="Shape 14"/>
          <p:cNvSpPr/>
          <p:nvPr/>
        </p:nvSpPr>
        <p:spPr>
          <a:xfrm>
            <a:off x="5303520" y="1280160"/>
            <a:ext cx="640080" cy="64008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5457139" y="1433779"/>
            <a:ext cx="332842" cy="332842"/>
          </a:xfrm>
          <a:prstGeom prst="rect">
            <a:avLst/>
          </a:prstGeom>
        </p:spPr>
      </p:pic>
      <p:sp>
        <p:nvSpPr>
          <p:cNvPr id="20" name="Text 15"/>
          <p:cNvSpPr txBox="1"/>
          <p:nvPr/>
        </p:nvSpPr>
        <p:spPr>
          <a:xfrm>
            <a:off x="4754880" y="2011680"/>
            <a:ext cx="1737360" cy="365760"/>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Check the preview</a:t>
            </a:r>
            <a:endParaRPr lang="en-US" sz="1400" dirty="0"/>
          </a:p>
        </p:txBody>
      </p:sp>
      <p:sp>
        <p:nvSpPr>
          <p:cNvPr id="21" name="Text 16"/>
          <p:cNvSpPr txBox="1"/>
          <p:nvPr/>
        </p:nvSpPr>
        <p:spPr>
          <a:xfrm>
            <a:off x="4754880" y="2377440"/>
            <a:ext cx="17373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All your parts there, and the right size?</a:t>
            </a:r>
            <a:endParaRPr lang="en-US" sz="1200" dirty="0"/>
          </a:p>
        </p:txBody>
      </p:sp>
      <p:sp>
        <p:nvSpPr>
          <p:cNvPr id="22" name="Shape 17"/>
          <p:cNvSpPr/>
          <p:nvPr/>
        </p:nvSpPr>
        <p:spPr>
          <a:xfrm>
            <a:off x="6601968" y="1828800"/>
            <a:ext cx="146304" cy="182880"/>
          </a:xfrm>
          <a:prstGeom prst="rightArrow">
            <a:avLst/>
          </a:prstGeom>
          <a:solidFill>
            <a:schemeClr val="accent3"/>
          </a:solidFill>
          <a:ln/>
        </p:spPr>
      </p:sp>
      <p:sp>
        <p:nvSpPr>
          <p:cNvPr id="23" name="Shape 18"/>
          <p:cNvSpPr/>
          <p:nvPr/>
        </p:nvSpPr>
        <p:spPr>
          <a:xfrm>
            <a:off x="6766560" y="1143000"/>
            <a:ext cx="1920240" cy="1920240"/>
          </a:xfrm>
          <a:prstGeom prst="roundRect">
            <a:avLst>
              <a:gd name="adj" fmla="val 3810"/>
            </a:avLst>
          </a:prstGeom>
          <a:solidFill>
            <a:schemeClr val="bg2"/>
          </a:solidFill>
          <a:ln/>
        </p:spPr>
      </p:sp>
      <p:sp>
        <p:nvSpPr>
          <p:cNvPr id="24" name="Shape 19"/>
          <p:cNvSpPr/>
          <p:nvPr/>
        </p:nvSpPr>
        <p:spPr>
          <a:xfrm>
            <a:off x="7406640" y="1280160"/>
            <a:ext cx="640080" cy="640080"/>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7560259" y="1433779"/>
            <a:ext cx="332842" cy="332842"/>
          </a:xfrm>
          <a:prstGeom prst="rect">
            <a:avLst/>
          </a:prstGeom>
        </p:spPr>
      </p:pic>
      <p:sp>
        <p:nvSpPr>
          <p:cNvPr id="26" name="Text 20"/>
          <p:cNvSpPr txBox="1"/>
          <p:nvPr/>
        </p:nvSpPr>
        <p:spPr>
          <a:xfrm>
            <a:off x="6858000" y="2011680"/>
            <a:ext cx="1737360" cy="365760"/>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Set the material</a:t>
            </a:r>
            <a:endParaRPr lang="en-US" sz="1400" dirty="0"/>
          </a:p>
        </p:txBody>
      </p:sp>
      <p:sp>
        <p:nvSpPr>
          <p:cNvPr id="27" name="Text 21"/>
          <p:cNvSpPr txBox="1"/>
          <p:nvPr/>
        </p:nvSpPr>
        <p:spPr>
          <a:xfrm>
            <a:off x="6858000" y="2377440"/>
            <a:ext cx="17373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Loads the power and speed for each color</a:t>
            </a:r>
            <a:endParaRPr lang="en-US" sz="1200" dirty="0"/>
          </a:p>
        </p:txBody>
      </p:sp>
      <p:sp>
        <p:nvSpPr>
          <p:cNvPr id="28" name="Shape 22"/>
          <p:cNvSpPr/>
          <p:nvPr/>
        </p:nvSpPr>
        <p:spPr>
          <a:xfrm>
            <a:off x="457200" y="3291840"/>
            <a:ext cx="8229600" cy="1280160"/>
          </a:xfrm>
          <a:prstGeom prst="roundRect">
            <a:avLst>
              <a:gd name="adj" fmla="val 5714"/>
            </a:avLst>
          </a:prstGeom>
          <a:solidFill>
            <a:schemeClr val="accent1"/>
          </a:solidFill>
          <a:ln/>
        </p:spPr>
      </p:sp>
      <p:sp>
        <p:nvSpPr>
          <p:cNvPr id="29" name="Text 23"/>
          <p:cNvSpPr txBox="1"/>
          <p:nvPr/>
        </p:nvSpPr>
        <p:spPr>
          <a:xfrm>
            <a:off x="685800" y="3383280"/>
            <a:ext cx="7772400" cy="109728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Then send the job to the laser. </a:t>
            </a:r>
            <a:pPr indent="0" marL="0">
              <a:buNone/>
            </a:pPr>
            <a:r>
              <a:rPr lang="en-US" sz="1400" dirty="0">
                <a:solidFill>
                  <a:schemeClr val="bg1"/>
                </a:solidFill>
                <a:latin typeface="Calibri" pitchFamily="34" charset="0"/>
                <a:ea typeface="Calibri" pitchFamily="34" charset="-122"/>
                <a:cs typeface="Calibri" pitchFamily="34" charset="-120"/>
              </a:rPr>
              <a:t>Nothing fires until you press START on the control panel with the lid closed, so do the final checklist first.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Before you press START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RUN THE JOB</a:t>
            </a:r>
            <a:endParaRPr lang="en-US" sz="1100" dirty="0"/>
          </a:p>
        </p:txBody>
      </p:sp>
      <p:sp>
        <p:nvSpPr>
          <p:cNvPr id="5" name="Shape 3"/>
          <p:cNvSpPr/>
          <p:nvPr/>
        </p:nvSpPr>
        <p:spPr>
          <a:xfrm>
            <a:off x="457200" y="1097280"/>
            <a:ext cx="4754880" cy="585216"/>
          </a:xfrm>
          <a:prstGeom prst="roundRect">
            <a:avLst>
              <a:gd name="adj" fmla="val 12500"/>
            </a:avLst>
          </a:prstGeom>
          <a:solidFill>
            <a:schemeClr val="bg2"/>
          </a:solidFill>
          <a:ln/>
        </p:spPr>
      </p:sp>
      <p:pic>
        <p:nvPicPr>
          <p:cNvPr id="6" name="Image 0" descr="preencoded.png">    </p:cNvPr>
          <p:cNvPicPr>
            <a:picLocks noChangeAspect="1"/>
          </p:cNvPicPr>
          <p:nvPr/>
        </p:nvPicPr>
        <p:blipFill>
          <a:blip r:embed="rId1"/>
          <a:stretch>
            <a:fillRect/>
          </a:stretch>
        </p:blipFill>
        <p:spPr>
          <a:xfrm>
            <a:off x="594360" y="1243584"/>
            <a:ext cx="292608" cy="292608"/>
          </a:xfrm>
          <a:prstGeom prst="rect">
            <a:avLst/>
          </a:prstGeom>
        </p:spPr>
      </p:pic>
      <p:sp>
        <p:nvSpPr>
          <p:cNvPr id="7" name="Text 4"/>
          <p:cNvSpPr txBox="1"/>
          <p:nvPr/>
        </p:nvSpPr>
        <p:spPr>
          <a:xfrm>
            <a:off x="1005840" y="1097280"/>
            <a:ext cx="411480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Ventilation fan is ON</a:t>
            </a:r>
            <a:endParaRPr lang="en-US" sz="1400" dirty="0"/>
          </a:p>
        </p:txBody>
      </p:sp>
      <p:sp>
        <p:nvSpPr>
          <p:cNvPr id="8" name="Shape 5"/>
          <p:cNvSpPr/>
          <p:nvPr/>
        </p:nvSpPr>
        <p:spPr>
          <a:xfrm>
            <a:off x="457200" y="1792224"/>
            <a:ext cx="4754880" cy="585216"/>
          </a:xfrm>
          <a:prstGeom prst="roundRect">
            <a:avLst>
              <a:gd name="adj" fmla="val 12500"/>
            </a:avLst>
          </a:prstGeom>
          <a:solidFill>
            <a:schemeClr val="bg2"/>
          </a:solidFill>
          <a:ln/>
        </p:spPr>
      </p:sp>
      <p:pic>
        <p:nvPicPr>
          <p:cNvPr id="9" name="Image 1" descr="preencoded.png">    </p:cNvPr>
          <p:cNvPicPr>
            <a:picLocks noChangeAspect="1"/>
          </p:cNvPicPr>
          <p:nvPr/>
        </p:nvPicPr>
        <p:blipFill>
          <a:blip r:embed="rId2"/>
          <a:stretch>
            <a:fillRect/>
          </a:stretch>
        </p:blipFill>
        <p:spPr>
          <a:xfrm>
            <a:off x="594360" y="1938528"/>
            <a:ext cx="292608" cy="292608"/>
          </a:xfrm>
          <a:prstGeom prst="rect">
            <a:avLst/>
          </a:prstGeom>
        </p:spPr>
      </p:pic>
      <p:sp>
        <p:nvSpPr>
          <p:cNvPr id="10" name="Text 6"/>
          <p:cNvSpPr txBox="1"/>
          <p:nvPr/>
        </p:nvSpPr>
        <p:spPr>
          <a:xfrm>
            <a:off x="1005840" y="1792224"/>
            <a:ext cx="411480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Material lies flat on the bed (no warp)</a:t>
            </a:r>
            <a:endParaRPr lang="en-US" sz="1400" dirty="0"/>
          </a:p>
        </p:txBody>
      </p:sp>
      <p:sp>
        <p:nvSpPr>
          <p:cNvPr id="11" name="Shape 7"/>
          <p:cNvSpPr/>
          <p:nvPr/>
        </p:nvSpPr>
        <p:spPr>
          <a:xfrm>
            <a:off x="457200" y="2487168"/>
            <a:ext cx="4754880" cy="585216"/>
          </a:xfrm>
          <a:prstGeom prst="roundRect">
            <a:avLst>
              <a:gd name="adj" fmla="val 12500"/>
            </a:avLst>
          </a:prstGeom>
          <a:solidFill>
            <a:schemeClr val="bg2"/>
          </a:solidFill>
          <a:ln/>
        </p:spPr>
      </p:sp>
      <p:pic>
        <p:nvPicPr>
          <p:cNvPr id="12" name="Image 2" descr="preencoded.png">    </p:cNvPr>
          <p:cNvPicPr>
            <a:picLocks noChangeAspect="1"/>
          </p:cNvPicPr>
          <p:nvPr/>
        </p:nvPicPr>
        <p:blipFill>
          <a:blip r:embed="rId3"/>
          <a:stretch>
            <a:fillRect/>
          </a:stretch>
        </p:blipFill>
        <p:spPr>
          <a:xfrm>
            <a:off x="594360" y="2633472"/>
            <a:ext cx="292608" cy="292608"/>
          </a:xfrm>
          <a:prstGeom prst="rect">
            <a:avLst/>
          </a:prstGeom>
        </p:spPr>
      </p:pic>
      <p:sp>
        <p:nvSpPr>
          <p:cNvPr id="13" name="Text 8"/>
          <p:cNvSpPr txBox="1"/>
          <p:nvPr/>
        </p:nvSpPr>
        <p:spPr>
          <a:xfrm>
            <a:off x="1005840" y="2487168"/>
            <a:ext cx="411480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Z calibrated with the calibration tool on THIS material</a:t>
            </a:r>
            <a:endParaRPr lang="en-US" sz="1400" dirty="0"/>
          </a:p>
        </p:txBody>
      </p:sp>
      <p:sp>
        <p:nvSpPr>
          <p:cNvPr id="14" name="Shape 9"/>
          <p:cNvSpPr/>
          <p:nvPr/>
        </p:nvSpPr>
        <p:spPr>
          <a:xfrm>
            <a:off x="457200" y="3182112"/>
            <a:ext cx="4754880" cy="585216"/>
          </a:xfrm>
          <a:prstGeom prst="roundRect">
            <a:avLst>
              <a:gd name="adj" fmla="val 12500"/>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594360" y="3328416"/>
            <a:ext cx="292608" cy="292608"/>
          </a:xfrm>
          <a:prstGeom prst="rect">
            <a:avLst/>
          </a:prstGeom>
        </p:spPr>
      </p:pic>
      <p:sp>
        <p:nvSpPr>
          <p:cNvPr id="16" name="Text 10"/>
          <p:cNvSpPr txBox="1"/>
          <p:nvPr/>
        </p:nvSpPr>
        <p:spPr>
          <a:xfrm>
            <a:off x="1005840" y="3182112"/>
            <a:ext cx="411480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Calibration tool is back in its spot</a:t>
            </a:r>
            <a:endParaRPr lang="en-US" sz="1400" dirty="0"/>
          </a:p>
        </p:txBody>
      </p:sp>
      <p:sp>
        <p:nvSpPr>
          <p:cNvPr id="17" name="Shape 11"/>
          <p:cNvSpPr/>
          <p:nvPr/>
        </p:nvSpPr>
        <p:spPr>
          <a:xfrm>
            <a:off x="457200" y="3877056"/>
            <a:ext cx="4754880" cy="585216"/>
          </a:xfrm>
          <a:prstGeom prst="roundRect">
            <a:avLst>
              <a:gd name="adj" fmla="val 12500"/>
            </a:avLst>
          </a:prstGeom>
          <a:solidFill>
            <a:schemeClr val="bg2"/>
          </a:solidFill>
          <a:ln/>
        </p:spPr>
      </p:sp>
      <p:pic>
        <p:nvPicPr>
          <p:cNvPr id="18" name="Image 4" descr="preencoded.png">    </p:cNvPr>
          <p:cNvPicPr>
            <a:picLocks noChangeAspect="1"/>
          </p:cNvPicPr>
          <p:nvPr/>
        </p:nvPicPr>
        <p:blipFill>
          <a:blip r:embed="rId5"/>
          <a:stretch>
            <a:fillRect/>
          </a:stretch>
        </p:blipFill>
        <p:spPr>
          <a:xfrm>
            <a:off x="594360" y="4023360"/>
            <a:ext cx="292608" cy="292608"/>
          </a:xfrm>
          <a:prstGeom prst="rect">
            <a:avLst/>
          </a:prstGeom>
        </p:spPr>
      </p:pic>
      <p:sp>
        <p:nvSpPr>
          <p:cNvPr id="19" name="Text 12"/>
          <p:cNvSpPr txBox="1"/>
          <p:nvPr/>
        </p:nvSpPr>
        <p:spPr>
          <a:xfrm>
            <a:off x="1005840" y="3877056"/>
            <a:ext cx="411480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Lid closed, then press START</a:t>
            </a:r>
            <a:endParaRPr lang="en-US" sz="1400" dirty="0"/>
          </a:p>
        </p:txBody>
      </p:sp>
      <p:sp>
        <p:nvSpPr>
          <p:cNvPr id="20" name="Shape 13"/>
          <p:cNvSpPr/>
          <p:nvPr/>
        </p:nvSpPr>
        <p:spPr>
          <a:xfrm>
            <a:off x="5486400" y="1097280"/>
            <a:ext cx="3200400" cy="3474720"/>
          </a:xfrm>
          <a:prstGeom prst="roundRect">
            <a:avLst>
              <a:gd name="adj" fmla="val 2286"/>
            </a:avLst>
          </a:prstGeom>
          <a:solidFill>
            <a:schemeClr val="accent6"/>
          </a:solidFill>
          <a:ln/>
        </p:spPr>
      </p:sp>
      <p:sp>
        <p:nvSpPr>
          <p:cNvPr id="21" name="Shape 14"/>
          <p:cNvSpPr/>
          <p:nvPr/>
        </p:nvSpPr>
        <p:spPr>
          <a:xfrm>
            <a:off x="5715000" y="1325880"/>
            <a:ext cx="685800" cy="685800"/>
          </a:xfrm>
          <a:prstGeom prst="ellipse">
            <a:avLst/>
          </a:prstGeom>
          <a:solidFill>
            <a:schemeClr val="accent1"/>
          </a:solidFill>
          <a:ln/>
        </p:spPr>
      </p:sp>
      <p:pic>
        <p:nvPicPr>
          <p:cNvPr id="22" name="Image 5" descr="preencoded.png">    </p:cNvPr>
          <p:cNvPicPr>
            <a:picLocks noChangeAspect="1"/>
          </p:cNvPicPr>
          <p:nvPr/>
        </p:nvPicPr>
        <p:blipFill>
          <a:blip r:embed="rId6"/>
          <a:stretch>
            <a:fillRect/>
          </a:stretch>
        </p:blipFill>
        <p:spPr>
          <a:xfrm>
            <a:off x="5879592" y="1490472"/>
            <a:ext cx="356616" cy="356616"/>
          </a:xfrm>
          <a:prstGeom prst="rect">
            <a:avLst/>
          </a:prstGeom>
        </p:spPr>
      </p:pic>
      <p:sp>
        <p:nvSpPr>
          <p:cNvPr id="23" name="Text 15"/>
          <p:cNvSpPr txBox="1"/>
          <p:nvPr/>
        </p:nvSpPr>
        <p:spPr>
          <a:xfrm>
            <a:off x="5715000" y="2148840"/>
            <a:ext cx="283464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Never walk away</a:t>
            </a:r>
            <a:endParaRPr lang="en-US" sz="2000" dirty="0"/>
          </a:p>
        </p:txBody>
      </p:sp>
      <p:sp>
        <p:nvSpPr>
          <p:cNvPr id="24" name="Text 16"/>
          <p:cNvSpPr txBox="1"/>
          <p:nvPr/>
        </p:nvSpPr>
        <p:spPr>
          <a:xfrm>
            <a:off x="5715000" y="2651760"/>
            <a:ext cx="2834640" cy="18288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Small flames at the cut point are normal. A flame that keeps burning after the head moves on is not. Stay with the laser for the whole job. If something catches fire, press pause, keep the lid closed, and get the instructor.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The settings that matter</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RUN THE JOB</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2468880"/>
                <a:gridCol w="2011680"/>
                <a:gridCol w="2011680"/>
              </a:tblGrid>
              <a:tr h="50292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it controls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Cutting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Engraving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Power</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How much energy the beam delivers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High: get through the sheet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Lower: just mark the surface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How fast the head moves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Slow: more time to burn through</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Fast: light, even marking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Frequency (PPI / Hz)</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Pulses per inch along the path</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 for wood (less charring)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Usually material default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Passes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How many times it repeats the path</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 or 2 for thick sheets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i="1" dirty="0">
                <a:solidFill>
                  <a:schemeClr val="accent2"/>
                </a:solidFill>
                <a:latin typeface="Calibri" pitchFamily="34" charset="0"/>
                <a:ea typeface="Calibri" pitchFamily="34" charset="-122"/>
                <a:cs typeface="Calibri" pitchFamily="34" charset="-120"/>
              </a:rPr>
              <a:t>Start from the material settings in Rayjet Manager, and test on a scrap before you change anything.</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After the cut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AFTER</a:t>
            </a:r>
            <a:endParaRPr lang="en-US" sz="1100" dirty="0"/>
          </a:p>
        </p:txBody>
      </p:sp>
      <p:sp>
        <p:nvSpPr>
          <p:cNvPr id="5" name="Shape 3"/>
          <p:cNvSpPr/>
          <p:nvPr/>
        </p:nvSpPr>
        <p:spPr>
          <a:xfrm>
            <a:off x="868680" y="1234440"/>
            <a:ext cx="685800" cy="6858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33272" y="1399032"/>
            <a:ext cx="356616" cy="356616"/>
          </a:xfrm>
          <a:prstGeom prst="rect">
            <a:avLst/>
          </a:prstGeom>
        </p:spPr>
      </p:pic>
      <p:sp>
        <p:nvSpPr>
          <p:cNvPr id="7" name="Text 4"/>
          <p:cNvSpPr txBox="1"/>
          <p:nvPr/>
        </p:nvSpPr>
        <p:spPr>
          <a:xfrm>
            <a:off x="411480"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Wait for smoke</a:t>
            </a:r>
            <a:endParaRPr lang="en-US" sz="1500" dirty="0"/>
          </a:p>
        </p:txBody>
      </p:sp>
      <p:sp>
        <p:nvSpPr>
          <p:cNvPr id="8" name="Text 5"/>
          <p:cNvSpPr txBox="1"/>
          <p:nvPr/>
        </p:nvSpPr>
        <p:spPr>
          <a:xfrm>
            <a:off x="475488" y="24688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Let the ventilation fan clear it before you open the lid</a:t>
            </a:r>
            <a:endParaRPr lang="en-US" sz="1200" dirty="0"/>
          </a:p>
        </p:txBody>
      </p:sp>
      <p:sp>
        <p:nvSpPr>
          <p:cNvPr id="9" name="Shape 6"/>
          <p:cNvSpPr/>
          <p:nvPr/>
        </p:nvSpPr>
        <p:spPr>
          <a:xfrm>
            <a:off x="1874520" y="1463040"/>
            <a:ext cx="228600" cy="201168"/>
          </a:xfrm>
          <a:prstGeom prst="rightArrow">
            <a:avLst/>
          </a:prstGeom>
          <a:solidFill>
            <a:schemeClr val="accent3"/>
          </a:solidFill>
          <a:ln/>
        </p:spPr>
      </p:sp>
      <p:sp>
        <p:nvSpPr>
          <p:cNvPr id="10" name="Shape 7"/>
          <p:cNvSpPr/>
          <p:nvPr/>
        </p:nvSpPr>
        <p:spPr>
          <a:xfrm>
            <a:off x="2551176" y="1234440"/>
            <a:ext cx="685800" cy="6858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2715768" y="1399032"/>
            <a:ext cx="356616" cy="356616"/>
          </a:xfrm>
          <a:prstGeom prst="rect">
            <a:avLst/>
          </a:prstGeom>
        </p:spPr>
      </p:pic>
      <p:sp>
        <p:nvSpPr>
          <p:cNvPr id="12" name="Text 8"/>
          <p:cNvSpPr txBox="1"/>
          <p:nvPr/>
        </p:nvSpPr>
        <p:spPr>
          <a:xfrm>
            <a:off x="2093976"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Test before moving</a:t>
            </a:r>
            <a:endParaRPr lang="en-US" sz="1500" dirty="0"/>
          </a:p>
        </p:txBody>
      </p:sp>
      <p:sp>
        <p:nvSpPr>
          <p:cNvPr id="13" name="Text 9"/>
          <p:cNvSpPr txBox="1"/>
          <p:nvPr/>
        </p:nvSpPr>
        <p:spPr>
          <a:xfrm>
            <a:off x="2157984" y="24688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Gently press a part. Not through? Rerun without moving the sheet</a:t>
            </a:r>
            <a:endParaRPr lang="en-US" sz="1200" dirty="0"/>
          </a:p>
        </p:txBody>
      </p:sp>
      <p:sp>
        <p:nvSpPr>
          <p:cNvPr id="14" name="Shape 10"/>
          <p:cNvSpPr/>
          <p:nvPr/>
        </p:nvSpPr>
        <p:spPr>
          <a:xfrm>
            <a:off x="3557016" y="1463040"/>
            <a:ext cx="228600" cy="201168"/>
          </a:xfrm>
          <a:prstGeom prst="rightArrow">
            <a:avLst/>
          </a:prstGeom>
          <a:solidFill>
            <a:schemeClr val="accent3"/>
          </a:solidFill>
          <a:ln/>
        </p:spPr>
      </p:sp>
      <p:sp>
        <p:nvSpPr>
          <p:cNvPr id="15" name="Shape 11"/>
          <p:cNvSpPr/>
          <p:nvPr/>
        </p:nvSpPr>
        <p:spPr>
          <a:xfrm>
            <a:off x="4233672" y="1234440"/>
            <a:ext cx="685800" cy="6858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398264" y="1399032"/>
            <a:ext cx="356616" cy="356616"/>
          </a:xfrm>
          <a:prstGeom prst="rect">
            <a:avLst/>
          </a:prstGeom>
        </p:spPr>
      </p:pic>
      <p:sp>
        <p:nvSpPr>
          <p:cNvPr id="17" name="Text 12"/>
          <p:cNvSpPr txBox="1"/>
          <p:nvPr/>
        </p:nvSpPr>
        <p:spPr>
          <a:xfrm>
            <a:off x="3776472"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Remove parts</a:t>
            </a:r>
            <a:endParaRPr lang="en-US" sz="1500" dirty="0"/>
          </a:p>
        </p:txBody>
      </p:sp>
      <p:sp>
        <p:nvSpPr>
          <p:cNvPr id="18" name="Text 13"/>
          <p:cNvSpPr txBox="1"/>
          <p:nvPr/>
        </p:nvSpPr>
        <p:spPr>
          <a:xfrm>
            <a:off x="3840480" y="24688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Lift them out. Watch for sharp acrylic edges</a:t>
            </a:r>
            <a:endParaRPr lang="en-US" sz="1200" dirty="0"/>
          </a:p>
        </p:txBody>
      </p:sp>
      <p:sp>
        <p:nvSpPr>
          <p:cNvPr id="19" name="Shape 14"/>
          <p:cNvSpPr/>
          <p:nvPr/>
        </p:nvSpPr>
        <p:spPr>
          <a:xfrm>
            <a:off x="5239512" y="1463040"/>
            <a:ext cx="228600" cy="201168"/>
          </a:xfrm>
          <a:prstGeom prst="rightArrow">
            <a:avLst/>
          </a:prstGeom>
          <a:solidFill>
            <a:schemeClr val="accent3"/>
          </a:solidFill>
          <a:ln/>
        </p:spPr>
      </p:sp>
      <p:sp>
        <p:nvSpPr>
          <p:cNvPr id="20" name="Shape 15"/>
          <p:cNvSpPr/>
          <p:nvPr/>
        </p:nvSpPr>
        <p:spPr>
          <a:xfrm>
            <a:off x="5916168" y="1234440"/>
            <a:ext cx="685800" cy="6858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080760" y="1399032"/>
            <a:ext cx="356616" cy="356616"/>
          </a:xfrm>
          <a:prstGeom prst="rect">
            <a:avLst/>
          </a:prstGeom>
        </p:spPr>
      </p:pic>
      <p:sp>
        <p:nvSpPr>
          <p:cNvPr id="22" name="Text 16"/>
          <p:cNvSpPr txBox="1"/>
          <p:nvPr/>
        </p:nvSpPr>
        <p:spPr>
          <a:xfrm>
            <a:off x="5458968"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Clean up</a:t>
            </a:r>
            <a:endParaRPr lang="en-US" sz="1500" dirty="0"/>
          </a:p>
        </p:txBody>
      </p:sp>
      <p:sp>
        <p:nvSpPr>
          <p:cNvPr id="23" name="Text 17"/>
          <p:cNvSpPr txBox="1"/>
          <p:nvPr/>
        </p:nvSpPr>
        <p:spPr>
          <a:xfrm>
            <a:off x="5522976" y="24688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Pull out scraps and small pieces from the tray</a:t>
            </a:r>
            <a:endParaRPr lang="en-US" sz="1200" dirty="0"/>
          </a:p>
        </p:txBody>
      </p:sp>
      <p:sp>
        <p:nvSpPr>
          <p:cNvPr id="24" name="Shape 18"/>
          <p:cNvSpPr/>
          <p:nvPr/>
        </p:nvSpPr>
        <p:spPr>
          <a:xfrm>
            <a:off x="6922008" y="1463040"/>
            <a:ext cx="228600" cy="201168"/>
          </a:xfrm>
          <a:prstGeom prst="rightArrow">
            <a:avLst/>
          </a:prstGeom>
          <a:solidFill>
            <a:schemeClr val="accent3"/>
          </a:solidFill>
          <a:ln/>
        </p:spPr>
      </p:sp>
      <p:sp>
        <p:nvSpPr>
          <p:cNvPr id="25" name="Shape 19"/>
          <p:cNvSpPr/>
          <p:nvPr/>
        </p:nvSpPr>
        <p:spPr>
          <a:xfrm>
            <a:off x="7132320" y="1051560"/>
            <a:ext cx="1572768" cy="2834640"/>
          </a:xfrm>
          <a:prstGeom prst="roundRect">
            <a:avLst>
              <a:gd name="adj" fmla="val 4651"/>
            </a:avLst>
          </a:prstGeom>
          <a:solidFill>
            <a:schemeClr val="bg2"/>
          </a:solidFill>
          <a:ln/>
        </p:spPr>
      </p:sp>
      <p:sp>
        <p:nvSpPr>
          <p:cNvPr id="26" name="Shape 20"/>
          <p:cNvSpPr/>
          <p:nvPr/>
        </p:nvSpPr>
        <p:spPr>
          <a:xfrm>
            <a:off x="7598664" y="1234440"/>
            <a:ext cx="685800" cy="685800"/>
          </a:xfrm>
          <a:prstGeom prst="ellipse">
            <a:avLst/>
          </a:prstGeom>
          <a:solidFill>
            <a:schemeClr val="accent3"/>
          </a:solidFill>
          <a:ln/>
        </p:spPr>
      </p:sp>
      <p:pic>
        <p:nvPicPr>
          <p:cNvPr id="27" name="Image 4" descr="preencoded.png">    </p:cNvPr>
          <p:cNvPicPr>
            <a:picLocks noChangeAspect="1"/>
          </p:cNvPicPr>
          <p:nvPr/>
        </p:nvPicPr>
        <p:blipFill>
          <a:blip r:embed="rId5"/>
          <a:stretch>
            <a:fillRect/>
          </a:stretch>
        </p:blipFill>
        <p:spPr>
          <a:xfrm>
            <a:off x="7763256" y="1399032"/>
            <a:ext cx="356616" cy="356616"/>
          </a:xfrm>
          <a:prstGeom prst="rect">
            <a:avLst/>
          </a:prstGeom>
        </p:spPr>
      </p:pic>
      <p:sp>
        <p:nvSpPr>
          <p:cNvPr id="28" name="Text 21"/>
          <p:cNvSpPr txBox="1"/>
          <p:nvPr/>
        </p:nvSpPr>
        <p:spPr>
          <a:xfrm>
            <a:off x="7141464"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Fit &amp; measure</a:t>
            </a:r>
            <a:endParaRPr lang="en-US" sz="1500" dirty="0"/>
          </a:p>
        </p:txBody>
      </p:sp>
      <p:sp>
        <p:nvSpPr>
          <p:cNvPr id="29" name="Text 22"/>
          <p:cNvSpPr txBox="1"/>
          <p:nvPr/>
        </p:nvSpPr>
        <p:spPr>
          <a:xfrm>
            <a:off x="7205472" y="24688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Calipers vs. Onshape. How snug are the slots?</a:t>
            </a:r>
            <a:endParaRPr lang="en-US" sz="1200" dirty="0"/>
          </a:p>
        </p:txBody>
      </p:sp>
      <p:sp>
        <p:nvSpPr>
          <p:cNvPr id="30" name="Shape 23"/>
          <p:cNvSpPr/>
          <p:nvPr/>
        </p:nvSpPr>
        <p:spPr>
          <a:xfrm>
            <a:off x="457200" y="4023360"/>
            <a:ext cx="8229600" cy="594360"/>
          </a:xfrm>
          <a:prstGeom prst="roundRect">
            <a:avLst>
              <a:gd name="adj" fmla="val 12308"/>
            </a:avLst>
          </a:prstGeom>
          <a:solidFill>
            <a:schemeClr val="accent1"/>
          </a:solidFill>
          <a:ln/>
        </p:spPr>
      </p:sp>
      <p:sp>
        <p:nvSpPr>
          <p:cNvPr id="31" name="Text 24"/>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Your cut is data. Too loose or too tight? You just measured the kerf. Use it in your next design.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When things go wrong</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2743200"/>
                <a:gridCol w="3108960"/>
              </a:tblGrid>
              <a:tr h="54864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you see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Try this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Didn't cut all the way through</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Z not calibrated, warped sheet, or low power</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Re-calibrate Z; flatten the sheet; extra pass before moving it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Line was engraved, not cut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Line too thick or not exactly red</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Re-select the lines and right-click the RED swatch</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Part is the wrong size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Drawing not 1:1, or DXF imported at wrong units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Set the drawing to 1:1; check W and H in CorelDRAW</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Border or dimensions got cut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Drawing extras left in the file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Delete them in CorelDRAW before printing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Slots too loose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Kerf not accounted for</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Shrink slot width by about one kerf; cut a test comb</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Lab safety &amp; norms</a:t>
            </a:r>
            <a:endParaRPr lang="en-US" sz="3000" dirty="0"/>
          </a:p>
        </p:txBody>
      </p:sp>
      <p:sp>
        <p:nvSpPr>
          <p:cNvPr id="3" name="Shape 1"/>
          <p:cNvSpPr/>
          <p:nvPr/>
        </p:nvSpPr>
        <p:spPr>
          <a:xfrm>
            <a:off x="457200" y="1097280"/>
            <a:ext cx="4023360" cy="1005840"/>
          </a:xfrm>
          <a:prstGeom prst="roundRect">
            <a:avLst>
              <a:gd name="adj" fmla="val 7273"/>
            </a:avLst>
          </a:prstGeom>
          <a:solidFill>
            <a:schemeClr val="bg2"/>
          </a:solidFill>
          <a:ln/>
        </p:spPr>
      </p:sp>
      <p:sp>
        <p:nvSpPr>
          <p:cNvPr id="4" name="Shape 2"/>
          <p:cNvSpPr/>
          <p:nvPr/>
        </p:nvSpPr>
        <p:spPr>
          <a:xfrm>
            <a:off x="640080" y="1280160"/>
            <a:ext cx="640080" cy="64008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793699" y="1433779"/>
            <a:ext cx="332842" cy="332842"/>
          </a:xfrm>
          <a:prstGeom prst="rect">
            <a:avLst/>
          </a:prstGeom>
        </p:spPr>
      </p:pic>
      <p:sp>
        <p:nvSpPr>
          <p:cNvPr id="6" name="Text 3"/>
          <p:cNvSpPr txBox="1"/>
          <p:nvPr/>
        </p:nvSpPr>
        <p:spPr>
          <a:xfrm>
            <a:off x="1463040" y="1170432"/>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Fire is the #1 risk</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Never leave the laser running unattended, not even for a minute.</a:t>
            </a:r>
            <a:endParaRPr lang="en-US" sz="1500" dirty="0"/>
          </a:p>
        </p:txBody>
      </p:sp>
      <p:sp>
        <p:nvSpPr>
          <p:cNvPr id="7" name="Shape 4"/>
          <p:cNvSpPr/>
          <p:nvPr/>
        </p:nvSpPr>
        <p:spPr>
          <a:xfrm>
            <a:off x="4663440" y="1097280"/>
            <a:ext cx="4023360" cy="1005840"/>
          </a:xfrm>
          <a:prstGeom prst="roundRect">
            <a:avLst>
              <a:gd name="adj" fmla="val 7273"/>
            </a:avLst>
          </a:prstGeom>
          <a:solidFill>
            <a:schemeClr val="bg2"/>
          </a:solidFill>
          <a:ln/>
        </p:spPr>
      </p:sp>
      <p:sp>
        <p:nvSpPr>
          <p:cNvPr id="8" name="Shape 5"/>
          <p:cNvSpPr/>
          <p:nvPr/>
        </p:nvSpPr>
        <p:spPr>
          <a:xfrm>
            <a:off x="4846320" y="1280160"/>
            <a:ext cx="640080" cy="640080"/>
          </a:xfrm>
          <a:prstGeom prst="ellipse">
            <a:avLst/>
          </a:prstGeom>
          <a:solidFill>
            <a:schemeClr val="accent6"/>
          </a:solidFill>
          <a:ln/>
        </p:spPr>
      </p:sp>
      <p:pic>
        <p:nvPicPr>
          <p:cNvPr id="9" name="Image 1" descr="preencoded.png">    </p:cNvPr>
          <p:cNvPicPr>
            <a:picLocks noChangeAspect="1"/>
          </p:cNvPicPr>
          <p:nvPr/>
        </p:nvPicPr>
        <p:blipFill>
          <a:blip r:embed="rId2"/>
          <a:stretch>
            <a:fillRect/>
          </a:stretch>
        </p:blipFill>
        <p:spPr>
          <a:xfrm>
            <a:off x="4999939" y="1433779"/>
            <a:ext cx="332842" cy="332842"/>
          </a:xfrm>
          <a:prstGeom prst="rect">
            <a:avLst/>
          </a:prstGeom>
        </p:spPr>
      </p:pic>
      <p:sp>
        <p:nvSpPr>
          <p:cNvPr id="10" name="Text 6"/>
          <p:cNvSpPr txBox="1"/>
          <p:nvPr/>
        </p:nvSpPr>
        <p:spPr>
          <a:xfrm>
            <a:off x="5669280" y="1170432"/>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Approved materials only</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No ID, no cut. PVC and vinyl release toxic gas.</a:t>
            </a:r>
            <a:endParaRPr lang="en-US" sz="1500" dirty="0"/>
          </a:p>
        </p:txBody>
      </p:sp>
      <p:sp>
        <p:nvSpPr>
          <p:cNvPr id="11" name="Shape 7"/>
          <p:cNvSpPr/>
          <p:nvPr/>
        </p:nvSpPr>
        <p:spPr>
          <a:xfrm>
            <a:off x="457200" y="2258568"/>
            <a:ext cx="4023360" cy="1005840"/>
          </a:xfrm>
          <a:prstGeom prst="roundRect">
            <a:avLst>
              <a:gd name="adj" fmla="val 7273"/>
            </a:avLst>
          </a:prstGeom>
          <a:solidFill>
            <a:schemeClr val="bg2"/>
          </a:solidFill>
          <a:ln/>
        </p:spPr>
      </p:sp>
      <p:sp>
        <p:nvSpPr>
          <p:cNvPr id="12" name="Shape 8"/>
          <p:cNvSpPr/>
          <p:nvPr/>
        </p:nvSpPr>
        <p:spPr>
          <a:xfrm>
            <a:off x="640080" y="2441448"/>
            <a:ext cx="640080" cy="64008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793699" y="2595067"/>
            <a:ext cx="332842" cy="332842"/>
          </a:xfrm>
          <a:prstGeom prst="rect">
            <a:avLst/>
          </a:prstGeom>
        </p:spPr>
      </p:pic>
      <p:sp>
        <p:nvSpPr>
          <p:cNvPr id="14" name="Text 9"/>
          <p:cNvSpPr txBox="1"/>
          <p:nvPr/>
        </p:nvSpPr>
        <p:spPr>
          <a:xfrm>
            <a:off x="1463040" y="2331720"/>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Ventilation fan always on</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No fan, no laser. Smoke damages the lens and your lungs.</a:t>
            </a:r>
            <a:endParaRPr lang="en-US" sz="1500" dirty="0"/>
          </a:p>
        </p:txBody>
      </p:sp>
      <p:sp>
        <p:nvSpPr>
          <p:cNvPr id="15" name="Shape 10"/>
          <p:cNvSpPr/>
          <p:nvPr/>
        </p:nvSpPr>
        <p:spPr>
          <a:xfrm>
            <a:off x="4663440" y="2258568"/>
            <a:ext cx="4023360" cy="1005840"/>
          </a:xfrm>
          <a:prstGeom prst="roundRect">
            <a:avLst>
              <a:gd name="adj" fmla="val 7273"/>
            </a:avLst>
          </a:prstGeom>
          <a:solidFill>
            <a:schemeClr val="bg2"/>
          </a:solidFill>
          <a:ln/>
        </p:spPr>
      </p:sp>
      <p:sp>
        <p:nvSpPr>
          <p:cNvPr id="16" name="Shape 11"/>
          <p:cNvSpPr/>
          <p:nvPr/>
        </p:nvSpPr>
        <p:spPr>
          <a:xfrm>
            <a:off x="4846320" y="2441448"/>
            <a:ext cx="640080" cy="64008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4999939" y="2595067"/>
            <a:ext cx="332842" cy="332842"/>
          </a:xfrm>
          <a:prstGeom prst="rect">
            <a:avLst/>
          </a:prstGeom>
        </p:spPr>
      </p:pic>
      <p:sp>
        <p:nvSpPr>
          <p:cNvPr id="18" name="Text 12"/>
          <p:cNvSpPr txBox="1"/>
          <p:nvPr/>
        </p:nvSpPr>
        <p:spPr>
          <a:xfrm>
            <a:off x="5669280" y="2331720"/>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Lid stays closed</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The beam is invisible. Never open the lid or bypass it mid-job.</a:t>
            </a:r>
            <a:endParaRPr lang="en-US" sz="1500" dirty="0"/>
          </a:p>
        </p:txBody>
      </p:sp>
      <p:sp>
        <p:nvSpPr>
          <p:cNvPr id="19" name="Shape 13"/>
          <p:cNvSpPr/>
          <p:nvPr/>
        </p:nvSpPr>
        <p:spPr>
          <a:xfrm>
            <a:off x="457200" y="3419856"/>
            <a:ext cx="4023360" cy="1005840"/>
          </a:xfrm>
          <a:prstGeom prst="roundRect">
            <a:avLst>
              <a:gd name="adj" fmla="val 7273"/>
            </a:avLst>
          </a:prstGeom>
          <a:solidFill>
            <a:schemeClr val="bg2"/>
          </a:solidFill>
          <a:ln/>
        </p:spPr>
      </p:sp>
      <p:sp>
        <p:nvSpPr>
          <p:cNvPr id="20" name="Shape 14"/>
          <p:cNvSpPr/>
          <p:nvPr/>
        </p:nvSpPr>
        <p:spPr>
          <a:xfrm>
            <a:off x="640080" y="3602736"/>
            <a:ext cx="640080" cy="640080"/>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793699" y="3756355"/>
            <a:ext cx="332842" cy="332842"/>
          </a:xfrm>
          <a:prstGeom prst="rect">
            <a:avLst/>
          </a:prstGeom>
        </p:spPr>
      </p:pic>
      <p:sp>
        <p:nvSpPr>
          <p:cNvPr id="22" name="Text 15"/>
          <p:cNvSpPr txBox="1"/>
          <p:nvPr/>
        </p:nvSpPr>
        <p:spPr>
          <a:xfrm>
            <a:off x="1463040" y="3493008"/>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Know where things are</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Fire extinguisher, the pause button, and who to tell.</a:t>
            </a:r>
            <a:endParaRPr lang="en-US" sz="1500" dirty="0"/>
          </a:p>
        </p:txBody>
      </p:sp>
      <p:sp>
        <p:nvSpPr>
          <p:cNvPr id="23" name="Shape 16"/>
          <p:cNvSpPr/>
          <p:nvPr/>
        </p:nvSpPr>
        <p:spPr>
          <a:xfrm>
            <a:off x="4663440" y="3419856"/>
            <a:ext cx="4023360" cy="1005840"/>
          </a:xfrm>
          <a:prstGeom prst="roundRect">
            <a:avLst>
              <a:gd name="adj" fmla="val 7273"/>
            </a:avLst>
          </a:prstGeom>
          <a:solidFill>
            <a:schemeClr val="bg2"/>
          </a:solidFill>
          <a:ln/>
        </p:spPr>
      </p:sp>
      <p:sp>
        <p:nvSpPr>
          <p:cNvPr id="24" name="Shape 17"/>
          <p:cNvSpPr/>
          <p:nvPr/>
        </p:nvSpPr>
        <p:spPr>
          <a:xfrm>
            <a:off x="4846320" y="3602736"/>
            <a:ext cx="640080" cy="640080"/>
          </a:xfrm>
          <a:prstGeom prst="ellipse">
            <a:avLst/>
          </a:prstGeom>
          <a:solidFill>
            <a:schemeClr val="accent1"/>
          </a:solidFill>
          <a:ln/>
        </p:spPr>
      </p:sp>
      <p:pic>
        <p:nvPicPr>
          <p:cNvPr id="25" name="Image 5" descr="preencoded.png">    </p:cNvPr>
          <p:cNvPicPr>
            <a:picLocks noChangeAspect="1"/>
          </p:cNvPicPr>
          <p:nvPr/>
        </p:nvPicPr>
        <p:blipFill>
          <a:blip r:embed="rId6"/>
          <a:stretch>
            <a:fillRect/>
          </a:stretch>
        </p:blipFill>
        <p:spPr>
          <a:xfrm>
            <a:off x="4999939" y="3756355"/>
            <a:ext cx="332842" cy="332842"/>
          </a:xfrm>
          <a:prstGeom prst="rect">
            <a:avLst/>
          </a:prstGeom>
        </p:spPr>
      </p:pic>
      <p:sp>
        <p:nvSpPr>
          <p:cNvPr id="26" name="Text 18"/>
          <p:cNvSpPr txBox="1"/>
          <p:nvPr/>
        </p:nvSpPr>
        <p:spPr>
          <a:xfrm>
            <a:off x="5669280" y="3493008"/>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Log your job</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Name, material, settings, and how it turned out.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Engineers iterate</a:t>
            </a:r>
            <a:endParaRPr lang="en-US" sz="3200" dirty="0"/>
          </a:p>
        </p:txBody>
      </p:sp>
      <p:sp>
        <p:nvSpPr>
          <p:cNvPr id="3" name="Shape 1"/>
          <p:cNvSpPr/>
          <p:nvPr/>
        </p:nvSpPr>
        <p:spPr>
          <a:xfrm>
            <a:off x="1234440" y="1554480"/>
            <a:ext cx="2606040" cy="2606040"/>
          </a:xfrm>
          <a:prstGeom prst="ellipse">
            <a:avLst/>
          </a:prstGeom>
          <a:ln w="38100">
            <a:solidFill>
              <a:schemeClr val="accent2"/>
            </a:solidFill>
            <a:prstDash val="dash"/>
          </a:ln>
        </p:spPr>
      </p:sp>
      <p:sp>
        <p:nvSpPr>
          <p:cNvPr id="4" name="Shape 2"/>
          <p:cNvSpPr/>
          <p:nvPr/>
        </p:nvSpPr>
        <p:spPr>
          <a:xfrm>
            <a:off x="2011680" y="1234440"/>
            <a:ext cx="1051560" cy="457200"/>
          </a:xfrm>
          <a:prstGeom prst="roundRect">
            <a:avLst>
              <a:gd name="adj" fmla="val 50000"/>
            </a:avLst>
          </a:prstGeom>
          <a:solidFill>
            <a:schemeClr val="accent3"/>
          </a:solidFill>
          <a:ln/>
        </p:spPr>
      </p:sp>
      <p:sp>
        <p:nvSpPr>
          <p:cNvPr id="5" name="Text 3"/>
          <p:cNvSpPr txBox="1"/>
          <p:nvPr/>
        </p:nvSpPr>
        <p:spPr>
          <a:xfrm>
            <a:off x="2011680" y="1234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Design</a:t>
            </a:r>
            <a:endParaRPr lang="en-US" sz="1300" dirty="0"/>
          </a:p>
        </p:txBody>
      </p:sp>
      <p:sp>
        <p:nvSpPr>
          <p:cNvPr id="6" name="Shape 4"/>
          <p:cNvSpPr/>
          <p:nvPr/>
        </p:nvSpPr>
        <p:spPr>
          <a:xfrm>
            <a:off x="3291840" y="2377440"/>
            <a:ext cx="1051560" cy="457200"/>
          </a:xfrm>
          <a:prstGeom prst="roundRect">
            <a:avLst>
              <a:gd name="adj" fmla="val 50000"/>
            </a:avLst>
          </a:prstGeom>
          <a:solidFill>
            <a:schemeClr val="accent3"/>
          </a:solidFill>
          <a:ln/>
        </p:spPr>
      </p:sp>
      <p:sp>
        <p:nvSpPr>
          <p:cNvPr id="7" name="Text 5"/>
          <p:cNvSpPr txBox="1"/>
          <p:nvPr/>
        </p:nvSpPr>
        <p:spPr>
          <a:xfrm>
            <a:off x="3291840" y="2377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Cut</a:t>
            </a:r>
            <a:endParaRPr lang="en-US" sz="1300" dirty="0"/>
          </a:p>
        </p:txBody>
      </p:sp>
      <p:sp>
        <p:nvSpPr>
          <p:cNvPr id="8" name="Shape 6"/>
          <p:cNvSpPr/>
          <p:nvPr/>
        </p:nvSpPr>
        <p:spPr>
          <a:xfrm>
            <a:off x="2011680" y="3520440"/>
            <a:ext cx="1051560" cy="457200"/>
          </a:xfrm>
          <a:prstGeom prst="roundRect">
            <a:avLst>
              <a:gd name="adj" fmla="val 50000"/>
            </a:avLst>
          </a:prstGeom>
          <a:solidFill>
            <a:schemeClr val="accent3"/>
          </a:solidFill>
          <a:ln/>
        </p:spPr>
      </p:sp>
      <p:sp>
        <p:nvSpPr>
          <p:cNvPr id="9" name="Text 7"/>
          <p:cNvSpPr txBox="1"/>
          <p:nvPr/>
        </p:nvSpPr>
        <p:spPr>
          <a:xfrm>
            <a:off x="2011680" y="3520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Measure</a:t>
            </a:r>
            <a:endParaRPr lang="en-US" sz="1300" dirty="0"/>
          </a:p>
        </p:txBody>
      </p:sp>
      <p:sp>
        <p:nvSpPr>
          <p:cNvPr id="10" name="Shape 8"/>
          <p:cNvSpPr/>
          <p:nvPr/>
        </p:nvSpPr>
        <p:spPr>
          <a:xfrm>
            <a:off x="731520" y="2377440"/>
            <a:ext cx="1051560" cy="457200"/>
          </a:xfrm>
          <a:prstGeom prst="roundRect">
            <a:avLst>
              <a:gd name="adj" fmla="val 50000"/>
            </a:avLst>
          </a:prstGeom>
          <a:solidFill>
            <a:schemeClr val="accent3"/>
          </a:solidFill>
          <a:ln/>
        </p:spPr>
      </p:sp>
      <p:sp>
        <p:nvSpPr>
          <p:cNvPr id="11" name="Text 9"/>
          <p:cNvSpPr txBox="1"/>
          <p:nvPr/>
        </p:nvSpPr>
        <p:spPr>
          <a:xfrm>
            <a:off x="731520" y="2377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Redesign</a:t>
            </a:r>
            <a:endParaRPr lang="en-US" sz="1300" dirty="0"/>
          </a:p>
        </p:txBody>
      </p:sp>
      <p:sp>
        <p:nvSpPr>
          <p:cNvPr id="12" name="Shape 10"/>
          <p:cNvSpPr/>
          <p:nvPr/>
        </p:nvSpPr>
        <p:spPr>
          <a:xfrm>
            <a:off x="4572000" y="1234440"/>
            <a:ext cx="4114800" cy="3200400"/>
          </a:xfrm>
          <a:prstGeom prst="roundRect">
            <a:avLst>
              <a:gd name="adj" fmla="val 2286"/>
            </a:avLst>
          </a:prstGeom>
          <a:solidFill>
            <a:schemeClr val="bg1"/>
          </a:solidFill>
          <a:ln/>
        </p:spPr>
      </p:sp>
      <p:sp>
        <p:nvSpPr>
          <p:cNvPr id="13" name="Text 11"/>
          <p:cNvSpPr txBox="1"/>
          <p:nvPr/>
        </p:nvSpPr>
        <p:spPr>
          <a:xfrm>
            <a:off x="4800600" y="1371600"/>
            <a:ext cx="36576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Exit ticket</a:t>
            </a:r>
            <a:endParaRPr lang="en-US" sz="1800" dirty="0"/>
          </a:p>
        </p:txBody>
      </p:sp>
      <p:sp>
        <p:nvSpPr>
          <p:cNvPr id="14" name="Text 12"/>
          <p:cNvSpPr txBox="1"/>
          <p:nvPr/>
        </p:nvSpPr>
        <p:spPr>
          <a:xfrm>
            <a:off x="4800600" y="1828800"/>
            <a:ext cx="3703320" cy="25146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What slot width did you design, and what did it measure after cutting? What does that tell you about the kerf?</a:t>
            </a:r>
            <a:endParaRPr lang="en-US" sz="1300" dirty="0"/>
          </a:p>
          <a:p>
            <a:pPr marL="342900" indent="-342900">
              <a:spcAft>
                <a:spcPts val="8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Name one thing you'd change in your file before your next cut, and what you expect to happen.</a:t>
            </a:r>
            <a:endParaRPr lang="en-US" sz="1300" dirty="0"/>
          </a:p>
          <a:p>
            <a:pPr marL="342900" indent="-342900">
              <a:spcAft>
                <a:spcPts val="8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When would you choose the laser cutter over the 3D printer, and when the opposite?</a:t>
            </a:r>
            <a:endParaRPr lang="en-US" sz="1300" dirty="0"/>
          </a:p>
        </p:txBody>
      </p:sp>
      <p:sp>
        <p:nvSpPr>
          <p:cNvPr id="16"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endParaRPr lang="en-US" sz="4000" dirty="0"/>
          </a:p>
        </p:txBody>
      </p:sp>
      <p:sp>
        <p:nvSpPr>
          <p:cNvPr id="17"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WCC Green Gold">
  <a:themeElements>
    <a:clrScheme name="WCC Green Gold">
      <a:dk1>
        <a:srgbClr val="1F2A24"/>
      </a:dk1>
      <a:lt1>
        <a:srgbClr val="FFFFFF"/>
      </a:lt1>
      <a:dk2>
        <a:srgbClr val="1E4D2B"/>
      </a:dk2>
      <a:lt2>
        <a:srgbClr val="EEF4EF"/>
      </a:lt2>
      <a:accent1>
        <a:srgbClr val="1E4D2B"/>
      </a:accent1>
      <a:accent2>
        <a:srgbClr val="4A8C5C"/>
      </a:accent2>
      <a:accent3>
        <a:srgbClr val="D4A72C"/>
      </a:accent3>
      <a:accent4>
        <a:srgbClr val="A9CDB2"/>
      </a:accent4>
      <a:accent5>
        <a:srgbClr val="6B6F6C"/>
      </a:accent5>
      <a:accent6>
        <a:srgbClr val="B5462F"/>
      </a:accent6>
      <a:hlink>
        <a:srgbClr val="2F6FAE"/>
      </a:hlink>
      <a:folHlink>
        <a:srgbClr val="6B4FA0"/>
      </a:folHlink>
    </a:clrScheme>
    <a:fontScheme name="WCC Green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Onshape to Laser Cut: Laser Cutting on the Trotec Rayjet 300</dc:title>
  <dc:subject>PptxGenJS Presentation</dc:subject>
  <dc:creator>ENGR 101 Engineering Exploration</dc:creator>
  <cp:lastModifiedBy>ENGR 101 Engineering Exploration</cp:lastModifiedBy>
  <cp:revision>1</cp:revision>
  <dcterms:created xsi:type="dcterms:W3CDTF">2026-10-10T16:20:13Z</dcterms:created>
  <dcterms:modified xsi:type="dcterms:W3CDTF">2026-10-10T16:20:13Z</dcterms:modified>
</cp:coreProperties>
</file>