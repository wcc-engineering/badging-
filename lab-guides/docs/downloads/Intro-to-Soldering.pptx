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daf75a-d84c-4219-e809-d0e16c1442b5}">
          <p14:sldIdLst>
            <p14:sldId id="256"/>
            <p14:sldId id="257"/>
          </p14:sldIdLst>
        </p14:section>
        <p14:section name="Basics" id="{b381598c-7a6a-7d33-e00e-95b2ff1d0b7e}">
          <p14:sldIdLst>
            <p14:sldId id="258"/>
            <p14:sldId id="259"/>
            <p14:sldId id="260"/>
            <p14:sldId id="261"/>
            <p14:sldId id="262"/>
            <p14:sldId id="263"/>
            <p14:sldId id="264"/>
          </p14:sldIdLst>
        </p14:section>
        <p14:section name="Steps" id="{bc73c8d0-85de-be35-59e0-ac5b96379720}">
          <p14:sldIdLst>
            <p14:sldId id="265"/>
            <p14:sldId id="266"/>
            <p14:sldId id="267"/>
            <p14:sldId id="268"/>
            <p14:sldId id="269"/>
            <p14:sldId id="270"/>
            <p14:sldId id="271"/>
          </p14:sldIdLst>
        </p14:section>
        <p14:section name="Wrap-up" id="{9c9615da-079f-f955-7cbb-393cf53d5446}">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students leave able to set up a station safely, make a good through-hole joint, and tell a good joint from a bad one. The badge activity is the SparkFun Basic Flashlight Soldering 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few finished flashlight boards plus a 'reject' board with cold joints, blobs and a bridge. Let students name the differences (shiny vs. dull, cone vs. ball, touching neighbors). Write their words on the board; the 'good vs. bad joints' slide gives them the official names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warm-up question 2: solder isn't glue. It forms a metallic bond with the copper. That's why a joint needs heat, cleanliness, and flux, and why dripping melted solder onto a cold joint gives a weak 'cold joint'.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the 'watch for' list BEFORE the video so they watch actively. Pair-share after: how many seconds per joint? (Usually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each item on a real station. Next slide covers what each one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'stand up and find it' race: each group finds every item on its station. Note that wire strippers aren't for cutting wire; use flush cutters.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question at the bottom before revealing the right side. An oxidized tip can't transfer heat. This is why we clean and tin (Step 3) and why flux matters (Steps 2 and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Condensed from the original safety page (the full text is still good for the Canvas page). Check our solder type: if it's leaded, stress handwashing. Point out the first aid kit and the electrical-rated extinguisher.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for the rest of the deck. Each step slide has a gold tag in the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miss: setting the iron down on the bench while it heats. It goes in the stand, always.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 little exposed wire is hard to solder; too much leaves bare wire that can short. Wrong gauge on the stripper cuts strands. Have students check for nicked strands.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Tinning helps heat move from the tip into the joint. A bare, dry tip barely transfers heat, which is why students 'can't get the solder to melt'.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component orientation BEFORE soldering. LEDs have a long leg (+) and short leg (−). Desoldering is much harder than checking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under a document camera, narrating each step out loud with a count. Then have students practice on a scrap board or wire pair before touching the flashlight kit. Order matters: solder away first, iron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warm-up: match the students' own words to these names. Peer inspection builds the habit of checking work, and it's how quality inspection works in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Trim with flush cutters, pointing the leads down and away from faces. Safety glasses on, because clipped leads fly.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problems trace back to two things: a dirty tip, or heating the solder instead of the joint.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a quick station check before students leave: iron off, sponge damp, area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forces a specific joint, not 'it went fine.' Question 3 connects to discipline exploration (EE, ME, aerospace, robotics, repair).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743200"/>
            <a:ext cx="8046720" cy="822960"/>
          </a:xfrm>
          <a:prstGeom prst="rect">
            <a:avLst/>
          </a:prstGeom>
          <a:noFill/>
          <a:ln/>
        </p:spPr>
        <p:txBody>
          <a:bodyPr wrap="square" rtlCol="0"/>
          <a:lstStyle>
            <a:lvl1pPr indent="0" marL="0">
              <a:buNone/>
              <a:defRPr lang="en-US" sz="2000" dirty="0">
                <a:solidFill>
                  <a:schemeClr val="accent3"/>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rtlCol="0"/>
          <a:lstStyle>
            <a:lvl1pPr algn="l" indent="0" marL="0">
              <a:buNone/>
              <a:defRPr lang="en-US" sz="3000" b="1" dirty="0">
                <a:solidFill>
                  <a:schemeClr val="accent1"/>
                </a:solidFill>
              </a:defRPr>
            </a:lvl1pPr>
          </a:lstStyle>
          <a:p>
            <a:pPr algn="l" indent="0" marL="0">
              <a:buNone/>
            </a:pPr>
            <a:endParaRPr lang="en-US" sz="3000" dirty="0"/>
          </a:p>
        </p:txBody>
      </p:sp>
      <p:sp>
        <p:nvSpPr>
          <p:cNvPr id="3" name="Text 0"/>
          <p:cNvSpPr/>
          <p:nvPr/>
        </p:nvSpPr>
        <p:spPr>
          <a:xfrm>
            <a:off x="457200" y="4800600"/>
            <a:ext cx="4572000" cy="228600"/>
          </a:xfrm>
          <a:prstGeom prst="rect">
            <a:avLst/>
          </a:prstGeom>
          <a:noFill/>
          <a:ln/>
        </p:spPr>
        <p:txBody>
          <a:bodyPr wrap="square" lIns="0" tIns="0" rIns="0" bIns="0" rtlCol="0" anchor="ctr"/>
          <a:lstStyle/>
          <a:p>
            <a:pPr indent="0" marL="0">
              <a:buNone/>
            </a:pPr>
            <a:r>
              <a:rPr lang="en-US" sz="1000" dirty="0">
                <a:solidFill>
                  <a:schemeClr val="accent5"/>
                </a:solidFill>
              </a:rPr>
              <a:t>ENGR 101 · Intro to Soldering</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www.youtube.com/watch?v=6rmErwU5E-k" TargetMode="External"/><Relationship Id="rId3" Type="http://schemas.openxmlformats.org/officeDocument/2006/relationships/hyperlink" Target="http://www.youtube.com/watch?v=6rmErwU5E-k" TargetMode="External"/><Relationship Id="rId1" Type="http://schemas.openxmlformats.org/officeDocument/2006/relationships/image" Target="../media/image-4-1.jp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image" Target="../media/image-6-5.jpg"/><Relationship Id="rId6" Type="http://schemas.openxmlformats.org/officeDocument/2006/relationships/image" Target="../media/image-6-6.jpg"/><Relationship Id="rId7" Type="http://schemas.openxmlformats.org/officeDocument/2006/relationships/image" Target="../media/image-6-7.jpg"/><Relationship Id="rId8" Type="http://schemas.openxmlformats.org/officeDocument/2006/relationships/image" Target="../media/image-6-8.jp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4" Type="http://schemas.openxmlformats.org/officeDocument/2006/relationships/hyperlink" Target="https://learn.sparkfun.com/tutorials/flashlight-kit#how-to-solder" TargetMode="External"/><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image" Target="../media/image-16-3.jp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3.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lIns="0" tIns="0" rIns="0" bIns="0" rtlCol="0" anchor="b"/>
          <a:lstStyle/>
          <a:p>
            <a:pPr algn="l" indent="0" marL="0">
              <a:buNone/>
            </a:pPr>
            <a:r>
              <a:rPr lang="en-US" sz="4000" b="1" dirty="0">
                <a:solidFill>
                  <a:schemeClr val="bg1"/>
                </a:solidFill>
              </a:rPr>
              <a:t>Intro to Soldering</a:t>
            </a:r>
            <a:endParaRPr lang="en-US" sz="4000" dirty="0"/>
          </a:p>
        </p:txBody>
      </p:sp>
      <p:sp>
        <p:nvSpPr>
          <p:cNvPr id="3" name="Text 0"/>
          <p:cNvSpPr/>
          <p:nvPr>
            <p:ph idx="101" type="body" hasCustomPrompt="1"/>
          </p:nvPr>
        </p:nvSpPr>
        <p:spPr>
          <a:xfrm>
            <a:off x="548640" y="2743200"/>
            <a:ext cx="8046720" cy="822960"/>
          </a:xfrm>
          <a:prstGeom prst="rect">
            <a:avLst/>
          </a:prstGeom>
          <a:noFill/>
          <a:ln/>
        </p:spPr>
        <p:txBody>
          <a:bodyPr wrap="square" lIns="0" tIns="0" rIns="0" bIns="0" rtlCol="0" anchor="t"/>
          <a:lstStyle/>
          <a:p>
            <a:pPr indent="0" marL="0">
              <a:buNone/>
            </a:pPr>
            <a:r>
              <a:rPr lang="en-US" sz="2000" dirty="0">
                <a:solidFill>
                  <a:schemeClr val="accent3"/>
                </a:solidFill>
              </a:rPr>
              <a:t>Making electrical connections that last</a:t>
            </a:r>
            <a:endParaRPr lang="en-US" sz="2000" dirty="0"/>
          </a:p>
        </p:txBody>
      </p:sp>
      <p:sp>
        <p:nvSpPr>
          <p:cNvPr id="4" name="Shape 2"/>
          <p:cNvSpPr/>
          <p:nvPr/>
        </p:nvSpPr>
        <p:spPr>
          <a:xfrm>
            <a:off x="6583680" y="1325880"/>
            <a:ext cx="1828800" cy="146304"/>
          </a:xfrm>
          <a:prstGeom prst="rect">
            <a:avLst/>
          </a:prstGeom>
          <a:solidFill>
            <a:schemeClr val="accent2"/>
          </a:solidFill>
          <a:ln/>
        </p:spPr>
      </p:sp>
      <p:sp>
        <p:nvSpPr>
          <p:cNvPr id="5" name="Shape 3"/>
          <p:cNvSpPr/>
          <p:nvPr/>
        </p:nvSpPr>
        <p:spPr>
          <a:xfrm>
            <a:off x="7086600" y="685800"/>
            <a:ext cx="822960" cy="640080"/>
          </a:xfrm>
          <a:prstGeom prst="triangle">
            <a:avLst/>
          </a:prstGeom>
          <a:solidFill>
            <a:schemeClr val="accent3"/>
          </a:solidFill>
          <a:ln/>
        </p:spPr>
      </p:sp>
      <p:sp>
        <p:nvSpPr>
          <p:cNvPr id="6" name="Shape 4"/>
          <p:cNvSpPr/>
          <p:nvPr/>
        </p:nvSpPr>
        <p:spPr>
          <a:xfrm>
            <a:off x="7452360" y="411480"/>
            <a:ext cx="91440" cy="1463040"/>
          </a:xfrm>
          <a:prstGeom prst="rect">
            <a:avLst/>
          </a:prstGeom>
          <a:solidFill>
            <a:schemeClr val="bg1"/>
          </a:solidFill>
          <a:ln/>
        </p:spPr>
      </p:sp>
      <p:sp>
        <p:nvSpPr>
          <p:cNvPr id="7" name="Text 5"/>
          <p:cNvSpPr txBox="1"/>
          <p:nvPr/>
        </p:nvSpPr>
        <p:spPr>
          <a:xfrm>
            <a:off x="548640" y="4297680"/>
            <a:ext cx="8046720" cy="32004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ENGR 101 · Engineering Exploration · Introduction to Soldering Micro Badge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Warm-up: which joint would you trust?</a:t>
            </a:r>
            <a:endParaRPr lang="en-US" sz="3000" dirty="0"/>
          </a:p>
        </p:txBody>
      </p:sp>
      <p:sp>
        <p:nvSpPr>
          <p:cNvPr id="3" name="Shape 1"/>
          <p:cNvSpPr/>
          <p:nvPr/>
        </p:nvSpPr>
        <p:spPr>
          <a:xfrm>
            <a:off x="457200" y="1188720"/>
            <a:ext cx="3291840" cy="3291840"/>
          </a:xfrm>
          <a:prstGeom prst="roundRect">
            <a:avLst>
              <a:gd name="adj" fmla="val 2222"/>
            </a:avLst>
          </a:prstGeom>
          <a:solidFill>
            <a:schemeClr val="accent1"/>
          </a:solidFill>
          <a:ln/>
        </p:spPr>
      </p:sp>
      <p:sp>
        <p:nvSpPr>
          <p:cNvPr id="4" name="Shape 2"/>
          <p:cNvSpPr/>
          <p:nvPr/>
        </p:nvSpPr>
        <p:spPr>
          <a:xfrm>
            <a:off x="731520" y="1463040"/>
            <a:ext cx="731520" cy="731520"/>
          </a:xfrm>
          <a:prstGeom prst="ellipse">
            <a:avLst/>
          </a:prstGeom>
          <a:solidFill>
            <a:schemeClr val="accent2"/>
          </a:solidFill>
          <a:ln/>
        </p:spPr>
      </p:sp>
      <p:pic>
        <p:nvPicPr>
          <p:cNvPr id="5" name="Image 0" descr="preencoded.png">    </p:cNvPr>
          <p:cNvPicPr>
            <a:picLocks noChangeAspect="1"/>
          </p:cNvPicPr>
          <p:nvPr/>
        </p:nvPicPr>
        <p:blipFill>
          <a:blip r:embed="rId1"/>
          <a:stretch>
            <a:fillRect/>
          </a:stretch>
        </p:blipFill>
        <p:spPr>
          <a:xfrm>
            <a:off x="907085" y="1638605"/>
            <a:ext cx="380390" cy="380390"/>
          </a:xfrm>
          <a:prstGeom prst="rect">
            <a:avLst/>
          </a:prstGeom>
        </p:spPr>
      </p:pic>
      <p:sp>
        <p:nvSpPr>
          <p:cNvPr id="6" name="Text 3"/>
          <p:cNvSpPr txBox="1"/>
          <p:nvPr/>
        </p:nvSpPr>
        <p:spPr>
          <a:xfrm>
            <a:off x="731520" y="2377440"/>
            <a:ext cx="2743200" cy="73152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Pass around soldered boards</a:t>
            </a:r>
            <a:endParaRPr lang="en-US" sz="2000" dirty="0"/>
          </a:p>
        </p:txBody>
      </p:sp>
      <p:sp>
        <p:nvSpPr>
          <p:cNvPr id="7" name="Text 4"/>
          <p:cNvSpPr txBox="1"/>
          <p:nvPr/>
        </p:nvSpPr>
        <p:spPr>
          <a:xfrm>
            <a:off x="731520" y="3200400"/>
            <a:ext cx="2743200" cy="91440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Small groups, 5 minutes. Then we share out as a class.</a:t>
            </a:r>
            <a:endParaRPr lang="en-US" sz="1400" dirty="0"/>
          </a:p>
        </p:txBody>
      </p:sp>
      <p:sp>
        <p:nvSpPr>
          <p:cNvPr id="8" name="Shape 5"/>
          <p:cNvSpPr/>
          <p:nvPr/>
        </p:nvSpPr>
        <p:spPr>
          <a:xfrm>
            <a:off x="4023360" y="1188720"/>
            <a:ext cx="4663440" cy="960120"/>
          </a:xfrm>
          <a:prstGeom prst="roundRect">
            <a:avLst>
              <a:gd name="adj" fmla="val 7619"/>
            </a:avLst>
          </a:prstGeom>
          <a:solidFill>
            <a:schemeClr val="bg2"/>
          </a:solidFill>
          <a:ln/>
        </p:spPr>
      </p:sp>
      <p:sp>
        <p:nvSpPr>
          <p:cNvPr id="9" name="Shape 6"/>
          <p:cNvSpPr/>
          <p:nvPr/>
        </p:nvSpPr>
        <p:spPr>
          <a:xfrm>
            <a:off x="4206240" y="1463040"/>
            <a:ext cx="411480" cy="411480"/>
          </a:xfrm>
          <a:prstGeom prst="ellipse">
            <a:avLst/>
          </a:prstGeom>
          <a:solidFill>
            <a:schemeClr val="accent3"/>
          </a:solidFill>
          <a:ln/>
        </p:spPr>
      </p:sp>
      <p:sp>
        <p:nvSpPr>
          <p:cNvPr id="10" name="Text 7"/>
          <p:cNvSpPr txBox="1"/>
          <p:nvPr/>
        </p:nvSpPr>
        <p:spPr>
          <a:xfrm>
            <a:off x="4206240" y="1463040"/>
            <a:ext cx="411480" cy="411480"/>
          </a:xfrm>
          <a:prstGeom prst="rect">
            <a:avLst/>
          </a:prstGeom>
          <a:noFill/>
          <a:ln/>
        </p:spPr>
        <p:txBody>
          <a:bodyPr wrap="square" lIns="0" tIns="0" rIns="0" bIns="0" rtlCol="0" anchor="ctr"/>
          <a:lstStyle/>
          <a:p>
            <a:pPr algn="ctr" indent="0" marL="0">
              <a:buNone/>
            </a:pPr>
            <a:r>
              <a:rPr lang="en-US" sz="1600" b="1" dirty="0">
                <a:solidFill>
                  <a:schemeClr val="accent1"/>
                </a:solidFill>
                <a:latin typeface="Calibri" pitchFamily="34" charset="0"/>
                <a:ea typeface="Calibri" pitchFamily="34" charset="-122"/>
                <a:cs typeface="Calibri" pitchFamily="34" charset="-120"/>
              </a:rPr>
              <a:t>1</a:t>
            </a:r>
            <a:endParaRPr lang="en-US" sz="1600" dirty="0"/>
          </a:p>
        </p:txBody>
      </p:sp>
      <p:sp>
        <p:nvSpPr>
          <p:cNvPr id="11" name="Text 8"/>
          <p:cNvSpPr txBox="1"/>
          <p:nvPr/>
        </p:nvSpPr>
        <p:spPr>
          <a:xfrm>
            <a:off x="4800600" y="1280160"/>
            <a:ext cx="3749040" cy="7772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Find the best-looking joint and the worst one. What exactly is different about them?</a:t>
            </a:r>
            <a:endParaRPr lang="en-US" sz="1400" dirty="0"/>
          </a:p>
        </p:txBody>
      </p:sp>
      <p:sp>
        <p:nvSpPr>
          <p:cNvPr id="12" name="Shape 9"/>
          <p:cNvSpPr/>
          <p:nvPr/>
        </p:nvSpPr>
        <p:spPr>
          <a:xfrm>
            <a:off x="4023360" y="2331720"/>
            <a:ext cx="4663440" cy="960120"/>
          </a:xfrm>
          <a:prstGeom prst="roundRect">
            <a:avLst>
              <a:gd name="adj" fmla="val 7619"/>
            </a:avLst>
          </a:prstGeom>
          <a:solidFill>
            <a:schemeClr val="bg2"/>
          </a:solidFill>
          <a:ln/>
        </p:spPr>
      </p:sp>
      <p:sp>
        <p:nvSpPr>
          <p:cNvPr id="13" name="Shape 10"/>
          <p:cNvSpPr/>
          <p:nvPr/>
        </p:nvSpPr>
        <p:spPr>
          <a:xfrm>
            <a:off x="4206240" y="2606040"/>
            <a:ext cx="411480" cy="411480"/>
          </a:xfrm>
          <a:prstGeom prst="ellipse">
            <a:avLst/>
          </a:prstGeom>
          <a:solidFill>
            <a:schemeClr val="accent3"/>
          </a:solidFill>
          <a:ln/>
        </p:spPr>
      </p:sp>
      <p:sp>
        <p:nvSpPr>
          <p:cNvPr id="14" name="Text 11"/>
          <p:cNvSpPr txBox="1"/>
          <p:nvPr/>
        </p:nvSpPr>
        <p:spPr>
          <a:xfrm>
            <a:off x="4206240" y="2606040"/>
            <a:ext cx="411480" cy="411480"/>
          </a:xfrm>
          <a:prstGeom prst="rect">
            <a:avLst/>
          </a:prstGeom>
          <a:noFill/>
          <a:ln/>
        </p:spPr>
        <p:txBody>
          <a:bodyPr wrap="square" lIns="0" tIns="0" rIns="0" bIns="0" rtlCol="0" anchor="ctr"/>
          <a:lstStyle/>
          <a:p>
            <a:pPr algn="ctr" indent="0" marL="0">
              <a:buNone/>
            </a:pPr>
            <a:r>
              <a:rPr lang="en-US" sz="1600" b="1" dirty="0">
                <a:solidFill>
                  <a:schemeClr val="accent1"/>
                </a:solidFill>
                <a:latin typeface="Calibri" pitchFamily="34" charset="0"/>
                <a:ea typeface="Calibri" pitchFamily="34" charset="-122"/>
                <a:cs typeface="Calibri" pitchFamily="34" charset="-120"/>
              </a:rPr>
              <a:t>2</a:t>
            </a:r>
            <a:endParaRPr lang="en-US" sz="1600" dirty="0"/>
          </a:p>
        </p:txBody>
      </p:sp>
      <p:sp>
        <p:nvSpPr>
          <p:cNvPr id="15" name="Text 12"/>
          <p:cNvSpPr txBox="1"/>
          <p:nvPr/>
        </p:nvSpPr>
        <p:spPr>
          <a:xfrm>
            <a:off x="4800600" y="2423160"/>
            <a:ext cx="3749040" cy="7772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Is solder a glue, or something else? What makes you think so?</a:t>
            </a:r>
            <a:endParaRPr lang="en-US" sz="1400" dirty="0"/>
          </a:p>
        </p:txBody>
      </p:sp>
      <p:sp>
        <p:nvSpPr>
          <p:cNvPr id="16" name="Shape 13"/>
          <p:cNvSpPr/>
          <p:nvPr/>
        </p:nvSpPr>
        <p:spPr>
          <a:xfrm>
            <a:off x="4023360" y="3474720"/>
            <a:ext cx="4663440" cy="960120"/>
          </a:xfrm>
          <a:prstGeom prst="roundRect">
            <a:avLst>
              <a:gd name="adj" fmla="val 7619"/>
            </a:avLst>
          </a:prstGeom>
          <a:solidFill>
            <a:schemeClr val="bg2"/>
          </a:solidFill>
          <a:ln/>
        </p:spPr>
      </p:sp>
      <p:sp>
        <p:nvSpPr>
          <p:cNvPr id="17" name="Shape 14"/>
          <p:cNvSpPr/>
          <p:nvPr/>
        </p:nvSpPr>
        <p:spPr>
          <a:xfrm>
            <a:off x="4206240" y="3749040"/>
            <a:ext cx="411480" cy="411480"/>
          </a:xfrm>
          <a:prstGeom prst="ellipse">
            <a:avLst/>
          </a:prstGeom>
          <a:solidFill>
            <a:schemeClr val="accent3"/>
          </a:solidFill>
          <a:ln/>
        </p:spPr>
      </p:sp>
      <p:sp>
        <p:nvSpPr>
          <p:cNvPr id="18" name="Text 15"/>
          <p:cNvSpPr txBox="1"/>
          <p:nvPr/>
        </p:nvSpPr>
        <p:spPr>
          <a:xfrm>
            <a:off x="4206240" y="3749040"/>
            <a:ext cx="411480" cy="411480"/>
          </a:xfrm>
          <a:prstGeom prst="rect">
            <a:avLst/>
          </a:prstGeom>
          <a:noFill/>
          <a:ln/>
        </p:spPr>
        <p:txBody>
          <a:bodyPr wrap="square" lIns="0" tIns="0" rIns="0" bIns="0" rtlCol="0" anchor="ctr"/>
          <a:lstStyle/>
          <a:p>
            <a:pPr algn="ctr" indent="0" marL="0">
              <a:buNone/>
            </a:pPr>
            <a:r>
              <a:rPr lang="en-US" sz="1600" b="1" dirty="0">
                <a:solidFill>
                  <a:schemeClr val="accent1"/>
                </a:solidFill>
                <a:latin typeface="Calibri" pitchFamily="34" charset="0"/>
                <a:ea typeface="Calibri" pitchFamily="34" charset="-122"/>
                <a:cs typeface="Calibri" pitchFamily="34" charset="-120"/>
              </a:rPr>
              <a:t>3</a:t>
            </a:r>
            <a:endParaRPr lang="en-US" sz="1600" dirty="0"/>
          </a:p>
        </p:txBody>
      </p:sp>
      <p:sp>
        <p:nvSpPr>
          <p:cNvPr id="19" name="Text 16"/>
          <p:cNvSpPr txBox="1"/>
          <p:nvPr/>
        </p:nvSpPr>
        <p:spPr>
          <a:xfrm>
            <a:off x="4800600" y="3566160"/>
            <a:ext cx="3749040" cy="7772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Why would the iron need to be hotter than the solder's melting point?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What is soldering?</a:t>
            </a:r>
            <a:endParaRPr lang="en-US" sz="3000" dirty="0"/>
          </a:p>
        </p:txBody>
      </p:sp>
      <p:sp>
        <p:nvSpPr>
          <p:cNvPr id="3" name="Text 1"/>
          <p:cNvSpPr txBox="1"/>
          <p:nvPr/>
        </p:nvSpPr>
        <p:spPr>
          <a:xfrm>
            <a:off x="457200" y="960120"/>
            <a:ext cx="8229600" cy="365760"/>
          </a:xfrm>
          <a:prstGeom prst="rect">
            <a:avLst/>
          </a:prstGeom>
          <a:noFill/>
          <a:ln/>
        </p:spPr>
        <p:txBody>
          <a:bodyPr wrap="square" lIns="0" tIns="0" rIns="0" bIns="0" rtlCol="0" anchor="t"/>
          <a:lstStyle/>
          <a:p>
            <a:pPr indent="0" marL="0">
              <a:buNone/>
            </a:pPr>
            <a:r>
              <a:rPr lang="en-US" sz="1400" i="1" dirty="0">
                <a:solidFill>
                  <a:schemeClr val="accent2"/>
                </a:solidFill>
                <a:latin typeface="Calibri" pitchFamily="34" charset="0"/>
                <a:ea typeface="Calibri" pitchFamily="34" charset="-122"/>
                <a:cs typeface="Calibri" pitchFamily="34" charset="-120"/>
              </a:rPr>
              <a:t>Joining metal parts with a lower-melting metal (solder) to make a strong electrical connection.</a:t>
            </a:r>
            <a:endParaRPr lang="en-US" sz="1400" dirty="0"/>
          </a:p>
        </p:txBody>
      </p:sp>
      <p:sp>
        <p:nvSpPr>
          <p:cNvPr id="4" name="Shape 2"/>
          <p:cNvSpPr/>
          <p:nvPr/>
        </p:nvSpPr>
        <p:spPr>
          <a:xfrm>
            <a:off x="457200" y="1508760"/>
            <a:ext cx="2606040" cy="2103120"/>
          </a:xfrm>
          <a:prstGeom prst="roundRect">
            <a:avLst>
              <a:gd name="adj" fmla="val 3478"/>
            </a:avLst>
          </a:prstGeom>
          <a:solidFill>
            <a:schemeClr val="bg2"/>
          </a:solidFill>
          <a:ln/>
        </p:spPr>
      </p:sp>
      <p:sp>
        <p:nvSpPr>
          <p:cNvPr id="5" name="Shape 3"/>
          <p:cNvSpPr/>
          <p:nvPr/>
        </p:nvSpPr>
        <p:spPr>
          <a:xfrm>
            <a:off x="731520" y="1691640"/>
            <a:ext cx="640080" cy="640080"/>
          </a:xfrm>
          <a:prstGeom prst="ellipse">
            <a:avLst/>
          </a:prstGeom>
          <a:solidFill>
            <a:schemeClr val="accent6"/>
          </a:solidFill>
          <a:ln/>
        </p:spPr>
      </p:sp>
      <p:pic>
        <p:nvPicPr>
          <p:cNvPr id="6" name="Image 0" descr="preencoded.png">    </p:cNvPr>
          <p:cNvPicPr>
            <a:picLocks noChangeAspect="1"/>
          </p:cNvPicPr>
          <p:nvPr/>
        </p:nvPicPr>
        <p:blipFill>
          <a:blip r:embed="rId1"/>
          <a:stretch>
            <a:fillRect/>
          </a:stretch>
        </p:blipFill>
        <p:spPr>
          <a:xfrm>
            <a:off x="885139" y="1845259"/>
            <a:ext cx="332842" cy="332842"/>
          </a:xfrm>
          <a:prstGeom prst="rect">
            <a:avLst/>
          </a:prstGeom>
        </p:spPr>
      </p:pic>
      <p:sp>
        <p:nvSpPr>
          <p:cNvPr id="7" name="Text 4"/>
          <p:cNvSpPr txBox="1"/>
          <p:nvPr/>
        </p:nvSpPr>
        <p:spPr>
          <a:xfrm>
            <a:off x="731520" y="2468880"/>
            <a:ext cx="210312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Heat the parts</a:t>
            </a:r>
            <a:endParaRPr lang="en-US" sz="1800" dirty="0"/>
          </a:p>
        </p:txBody>
      </p:sp>
      <p:sp>
        <p:nvSpPr>
          <p:cNvPr id="8" name="Text 5"/>
          <p:cNvSpPr txBox="1"/>
          <p:nvPr/>
        </p:nvSpPr>
        <p:spPr>
          <a:xfrm>
            <a:off x="731520" y="2880360"/>
            <a:ext cx="210312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The iron heats the pad and the component lead together</a:t>
            </a:r>
            <a:endParaRPr lang="en-US" sz="1300" dirty="0"/>
          </a:p>
        </p:txBody>
      </p:sp>
      <p:sp>
        <p:nvSpPr>
          <p:cNvPr id="9" name="Shape 6"/>
          <p:cNvSpPr/>
          <p:nvPr/>
        </p:nvSpPr>
        <p:spPr>
          <a:xfrm>
            <a:off x="3090672" y="2423160"/>
            <a:ext cx="164592" cy="228600"/>
          </a:xfrm>
          <a:prstGeom prst="rightArrow">
            <a:avLst/>
          </a:prstGeom>
          <a:solidFill>
            <a:schemeClr val="accent3"/>
          </a:solidFill>
          <a:ln/>
        </p:spPr>
      </p:sp>
      <p:sp>
        <p:nvSpPr>
          <p:cNvPr id="10" name="Shape 7"/>
          <p:cNvSpPr/>
          <p:nvPr/>
        </p:nvSpPr>
        <p:spPr>
          <a:xfrm>
            <a:off x="3273552" y="1508760"/>
            <a:ext cx="2606040" cy="2103120"/>
          </a:xfrm>
          <a:prstGeom prst="roundRect">
            <a:avLst>
              <a:gd name="adj" fmla="val 3478"/>
            </a:avLst>
          </a:prstGeom>
          <a:solidFill>
            <a:schemeClr val="bg2"/>
          </a:solidFill>
          <a:ln/>
        </p:spPr>
      </p:sp>
      <p:sp>
        <p:nvSpPr>
          <p:cNvPr id="11" name="Shape 8"/>
          <p:cNvSpPr/>
          <p:nvPr/>
        </p:nvSpPr>
        <p:spPr>
          <a:xfrm>
            <a:off x="3547872" y="1691640"/>
            <a:ext cx="640080" cy="64008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3701491" y="1845259"/>
            <a:ext cx="332842" cy="332842"/>
          </a:xfrm>
          <a:prstGeom prst="rect">
            <a:avLst/>
          </a:prstGeom>
        </p:spPr>
      </p:pic>
      <p:sp>
        <p:nvSpPr>
          <p:cNvPr id="13" name="Text 9"/>
          <p:cNvSpPr txBox="1"/>
          <p:nvPr/>
        </p:nvSpPr>
        <p:spPr>
          <a:xfrm>
            <a:off x="3547872" y="2468880"/>
            <a:ext cx="210312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Solder flows</a:t>
            </a:r>
            <a:endParaRPr lang="en-US" sz="1800" dirty="0"/>
          </a:p>
        </p:txBody>
      </p:sp>
      <p:sp>
        <p:nvSpPr>
          <p:cNvPr id="14" name="Text 10"/>
          <p:cNvSpPr txBox="1"/>
          <p:nvPr/>
        </p:nvSpPr>
        <p:spPr>
          <a:xfrm>
            <a:off x="3547872" y="2880360"/>
            <a:ext cx="210312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Melted solder is pulled toward heat and wraps the joint</a:t>
            </a:r>
            <a:endParaRPr lang="en-US" sz="1300" dirty="0"/>
          </a:p>
        </p:txBody>
      </p:sp>
      <p:sp>
        <p:nvSpPr>
          <p:cNvPr id="15" name="Shape 11"/>
          <p:cNvSpPr/>
          <p:nvPr/>
        </p:nvSpPr>
        <p:spPr>
          <a:xfrm>
            <a:off x="5907024" y="2423160"/>
            <a:ext cx="164592" cy="228600"/>
          </a:xfrm>
          <a:prstGeom prst="rightArrow">
            <a:avLst/>
          </a:prstGeom>
          <a:solidFill>
            <a:schemeClr val="accent3"/>
          </a:solidFill>
          <a:ln/>
        </p:spPr>
      </p:sp>
      <p:sp>
        <p:nvSpPr>
          <p:cNvPr id="16" name="Shape 12"/>
          <p:cNvSpPr/>
          <p:nvPr/>
        </p:nvSpPr>
        <p:spPr>
          <a:xfrm>
            <a:off x="6089904" y="1508760"/>
            <a:ext cx="2606040" cy="2103120"/>
          </a:xfrm>
          <a:prstGeom prst="roundRect">
            <a:avLst>
              <a:gd name="adj" fmla="val 3478"/>
            </a:avLst>
          </a:prstGeom>
          <a:solidFill>
            <a:schemeClr val="bg2"/>
          </a:solidFill>
          <a:ln/>
        </p:spPr>
      </p:sp>
      <p:sp>
        <p:nvSpPr>
          <p:cNvPr id="17" name="Shape 13"/>
          <p:cNvSpPr/>
          <p:nvPr/>
        </p:nvSpPr>
        <p:spPr>
          <a:xfrm>
            <a:off x="6364224" y="1691640"/>
            <a:ext cx="640080" cy="640080"/>
          </a:xfrm>
          <a:prstGeom prst="ellipse">
            <a:avLst/>
          </a:prstGeom>
          <a:solidFill>
            <a:schemeClr val="accent1"/>
          </a:solidFill>
          <a:ln/>
        </p:spPr>
      </p:sp>
      <p:pic>
        <p:nvPicPr>
          <p:cNvPr id="18" name="Image 2" descr="preencoded.png">    </p:cNvPr>
          <p:cNvPicPr>
            <a:picLocks noChangeAspect="1"/>
          </p:cNvPicPr>
          <p:nvPr/>
        </p:nvPicPr>
        <p:blipFill>
          <a:blip r:embed="rId3"/>
          <a:stretch>
            <a:fillRect/>
          </a:stretch>
        </p:blipFill>
        <p:spPr>
          <a:xfrm>
            <a:off x="6517843" y="1845259"/>
            <a:ext cx="332842" cy="332842"/>
          </a:xfrm>
          <a:prstGeom prst="rect">
            <a:avLst/>
          </a:prstGeom>
        </p:spPr>
      </p:pic>
      <p:sp>
        <p:nvSpPr>
          <p:cNvPr id="19" name="Text 14"/>
          <p:cNvSpPr txBox="1"/>
          <p:nvPr/>
        </p:nvSpPr>
        <p:spPr>
          <a:xfrm>
            <a:off x="6364224" y="2468880"/>
            <a:ext cx="210312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It bonds</a:t>
            </a:r>
            <a:endParaRPr lang="en-US" sz="1800" dirty="0"/>
          </a:p>
        </p:txBody>
      </p:sp>
      <p:sp>
        <p:nvSpPr>
          <p:cNvPr id="20" name="Text 15"/>
          <p:cNvSpPr txBox="1"/>
          <p:nvPr/>
        </p:nvSpPr>
        <p:spPr>
          <a:xfrm>
            <a:off x="6364224" y="2880360"/>
            <a:ext cx="210312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Solder bonds with the copper as it cools, so it's not glue</a:t>
            </a:r>
            <a:endParaRPr lang="en-US" sz="1300" dirty="0"/>
          </a:p>
        </p:txBody>
      </p:sp>
      <p:sp>
        <p:nvSpPr>
          <p:cNvPr id="21" name="Shape 16"/>
          <p:cNvSpPr/>
          <p:nvPr/>
        </p:nvSpPr>
        <p:spPr>
          <a:xfrm>
            <a:off x="457200" y="3794760"/>
            <a:ext cx="8229600" cy="777240"/>
          </a:xfrm>
          <a:prstGeom prst="roundRect">
            <a:avLst>
              <a:gd name="adj" fmla="val 9412"/>
            </a:avLst>
          </a:prstGeom>
          <a:solidFill>
            <a:schemeClr val="accent1"/>
          </a:solidFill>
          <a:ln/>
        </p:spPr>
      </p:sp>
      <p:sp>
        <p:nvSpPr>
          <p:cNvPr id="22" name="Text 17"/>
          <p:cNvSpPr txBox="1"/>
          <p:nvPr/>
        </p:nvSpPr>
        <p:spPr>
          <a:xfrm>
            <a:off x="685800" y="3794760"/>
            <a:ext cx="7772400" cy="777240"/>
          </a:xfrm>
          <a:prstGeom prst="rect">
            <a:avLst/>
          </a:prstGeom>
          <a:noFill/>
          <a:ln/>
        </p:spPr>
        <p:txBody>
          <a:bodyPr wrap="square" lIns="0" tIns="0" rIns="0" bIns="0" rtlCol="0" anchor="ctr"/>
          <a:lstStyle/>
          <a:p>
            <a:pPr indent="0" marL="0">
              <a:buNone/>
            </a:pPr>
            <a:r>
              <a:rPr lang="en-US" sz="1400" b="1" dirty="0">
                <a:solidFill>
                  <a:schemeClr val="accent3"/>
                </a:solidFill>
                <a:latin typeface="Calibri" pitchFamily="34" charset="0"/>
                <a:ea typeface="Calibri" pitchFamily="34" charset="-122"/>
                <a:cs typeface="Calibri" pitchFamily="34" charset="-120"/>
              </a:rPr>
              <a:t>The golden rule: </a:t>
            </a:r>
            <a:pPr indent="0" marL="0">
              <a:buNone/>
            </a:pPr>
            <a:r>
              <a:rPr lang="en-US" sz="1400" dirty="0">
                <a:solidFill>
                  <a:schemeClr val="bg1"/>
                </a:solidFill>
                <a:latin typeface="Calibri" pitchFamily="34" charset="0"/>
                <a:ea typeface="Calibri" pitchFamily="34" charset="-122"/>
                <a:cs typeface="Calibri" pitchFamily="34" charset="-120"/>
              </a:rPr>
              <a:t>heat the joint, not the solder. If you melt solder onto a cold part, it won't stick.</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Watch first</a:t>
            </a:r>
            <a:endParaRPr lang="en-US" sz="3000" dirty="0"/>
          </a:p>
        </p:txBody>
      </p:sp>
      <p:sp>
        <p:nvSpPr>
          <p:cNvPr id="3" name="Shape 1"/>
          <p:cNvSpPr/>
          <p:nvPr/>
        </p:nvSpPr>
        <p:spPr>
          <a:xfrm>
            <a:off x="457200" y="1097280"/>
            <a:ext cx="5120640" cy="3474720"/>
          </a:xfrm>
          <a:prstGeom prst="roundRect">
            <a:avLst>
              <a:gd name="adj" fmla="val 2105"/>
            </a:avLst>
          </a:prstGeom>
          <a:solidFill>
            <a:schemeClr val="bg2"/>
          </a:solidFill>
          <a:ln/>
        </p:spPr>
      </p:sp>
      <p:pic>
        <p:nvPicPr>
          <p:cNvPr id="4" name="Image 0" descr="/tmp/work/smedia/image1.jpg">
            <a:hlinkClick r:id="rId2" tooltip=""/>
          </p:cNvPr>
          <p:cNvPicPr>
            <a:picLocks noChangeAspect="1"/>
          </p:cNvPicPr>
          <p:nvPr/>
        </p:nvPicPr>
        <p:blipFill>
          <a:blip r:embed="rId1"/>
          <a:stretch>
            <a:fillRect/>
          </a:stretch>
        </p:blipFill>
        <p:spPr>
          <a:xfrm>
            <a:off x="640080" y="1280160"/>
            <a:ext cx="4754880" cy="2674620"/>
          </a:xfrm>
          <a:prstGeom prst="rect">
            <a:avLst/>
          </a:prstGeom>
        </p:spPr>
      </p:pic>
      <p:sp>
        <p:nvSpPr>
          <p:cNvPr id="5" name="Text 2"/>
          <p:cNvSpPr txBox="1"/>
          <p:nvPr/>
        </p:nvSpPr>
        <p:spPr>
          <a:xfrm>
            <a:off x="640080" y="4069080"/>
            <a:ext cx="4754880" cy="365760"/>
          </a:xfrm>
          <a:prstGeom prst="rect">
            <a:avLst/>
          </a:prstGeom>
          <a:noFill/>
          <a:ln/>
        </p:spPr>
        <p:txBody>
          <a:bodyPr wrap="square" lIns="0" tIns="0" rIns="0" bIns="0" rtlCol="0" anchor="t"/>
          <a:lstStyle/>
          <a:p>
            <a:pPr indent="0" marL="0">
              <a:buNone/>
            </a:pPr>
            <a:r>
              <a:rPr lang="en-US" sz="1300" b="1" u="sng" dirty="0">
                <a:solidFill>
                  <a:schemeClr val="accent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Soldering Crash Course (click to open)</a:t>
            </a:r>
            <a:endParaRPr lang="en-US" sz="1300" dirty="0"/>
          </a:p>
        </p:txBody>
      </p:sp>
      <p:sp>
        <p:nvSpPr>
          <p:cNvPr id="6" name="Shape 3"/>
          <p:cNvSpPr/>
          <p:nvPr/>
        </p:nvSpPr>
        <p:spPr>
          <a:xfrm>
            <a:off x="5852160" y="1097280"/>
            <a:ext cx="2834640" cy="3474720"/>
          </a:xfrm>
          <a:prstGeom prst="roundRect">
            <a:avLst>
              <a:gd name="adj" fmla="val 2581"/>
            </a:avLst>
          </a:prstGeom>
          <a:solidFill>
            <a:schemeClr val="accent1"/>
          </a:solidFill>
          <a:ln/>
        </p:spPr>
      </p:sp>
      <p:sp>
        <p:nvSpPr>
          <p:cNvPr id="7" name="Text 4"/>
          <p:cNvSpPr txBox="1"/>
          <p:nvPr/>
        </p:nvSpPr>
        <p:spPr>
          <a:xfrm>
            <a:off x="6080760" y="1280160"/>
            <a:ext cx="2468880" cy="411480"/>
          </a:xfrm>
          <a:prstGeom prst="rect">
            <a:avLst/>
          </a:prstGeom>
          <a:noFill/>
          <a:ln/>
        </p:spPr>
        <p:txBody>
          <a:bodyPr wrap="square" lIns="0" tIns="0" rIns="0" bIns="0" rtlCol="0" anchor="t"/>
          <a:lstStyle/>
          <a:p>
            <a:pPr indent="0" marL="0">
              <a:buNone/>
            </a:pPr>
            <a:r>
              <a:rPr lang="en-US" sz="1800" b="1" dirty="0">
                <a:solidFill>
                  <a:schemeClr val="accent3"/>
                </a:solidFill>
                <a:latin typeface="Cambria" pitchFamily="34" charset="0"/>
                <a:ea typeface="Cambria" pitchFamily="34" charset="-122"/>
                <a:cs typeface="Cambria" pitchFamily="34" charset="-120"/>
              </a:rPr>
              <a:t>Watch for:</a:t>
            </a:r>
            <a:endParaRPr lang="en-US" sz="1800" dirty="0"/>
          </a:p>
        </p:txBody>
      </p:sp>
      <p:sp>
        <p:nvSpPr>
          <p:cNvPr id="8" name="Text 5"/>
          <p:cNvSpPr txBox="1"/>
          <p:nvPr/>
        </p:nvSpPr>
        <p:spPr>
          <a:xfrm>
            <a:off x="6080760" y="1783080"/>
            <a:ext cx="246888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Where the iron touches the joint</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Which side the solder is fed from</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How long each joint takes</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What a finished joint looks like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Your soldering station</a:t>
            </a:r>
            <a:endParaRPr lang="en-US" sz="3000" dirty="0"/>
          </a:p>
        </p:txBody>
      </p:sp>
      <p:sp>
        <p:nvSpPr>
          <p:cNvPr id="3" name="Shape 1"/>
          <p:cNvSpPr/>
          <p:nvPr/>
        </p:nvSpPr>
        <p:spPr>
          <a:xfrm>
            <a:off x="457200" y="1097280"/>
            <a:ext cx="4846320" cy="3474720"/>
          </a:xfrm>
          <a:prstGeom prst="roundRect">
            <a:avLst>
              <a:gd name="adj" fmla="val 2105"/>
            </a:avLst>
          </a:prstGeom>
          <a:solidFill>
            <a:schemeClr val="bg1"/>
          </a:solidFill>
          <a:ln/>
        </p:spPr>
      </p:sp>
      <p:sp>
        <p:nvSpPr>
          <p:cNvPr id="4" name="Shape 2"/>
          <p:cNvSpPr/>
          <p:nvPr/>
        </p:nvSpPr>
        <p:spPr>
          <a:xfrm>
            <a:off x="457200" y="1097280"/>
            <a:ext cx="4846320" cy="3474720"/>
          </a:xfrm>
          <a:prstGeom prst="roundRect">
            <a:avLst>
              <a:gd name="adj" fmla="val 2105"/>
            </a:avLst>
          </a:prstGeom>
          <a:ln w="9525">
            <a:solidFill>
              <a:srgbClr val="D5DED7"/>
            </a:solidFill>
            <a:prstDash val="solid"/>
          </a:ln>
        </p:spPr>
      </p:sp>
      <p:pic>
        <p:nvPicPr>
          <p:cNvPr id="5" name="Image 0" descr="/tmp/work/smedia/image16.jpg">    </p:cNvPr>
          <p:cNvPicPr>
            <a:picLocks noChangeAspect="1"/>
          </p:cNvPicPr>
          <p:nvPr/>
        </p:nvPicPr>
        <p:blipFill>
          <a:blip r:embed="rId1"/>
          <a:stretch>
            <a:fillRect/>
          </a:stretch>
        </p:blipFill>
        <p:spPr>
          <a:xfrm>
            <a:off x="661416" y="1170432"/>
            <a:ext cx="4437888" cy="3328416"/>
          </a:xfrm>
          <a:prstGeom prst="rect">
            <a:avLst/>
          </a:prstGeom>
        </p:spPr>
      </p:pic>
      <p:sp>
        <p:nvSpPr>
          <p:cNvPr id="6" name="Text 3"/>
          <p:cNvSpPr txBox="1"/>
          <p:nvPr/>
        </p:nvSpPr>
        <p:spPr>
          <a:xfrm>
            <a:off x="5577840" y="1097280"/>
            <a:ext cx="3108960" cy="365760"/>
          </a:xfrm>
          <a:prstGeom prst="rect">
            <a:avLst/>
          </a:prstGeom>
          <a:noFill/>
          <a:ln/>
        </p:spPr>
        <p:txBody>
          <a:bodyPr wrap="square" lIns="0" tIns="0" rIns="0" bIns="0" rtlCol="0" anchor="t"/>
          <a:lstStyle/>
          <a:p>
            <a:pPr indent="0" marL="0">
              <a:buNone/>
            </a:pPr>
            <a:r>
              <a:rPr lang="en-US" sz="1400" i="1" dirty="0">
                <a:solidFill>
                  <a:schemeClr val="accent2"/>
                </a:solidFill>
                <a:latin typeface="Calibri" pitchFamily="34" charset="0"/>
                <a:ea typeface="Calibri" pitchFamily="34" charset="-122"/>
                <a:cs typeface="Calibri" pitchFamily="34" charset="-120"/>
              </a:rPr>
              <a:t>Equipment is in CAS 113 and CAS 117</a:t>
            </a:r>
            <a:endParaRPr lang="en-US" sz="1400" dirty="0"/>
          </a:p>
        </p:txBody>
      </p:sp>
      <p:sp>
        <p:nvSpPr>
          <p:cNvPr id="7" name="Shape 4"/>
          <p:cNvSpPr/>
          <p:nvPr/>
        </p:nvSpPr>
        <p:spPr>
          <a:xfrm>
            <a:off x="5577840" y="1554480"/>
            <a:ext cx="3108960" cy="411480"/>
          </a:xfrm>
          <a:prstGeom prst="roundRect">
            <a:avLst>
              <a:gd name="adj" fmla="val 17778"/>
            </a:avLst>
          </a:prstGeom>
          <a:solidFill>
            <a:schemeClr val="bg2"/>
          </a:solidFill>
          <a:ln/>
        </p:spPr>
      </p:sp>
      <p:pic>
        <p:nvPicPr>
          <p:cNvPr id="8" name="Image 1" descr="preencoded.png">    </p:cNvPr>
          <p:cNvPicPr>
            <a:picLocks noChangeAspect="1"/>
          </p:cNvPicPr>
          <p:nvPr/>
        </p:nvPicPr>
        <p:blipFill>
          <a:blip r:embed="rId2"/>
          <a:stretch>
            <a:fillRect/>
          </a:stretch>
        </p:blipFill>
        <p:spPr>
          <a:xfrm>
            <a:off x="5687568" y="1627632"/>
            <a:ext cx="256032" cy="256032"/>
          </a:xfrm>
          <a:prstGeom prst="rect">
            <a:avLst/>
          </a:prstGeom>
        </p:spPr>
      </p:pic>
      <p:sp>
        <p:nvSpPr>
          <p:cNvPr id="9" name="Text 5"/>
          <p:cNvSpPr txBox="1"/>
          <p:nvPr/>
        </p:nvSpPr>
        <p:spPr>
          <a:xfrm>
            <a:off x="6035040" y="1554480"/>
            <a:ext cx="2606040" cy="4114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Soldering iron + stand</a:t>
            </a:r>
            <a:endParaRPr lang="en-US" sz="1300" dirty="0"/>
          </a:p>
        </p:txBody>
      </p:sp>
      <p:sp>
        <p:nvSpPr>
          <p:cNvPr id="10" name="Shape 6"/>
          <p:cNvSpPr/>
          <p:nvPr/>
        </p:nvSpPr>
        <p:spPr>
          <a:xfrm>
            <a:off x="5577840" y="2057400"/>
            <a:ext cx="3108960" cy="411480"/>
          </a:xfrm>
          <a:prstGeom prst="roundRect">
            <a:avLst>
              <a:gd name="adj" fmla="val 17778"/>
            </a:avLst>
          </a:prstGeom>
          <a:solidFill>
            <a:schemeClr val="bg2"/>
          </a:solidFill>
          <a:ln/>
        </p:spPr>
      </p:sp>
      <p:pic>
        <p:nvPicPr>
          <p:cNvPr id="11" name="Image 2" descr="preencoded.png">    </p:cNvPr>
          <p:cNvPicPr>
            <a:picLocks noChangeAspect="1"/>
          </p:cNvPicPr>
          <p:nvPr/>
        </p:nvPicPr>
        <p:blipFill>
          <a:blip r:embed="rId3"/>
          <a:stretch>
            <a:fillRect/>
          </a:stretch>
        </p:blipFill>
        <p:spPr>
          <a:xfrm>
            <a:off x="5687568" y="2130552"/>
            <a:ext cx="256032" cy="256032"/>
          </a:xfrm>
          <a:prstGeom prst="rect">
            <a:avLst/>
          </a:prstGeom>
        </p:spPr>
      </p:pic>
      <p:sp>
        <p:nvSpPr>
          <p:cNvPr id="12" name="Text 7"/>
          <p:cNvSpPr txBox="1"/>
          <p:nvPr/>
        </p:nvSpPr>
        <p:spPr>
          <a:xfrm>
            <a:off x="6035040" y="2057400"/>
            <a:ext cx="2606040" cy="4114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Fume absorber</a:t>
            </a:r>
            <a:endParaRPr lang="en-US" sz="1300" dirty="0"/>
          </a:p>
        </p:txBody>
      </p:sp>
      <p:sp>
        <p:nvSpPr>
          <p:cNvPr id="13" name="Shape 8"/>
          <p:cNvSpPr/>
          <p:nvPr/>
        </p:nvSpPr>
        <p:spPr>
          <a:xfrm>
            <a:off x="5577840" y="2560320"/>
            <a:ext cx="3108960" cy="411480"/>
          </a:xfrm>
          <a:prstGeom prst="roundRect">
            <a:avLst>
              <a:gd name="adj" fmla="val 17778"/>
            </a:avLst>
          </a:prstGeom>
          <a:solidFill>
            <a:schemeClr val="bg2"/>
          </a:solidFill>
          <a:ln/>
        </p:spPr>
      </p:sp>
      <p:pic>
        <p:nvPicPr>
          <p:cNvPr id="14" name="Image 3" descr="preencoded.png">    </p:cNvPr>
          <p:cNvPicPr>
            <a:picLocks noChangeAspect="1"/>
          </p:cNvPicPr>
          <p:nvPr/>
        </p:nvPicPr>
        <p:blipFill>
          <a:blip r:embed="rId4"/>
          <a:stretch>
            <a:fillRect/>
          </a:stretch>
        </p:blipFill>
        <p:spPr>
          <a:xfrm>
            <a:off x="5687568" y="2633472"/>
            <a:ext cx="256032" cy="256032"/>
          </a:xfrm>
          <a:prstGeom prst="rect">
            <a:avLst/>
          </a:prstGeom>
        </p:spPr>
      </p:pic>
      <p:sp>
        <p:nvSpPr>
          <p:cNvPr id="15" name="Text 9"/>
          <p:cNvSpPr txBox="1"/>
          <p:nvPr/>
        </p:nvSpPr>
        <p:spPr>
          <a:xfrm>
            <a:off x="6035040" y="2560320"/>
            <a:ext cx="2606040" cy="4114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Support equipment (holds your work)</a:t>
            </a:r>
            <a:endParaRPr lang="en-US" sz="1300" dirty="0"/>
          </a:p>
        </p:txBody>
      </p:sp>
      <p:sp>
        <p:nvSpPr>
          <p:cNvPr id="16" name="Shape 10"/>
          <p:cNvSpPr/>
          <p:nvPr/>
        </p:nvSpPr>
        <p:spPr>
          <a:xfrm>
            <a:off x="5577840" y="3063240"/>
            <a:ext cx="3108960" cy="411480"/>
          </a:xfrm>
          <a:prstGeom prst="roundRect">
            <a:avLst>
              <a:gd name="adj" fmla="val 17778"/>
            </a:avLst>
          </a:prstGeom>
          <a:solidFill>
            <a:schemeClr val="bg2"/>
          </a:solidFill>
          <a:ln/>
        </p:spPr>
      </p:sp>
      <p:pic>
        <p:nvPicPr>
          <p:cNvPr id="17" name="Image 4" descr="preencoded.png">    </p:cNvPr>
          <p:cNvPicPr>
            <a:picLocks noChangeAspect="1"/>
          </p:cNvPicPr>
          <p:nvPr/>
        </p:nvPicPr>
        <p:blipFill>
          <a:blip r:embed="rId5"/>
          <a:stretch>
            <a:fillRect/>
          </a:stretch>
        </p:blipFill>
        <p:spPr>
          <a:xfrm>
            <a:off x="5687568" y="3136392"/>
            <a:ext cx="256032" cy="256032"/>
          </a:xfrm>
          <a:prstGeom prst="rect">
            <a:avLst/>
          </a:prstGeom>
        </p:spPr>
      </p:pic>
      <p:sp>
        <p:nvSpPr>
          <p:cNvPr id="18" name="Text 11"/>
          <p:cNvSpPr txBox="1"/>
          <p:nvPr/>
        </p:nvSpPr>
        <p:spPr>
          <a:xfrm>
            <a:off x="6035040" y="3063240"/>
            <a:ext cx="2606040" cy="4114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Solder + flux</a:t>
            </a:r>
            <a:endParaRPr lang="en-US" sz="1300" dirty="0"/>
          </a:p>
        </p:txBody>
      </p:sp>
      <p:sp>
        <p:nvSpPr>
          <p:cNvPr id="19" name="Shape 12"/>
          <p:cNvSpPr/>
          <p:nvPr/>
        </p:nvSpPr>
        <p:spPr>
          <a:xfrm>
            <a:off x="5577840" y="3566160"/>
            <a:ext cx="3108960" cy="411480"/>
          </a:xfrm>
          <a:prstGeom prst="roundRect">
            <a:avLst>
              <a:gd name="adj" fmla="val 17778"/>
            </a:avLst>
          </a:prstGeom>
          <a:solidFill>
            <a:schemeClr val="bg2"/>
          </a:solidFill>
          <a:ln/>
        </p:spPr>
      </p:sp>
      <p:pic>
        <p:nvPicPr>
          <p:cNvPr id="20" name="Image 5" descr="preencoded.png">    </p:cNvPr>
          <p:cNvPicPr>
            <a:picLocks noChangeAspect="1"/>
          </p:cNvPicPr>
          <p:nvPr/>
        </p:nvPicPr>
        <p:blipFill>
          <a:blip r:embed="rId6"/>
          <a:stretch>
            <a:fillRect/>
          </a:stretch>
        </p:blipFill>
        <p:spPr>
          <a:xfrm>
            <a:off x="5687568" y="3639312"/>
            <a:ext cx="256032" cy="256032"/>
          </a:xfrm>
          <a:prstGeom prst="rect">
            <a:avLst/>
          </a:prstGeom>
        </p:spPr>
      </p:pic>
      <p:sp>
        <p:nvSpPr>
          <p:cNvPr id="21" name="Text 13"/>
          <p:cNvSpPr txBox="1"/>
          <p:nvPr/>
        </p:nvSpPr>
        <p:spPr>
          <a:xfrm>
            <a:off x="6035040" y="3566160"/>
            <a:ext cx="2606040" cy="4114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Wire strippers + flush cutters</a:t>
            </a:r>
            <a:endParaRPr lang="en-US" sz="1300" dirty="0"/>
          </a:p>
        </p:txBody>
      </p:sp>
      <p:sp>
        <p:nvSpPr>
          <p:cNvPr id="22" name="Shape 14"/>
          <p:cNvSpPr/>
          <p:nvPr/>
        </p:nvSpPr>
        <p:spPr>
          <a:xfrm>
            <a:off x="5577840" y="4069080"/>
            <a:ext cx="3108960" cy="411480"/>
          </a:xfrm>
          <a:prstGeom prst="roundRect">
            <a:avLst>
              <a:gd name="adj" fmla="val 17778"/>
            </a:avLst>
          </a:prstGeom>
          <a:solidFill>
            <a:schemeClr val="bg2"/>
          </a:solidFill>
          <a:ln/>
        </p:spPr>
      </p:sp>
      <p:pic>
        <p:nvPicPr>
          <p:cNvPr id="23" name="Image 6" descr="preencoded.png">    </p:cNvPr>
          <p:cNvPicPr>
            <a:picLocks noChangeAspect="1"/>
          </p:cNvPicPr>
          <p:nvPr/>
        </p:nvPicPr>
        <p:blipFill>
          <a:blip r:embed="rId7"/>
          <a:stretch>
            <a:fillRect/>
          </a:stretch>
        </p:blipFill>
        <p:spPr>
          <a:xfrm>
            <a:off x="5687568" y="4142232"/>
            <a:ext cx="256032" cy="256032"/>
          </a:xfrm>
          <a:prstGeom prst="rect">
            <a:avLst/>
          </a:prstGeom>
        </p:spPr>
      </p:pic>
      <p:sp>
        <p:nvSpPr>
          <p:cNvPr id="24" name="Text 15"/>
          <p:cNvSpPr txBox="1"/>
          <p:nvPr/>
        </p:nvSpPr>
        <p:spPr>
          <a:xfrm>
            <a:off x="6035040" y="4069080"/>
            <a:ext cx="2606040" cy="4114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Safety glasses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Tools &amp; materials</a:t>
            </a:r>
            <a:endParaRPr lang="en-US" sz="3000" dirty="0"/>
          </a:p>
        </p:txBody>
      </p:sp>
      <p:sp>
        <p:nvSpPr>
          <p:cNvPr id="3" name="Shape 1"/>
          <p:cNvSpPr/>
          <p:nvPr/>
        </p:nvSpPr>
        <p:spPr>
          <a:xfrm>
            <a:off x="457200" y="1051560"/>
            <a:ext cx="1965960" cy="1737360"/>
          </a:xfrm>
          <a:prstGeom prst="roundRect">
            <a:avLst>
              <a:gd name="adj" fmla="val 4211"/>
            </a:avLst>
          </a:prstGeom>
          <a:solidFill>
            <a:schemeClr val="bg2"/>
          </a:solidFill>
          <a:ln/>
        </p:spPr>
      </p:sp>
      <p:sp>
        <p:nvSpPr>
          <p:cNvPr id="4" name="Shape 2"/>
          <p:cNvSpPr/>
          <p:nvPr/>
        </p:nvSpPr>
        <p:spPr>
          <a:xfrm>
            <a:off x="548640" y="1143000"/>
            <a:ext cx="1783080" cy="868680"/>
          </a:xfrm>
          <a:prstGeom prst="roundRect">
            <a:avLst>
              <a:gd name="adj" fmla="val 8421"/>
            </a:avLst>
          </a:prstGeom>
          <a:solidFill>
            <a:schemeClr val="bg1"/>
          </a:solidFill>
          <a:ln/>
        </p:spPr>
      </p:sp>
      <p:pic>
        <p:nvPicPr>
          <p:cNvPr id="5" name="Image 0" descr="/tmp/work/smedia/image10.jpg">    </p:cNvPr>
          <p:cNvPicPr>
            <a:picLocks noChangeAspect="1"/>
          </p:cNvPicPr>
          <p:nvPr/>
        </p:nvPicPr>
        <p:blipFill>
          <a:blip r:embed="rId1"/>
          <a:stretch>
            <a:fillRect/>
          </a:stretch>
        </p:blipFill>
        <p:spPr>
          <a:xfrm>
            <a:off x="594360" y="1241690"/>
            <a:ext cx="1691640" cy="662156"/>
          </a:xfrm>
          <a:prstGeom prst="rect">
            <a:avLst/>
          </a:prstGeom>
        </p:spPr>
      </p:pic>
      <p:sp>
        <p:nvSpPr>
          <p:cNvPr id="6" name="Text 3"/>
          <p:cNvSpPr txBox="1"/>
          <p:nvPr/>
        </p:nvSpPr>
        <p:spPr>
          <a:xfrm>
            <a:off x="566928" y="2057400"/>
            <a:ext cx="1783080" cy="27432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Soldering iron</a:t>
            </a:r>
            <a:endParaRPr lang="en-US" sz="1300" dirty="0"/>
          </a:p>
        </p:txBody>
      </p:sp>
      <p:sp>
        <p:nvSpPr>
          <p:cNvPr id="7" name="Text 4"/>
          <p:cNvSpPr txBox="1"/>
          <p:nvPr/>
        </p:nvSpPr>
        <p:spPr>
          <a:xfrm>
            <a:off x="566928" y="2331720"/>
            <a:ext cx="1783080" cy="41148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Heated tip melts solder; station sets temperature</a:t>
            </a:r>
            <a:endParaRPr lang="en-US" sz="1100" dirty="0"/>
          </a:p>
        </p:txBody>
      </p:sp>
      <p:sp>
        <p:nvSpPr>
          <p:cNvPr id="8" name="Shape 5"/>
          <p:cNvSpPr/>
          <p:nvPr/>
        </p:nvSpPr>
        <p:spPr>
          <a:xfrm>
            <a:off x="2560320" y="1051560"/>
            <a:ext cx="1965960" cy="1737360"/>
          </a:xfrm>
          <a:prstGeom prst="roundRect">
            <a:avLst>
              <a:gd name="adj" fmla="val 4211"/>
            </a:avLst>
          </a:prstGeom>
          <a:solidFill>
            <a:schemeClr val="bg2"/>
          </a:solidFill>
          <a:ln/>
        </p:spPr>
      </p:sp>
      <p:sp>
        <p:nvSpPr>
          <p:cNvPr id="9" name="Shape 6"/>
          <p:cNvSpPr/>
          <p:nvPr/>
        </p:nvSpPr>
        <p:spPr>
          <a:xfrm>
            <a:off x="2651760" y="1143000"/>
            <a:ext cx="1783080" cy="868680"/>
          </a:xfrm>
          <a:prstGeom prst="roundRect">
            <a:avLst>
              <a:gd name="adj" fmla="val 8421"/>
            </a:avLst>
          </a:prstGeom>
          <a:solidFill>
            <a:schemeClr val="bg1"/>
          </a:solidFill>
          <a:ln/>
        </p:spPr>
      </p:sp>
      <p:pic>
        <p:nvPicPr>
          <p:cNvPr id="10" name="Image 1" descr="/tmp/work/smedia/image15.jpg">    </p:cNvPr>
          <p:cNvPicPr>
            <a:picLocks noChangeAspect="1"/>
          </p:cNvPicPr>
          <p:nvPr/>
        </p:nvPicPr>
        <p:blipFill>
          <a:blip r:embed="rId2"/>
          <a:stretch>
            <a:fillRect/>
          </a:stretch>
        </p:blipFill>
        <p:spPr>
          <a:xfrm>
            <a:off x="3015409" y="1161288"/>
            <a:ext cx="1055782" cy="822960"/>
          </a:xfrm>
          <a:prstGeom prst="rect">
            <a:avLst/>
          </a:prstGeom>
        </p:spPr>
      </p:pic>
      <p:sp>
        <p:nvSpPr>
          <p:cNvPr id="11" name="Text 7"/>
          <p:cNvSpPr txBox="1"/>
          <p:nvPr/>
        </p:nvSpPr>
        <p:spPr>
          <a:xfrm>
            <a:off x="2670048" y="2057400"/>
            <a:ext cx="1783080" cy="27432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Solder</a:t>
            </a:r>
            <a:endParaRPr lang="en-US" sz="1300" dirty="0"/>
          </a:p>
        </p:txBody>
      </p:sp>
      <p:sp>
        <p:nvSpPr>
          <p:cNvPr id="12" name="Text 8"/>
          <p:cNvSpPr txBox="1"/>
          <p:nvPr/>
        </p:nvSpPr>
        <p:spPr>
          <a:xfrm>
            <a:off x="2670048" y="2331720"/>
            <a:ext cx="1783080" cy="41148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Metal alloy wire that forms the bond</a:t>
            </a:r>
            <a:endParaRPr lang="en-US" sz="1100" dirty="0"/>
          </a:p>
        </p:txBody>
      </p:sp>
      <p:sp>
        <p:nvSpPr>
          <p:cNvPr id="13" name="Shape 9"/>
          <p:cNvSpPr/>
          <p:nvPr/>
        </p:nvSpPr>
        <p:spPr>
          <a:xfrm>
            <a:off x="4663440" y="1051560"/>
            <a:ext cx="1965960" cy="1737360"/>
          </a:xfrm>
          <a:prstGeom prst="roundRect">
            <a:avLst>
              <a:gd name="adj" fmla="val 4211"/>
            </a:avLst>
          </a:prstGeom>
          <a:solidFill>
            <a:schemeClr val="bg2"/>
          </a:solidFill>
          <a:ln/>
        </p:spPr>
      </p:sp>
      <p:sp>
        <p:nvSpPr>
          <p:cNvPr id="14" name="Shape 10"/>
          <p:cNvSpPr/>
          <p:nvPr/>
        </p:nvSpPr>
        <p:spPr>
          <a:xfrm>
            <a:off x="4754880" y="1143000"/>
            <a:ext cx="1783080" cy="868680"/>
          </a:xfrm>
          <a:prstGeom prst="roundRect">
            <a:avLst>
              <a:gd name="adj" fmla="val 8421"/>
            </a:avLst>
          </a:prstGeom>
          <a:solidFill>
            <a:schemeClr val="bg1"/>
          </a:solidFill>
          <a:ln/>
        </p:spPr>
      </p:sp>
      <p:pic>
        <p:nvPicPr>
          <p:cNvPr id="15" name="Image 2" descr="/tmp/work/smedia/image3.jpg">    </p:cNvPr>
          <p:cNvPicPr>
            <a:picLocks noChangeAspect="1"/>
          </p:cNvPicPr>
          <p:nvPr/>
        </p:nvPicPr>
        <p:blipFill>
          <a:blip r:embed="rId3"/>
          <a:stretch>
            <a:fillRect/>
          </a:stretch>
        </p:blipFill>
        <p:spPr>
          <a:xfrm>
            <a:off x="5015454" y="1161288"/>
            <a:ext cx="1261932" cy="822960"/>
          </a:xfrm>
          <a:prstGeom prst="rect">
            <a:avLst/>
          </a:prstGeom>
        </p:spPr>
      </p:pic>
      <p:sp>
        <p:nvSpPr>
          <p:cNvPr id="16" name="Text 11"/>
          <p:cNvSpPr txBox="1"/>
          <p:nvPr/>
        </p:nvSpPr>
        <p:spPr>
          <a:xfrm>
            <a:off x="4773168" y="2057400"/>
            <a:ext cx="1783080" cy="27432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Flux</a:t>
            </a:r>
            <a:endParaRPr lang="en-US" sz="1300" dirty="0"/>
          </a:p>
        </p:txBody>
      </p:sp>
      <p:sp>
        <p:nvSpPr>
          <p:cNvPr id="17" name="Text 12"/>
          <p:cNvSpPr txBox="1"/>
          <p:nvPr/>
        </p:nvSpPr>
        <p:spPr>
          <a:xfrm>
            <a:off x="4773168" y="2331720"/>
            <a:ext cx="1783080" cy="41148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Cleans oxidation so solder sticks</a:t>
            </a:r>
            <a:endParaRPr lang="en-US" sz="1100" dirty="0"/>
          </a:p>
        </p:txBody>
      </p:sp>
      <p:sp>
        <p:nvSpPr>
          <p:cNvPr id="18" name="Shape 13"/>
          <p:cNvSpPr/>
          <p:nvPr/>
        </p:nvSpPr>
        <p:spPr>
          <a:xfrm>
            <a:off x="6766560" y="1051560"/>
            <a:ext cx="1965960" cy="1737360"/>
          </a:xfrm>
          <a:prstGeom prst="roundRect">
            <a:avLst>
              <a:gd name="adj" fmla="val 4211"/>
            </a:avLst>
          </a:prstGeom>
          <a:solidFill>
            <a:schemeClr val="bg2"/>
          </a:solidFill>
          <a:ln/>
        </p:spPr>
      </p:sp>
      <p:sp>
        <p:nvSpPr>
          <p:cNvPr id="19" name="Shape 14"/>
          <p:cNvSpPr/>
          <p:nvPr/>
        </p:nvSpPr>
        <p:spPr>
          <a:xfrm>
            <a:off x="6858000" y="1143000"/>
            <a:ext cx="1783080" cy="868680"/>
          </a:xfrm>
          <a:prstGeom prst="roundRect">
            <a:avLst>
              <a:gd name="adj" fmla="val 8421"/>
            </a:avLst>
          </a:prstGeom>
          <a:solidFill>
            <a:schemeClr val="bg1"/>
          </a:solidFill>
          <a:ln/>
        </p:spPr>
      </p:sp>
      <p:pic>
        <p:nvPicPr>
          <p:cNvPr id="20" name="Image 3" descr="/tmp/work/smedia/image2.jpg">    </p:cNvPr>
          <p:cNvPicPr>
            <a:picLocks noChangeAspect="1"/>
          </p:cNvPicPr>
          <p:nvPr/>
        </p:nvPicPr>
        <p:blipFill>
          <a:blip r:embed="rId4"/>
          <a:stretch>
            <a:fillRect/>
          </a:stretch>
        </p:blipFill>
        <p:spPr>
          <a:xfrm>
            <a:off x="7340645" y="1161288"/>
            <a:ext cx="817791" cy="822960"/>
          </a:xfrm>
          <a:prstGeom prst="rect">
            <a:avLst/>
          </a:prstGeom>
        </p:spPr>
      </p:pic>
      <p:sp>
        <p:nvSpPr>
          <p:cNvPr id="21" name="Text 15"/>
          <p:cNvSpPr txBox="1"/>
          <p:nvPr/>
        </p:nvSpPr>
        <p:spPr>
          <a:xfrm>
            <a:off x="6876288" y="2057400"/>
            <a:ext cx="1783080" cy="27432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Fume absorber</a:t>
            </a:r>
            <a:endParaRPr lang="en-US" sz="1300" dirty="0"/>
          </a:p>
        </p:txBody>
      </p:sp>
      <p:sp>
        <p:nvSpPr>
          <p:cNvPr id="22" name="Text 16"/>
          <p:cNvSpPr txBox="1"/>
          <p:nvPr/>
        </p:nvSpPr>
        <p:spPr>
          <a:xfrm>
            <a:off x="6876288" y="2331720"/>
            <a:ext cx="1783080" cy="41148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Filters fumes away from your face</a:t>
            </a:r>
            <a:endParaRPr lang="en-US" sz="1100" dirty="0"/>
          </a:p>
        </p:txBody>
      </p:sp>
      <p:sp>
        <p:nvSpPr>
          <p:cNvPr id="23" name="Shape 17"/>
          <p:cNvSpPr/>
          <p:nvPr/>
        </p:nvSpPr>
        <p:spPr>
          <a:xfrm>
            <a:off x="457200" y="2898648"/>
            <a:ext cx="1965960" cy="1737360"/>
          </a:xfrm>
          <a:prstGeom prst="roundRect">
            <a:avLst>
              <a:gd name="adj" fmla="val 4211"/>
            </a:avLst>
          </a:prstGeom>
          <a:solidFill>
            <a:schemeClr val="bg2"/>
          </a:solidFill>
          <a:ln/>
        </p:spPr>
      </p:sp>
      <p:sp>
        <p:nvSpPr>
          <p:cNvPr id="24" name="Shape 18"/>
          <p:cNvSpPr/>
          <p:nvPr/>
        </p:nvSpPr>
        <p:spPr>
          <a:xfrm>
            <a:off x="548640" y="2990088"/>
            <a:ext cx="1783080" cy="868680"/>
          </a:xfrm>
          <a:prstGeom prst="roundRect">
            <a:avLst>
              <a:gd name="adj" fmla="val 8421"/>
            </a:avLst>
          </a:prstGeom>
          <a:solidFill>
            <a:schemeClr val="bg1"/>
          </a:solidFill>
          <a:ln/>
        </p:spPr>
      </p:sp>
      <p:pic>
        <p:nvPicPr>
          <p:cNvPr id="25" name="Image 4" descr="/tmp/work/smedia/image14.jpg">    </p:cNvPr>
          <p:cNvPicPr>
            <a:picLocks noChangeAspect="1"/>
          </p:cNvPicPr>
          <p:nvPr/>
        </p:nvPicPr>
        <p:blipFill>
          <a:blip r:embed="rId5"/>
          <a:stretch>
            <a:fillRect/>
          </a:stretch>
        </p:blipFill>
        <p:spPr>
          <a:xfrm>
            <a:off x="801519" y="3008376"/>
            <a:ext cx="1277322" cy="822960"/>
          </a:xfrm>
          <a:prstGeom prst="rect">
            <a:avLst/>
          </a:prstGeom>
        </p:spPr>
      </p:pic>
      <p:sp>
        <p:nvSpPr>
          <p:cNvPr id="26" name="Text 19"/>
          <p:cNvSpPr txBox="1"/>
          <p:nvPr/>
        </p:nvSpPr>
        <p:spPr>
          <a:xfrm>
            <a:off x="566928" y="3904488"/>
            <a:ext cx="1783080" cy="27432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Support tools</a:t>
            </a:r>
            <a:endParaRPr lang="en-US" sz="1300" dirty="0"/>
          </a:p>
        </p:txBody>
      </p:sp>
      <p:sp>
        <p:nvSpPr>
          <p:cNvPr id="27" name="Text 20"/>
          <p:cNvSpPr txBox="1"/>
          <p:nvPr/>
        </p:nvSpPr>
        <p:spPr>
          <a:xfrm>
            <a:off x="566928" y="4178808"/>
            <a:ext cx="1783080" cy="41148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Hold your work so your hands are free</a:t>
            </a:r>
            <a:endParaRPr lang="en-US" sz="1100" dirty="0"/>
          </a:p>
        </p:txBody>
      </p:sp>
      <p:sp>
        <p:nvSpPr>
          <p:cNvPr id="28" name="Shape 21"/>
          <p:cNvSpPr/>
          <p:nvPr/>
        </p:nvSpPr>
        <p:spPr>
          <a:xfrm>
            <a:off x="2560320" y="2898648"/>
            <a:ext cx="1965960" cy="1737360"/>
          </a:xfrm>
          <a:prstGeom prst="roundRect">
            <a:avLst>
              <a:gd name="adj" fmla="val 4211"/>
            </a:avLst>
          </a:prstGeom>
          <a:solidFill>
            <a:schemeClr val="bg2"/>
          </a:solidFill>
          <a:ln/>
        </p:spPr>
      </p:sp>
      <p:sp>
        <p:nvSpPr>
          <p:cNvPr id="29" name="Shape 22"/>
          <p:cNvSpPr/>
          <p:nvPr/>
        </p:nvSpPr>
        <p:spPr>
          <a:xfrm>
            <a:off x="2651760" y="2990088"/>
            <a:ext cx="1783080" cy="868680"/>
          </a:xfrm>
          <a:prstGeom prst="roundRect">
            <a:avLst>
              <a:gd name="adj" fmla="val 8421"/>
            </a:avLst>
          </a:prstGeom>
          <a:solidFill>
            <a:schemeClr val="bg1"/>
          </a:solidFill>
          <a:ln/>
        </p:spPr>
      </p:sp>
      <p:pic>
        <p:nvPicPr>
          <p:cNvPr id="30" name="Image 5" descr="/tmp/work/smedia/image4.jpg">    </p:cNvPr>
          <p:cNvPicPr>
            <a:picLocks noChangeAspect="1"/>
          </p:cNvPicPr>
          <p:nvPr/>
        </p:nvPicPr>
        <p:blipFill>
          <a:blip r:embed="rId6"/>
          <a:stretch>
            <a:fillRect/>
          </a:stretch>
        </p:blipFill>
        <p:spPr>
          <a:xfrm>
            <a:off x="3201025" y="3008376"/>
            <a:ext cx="684549" cy="822960"/>
          </a:xfrm>
          <a:prstGeom prst="rect">
            <a:avLst/>
          </a:prstGeom>
        </p:spPr>
      </p:pic>
      <p:sp>
        <p:nvSpPr>
          <p:cNvPr id="31" name="Text 23"/>
          <p:cNvSpPr txBox="1"/>
          <p:nvPr/>
        </p:nvSpPr>
        <p:spPr>
          <a:xfrm>
            <a:off x="2670048" y="3904488"/>
            <a:ext cx="1783080" cy="27432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Wire strippers</a:t>
            </a:r>
            <a:endParaRPr lang="en-US" sz="1300" dirty="0"/>
          </a:p>
        </p:txBody>
      </p:sp>
      <p:sp>
        <p:nvSpPr>
          <p:cNvPr id="32" name="Text 24"/>
          <p:cNvSpPr txBox="1"/>
          <p:nvPr/>
        </p:nvSpPr>
        <p:spPr>
          <a:xfrm>
            <a:off x="2670048" y="4178808"/>
            <a:ext cx="1783080" cy="41148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Remove insulation, matched to wire gauge</a:t>
            </a:r>
            <a:endParaRPr lang="en-US" sz="1100" dirty="0"/>
          </a:p>
        </p:txBody>
      </p:sp>
      <p:sp>
        <p:nvSpPr>
          <p:cNvPr id="33" name="Shape 25"/>
          <p:cNvSpPr/>
          <p:nvPr/>
        </p:nvSpPr>
        <p:spPr>
          <a:xfrm>
            <a:off x="4663440" y="2898648"/>
            <a:ext cx="1965960" cy="1737360"/>
          </a:xfrm>
          <a:prstGeom prst="roundRect">
            <a:avLst>
              <a:gd name="adj" fmla="val 4211"/>
            </a:avLst>
          </a:prstGeom>
          <a:solidFill>
            <a:schemeClr val="bg2"/>
          </a:solidFill>
          <a:ln/>
        </p:spPr>
      </p:sp>
      <p:sp>
        <p:nvSpPr>
          <p:cNvPr id="34" name="Shape 26"/>
          <p:cNvSpPr/>
          <p:nvPr/>
        </p:nvSpPr>
        <p:spPr>
          <a:xfrm>
            <a:off x="4754880" y="2990088"/>
            <a:ext cx="1783080" cy="868680"/>
          </a:xfrm>
          <a:prstGeom prst="roundRect">
            <a:avLst>
              <a:gd name="adj" fmla="val 8421"/>
            </a:avLst>
          </a:prstGeom>
          <a:solidFill>
            <a:schemeClr val="bg1"/>
          </a:solidFill>
          <a:ln/>
        </p:spPr>
      </p:sp>
      <p:pic>
        <p:nvPicPr>
          <p:cNvPr id="35" name="Image 6" descr="/tmp/work/smedia/image12.jpg">    </p:cNvPr>
          <p:cNvPicPr>
            <a:picLocks noChangeAspect="1"/>
          </p:cNvPicPr>
          <p:nvPr/>
        </p:nvPicPr>
        <p:blipFill>
          <a:blip r:embed="rId7"/>
          <a:stretch>
            <a:fillRect/>
          </a:stretch>
        </p:blipFill>
        <p:spPr>
          <a:xfrm>
            <a:off x="5023639" y="3008376"/>
            <a:ext cx="1245561" cy="822960"/>
          </a:xfrm>
          <a:prstGeom prst="rect">
            <a:avLst/>
          </a:prstGeom>
        </p:spPr>
      </p:pic>
      <p:sp>
        <p:nvSpPr>
          <p:cNvPr id="36" name="Text 27"/>
          <p:cNvSpPr txBox="1"/>
          <p:nvPr/>
        </p:nvSpPr>
        <p:spPr>
          <a:xfrm>
            <a:off x="4773168" y="3904488"/>
            <a:ext cx="1783080" cy="27432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Wire</a:t>
            </a:r>
            <a:endParaRPr lang="en-US" sz="1300" dirty="0"/>
          </a:p>
        </p:txBody>
      </p:sp>
      <p:sp>
        <p:nvSpPr>
          <p:cNvPr id="37" name="Text 28"/>
          <p:cNvSpPr txBox="1"/>
          <p:nvPr/>
        </p:nvSpPr>
        <p:spPr>
          <a:xfrm>
            <a:off x="4773168" y="4178808"/>
            <a:ext cx="1783080" cy="41148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Solid (one strand) or stranded (many)</a:t>
            </a:r>
            <a:endParaRPr lang="en-US" sz="1100" dirty="0"/>
          </a:p>
        </p:txBody>
      </p:sp>
      <p:sp>
        <p:nvSpPr>
          <p:cNvPr id="38" name="Shape 29"/>
          <p:cNvSpPr/>
          <p:nvPr/>
        </p:nvSpPr>
        <p:spPr>
          <a:xfrm>
            <a:off x="6766560" y="2898648"/>
            <a:ext cx="1965960" cy="1737360"/>
          </a:xfrm>
          <a:prstGeom prst="roundRect">
            <a:avLst>
              <a:gd name="adj" fmla="val 4211"/>
            </a:avLst>
          </a:prstGeom>
          <a:solidFill>
            <a:schemeClr val="bg2"/>
          </a:solidFill>
          <a:ln/>
        </p:spPr>
      </p:sp>
      <p:sp>
        <p:nvSpPr>
          <p:cNvPr id="39" name="Shape 30"/>
          <p:cNvSpPr/>
          <p:nvPr/>
        </p:nvSpPr>
        <p:spPr>
          <a:xfrm>
            <a:off x="6858000" y="2990088"/>
            <a:ext cx="1783080" cy="868680"/>
          </a:xfrm>
          <a:prstGeom prst="roundRect">
            <a:avLst>
              <a:gd name="adj" fmla="val 8421"/>
            </a:avLst>
          </a:prstGeom>
          <a:solidFill>
            <a:schemeClr val="bg1"/>
          </a:solidFill>
          <a:ln/>
        </p:spPr>
      </p:sp>
      <p:pic>
        <p:nvPicPr>
          <p:cNvPr id="40" name="Image 7" descr="/tmp/work/smedia/image22.jpg">    </p:cNvPr>
          <p:cNvPicPr>
            <a:picLocks noChangeAspect="1"/>
          </p:cNvPicPr>
          <p:nvPr/>
        </p:nvPicPr>
        <p:blipFill>
          <a:blip r:embed="rId8"/>
          <a:stretch>
            <a:fillRect/>
          </a:stretch>
        </p:blipFill>
        <p:spPr>
          <a:xfrm>
            <a:off x="7168236" y="3008376"/>
            <a:ext cx="1162607" cy="822960"/>
          </a:xfrm>
          <a:prstGeom prst="rect">
            <a:avLst/>
          </a:prstGeom>
        </p:spPr>
      </p:pic>
      <p:sp>
        <p:nvSpPr>
          <p:cNvPr id="41" name="Text 31"/>
          <p:cNvSpPr txBox="1"/>
          <p:nvPr/>
        </p:nvSpPr>
        <p:spPr>
          <a:xfrm>
            <a:off x="6876288" y="3904488"/>
            <a:ext cx="1783080" cy="27432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Flush cutters</a:t>
            </a:r>
            <a:endParaRPr lang="en-US" sz="1300" dirty="0"/>
          </a:p>
        </p:txBody>
      </p:sp>
      <p:sp>
        <p:nvSpPr>
          <p:cNvPr id="42" name="Text 32"/>
          <p:cNvSpPr txBox="1"/>
          <p:nvPr/>
        </p:nvSpPr>
        <p:spPr>
          <a:xfrm>
            <a:off x="6876288" y="4178808"/>
            <a:ext cx="1783080" cy="41148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Cut solder and trim component leads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Why clean and shiny matters</a:t>
            </a:r>
            <a:endParaRPr lang="en-US" sz="3000" dirty="0"/>
          </a:p>
        </p:txBody>
      </p:sp>
      <p:sp>
        <p:nvSpPr>
          <p:cNvPr id="3" name="Shape 1"/>
          <p:cNvSpPr/>
          <p:nvPr/>
        </p:nvSpPr>
        <p:spPr>
          <a:xfrm>
            <a:off x="457200" y="1097280"/>
            <a:ext cx="3840480" cy="2926080"/>
          </a:xfrm>
          <a:prstGeom prst="roundRect">
            <a:avLst>
              <a:gd name="adj" fmla="val 2500"/>
            </a:avLst>
          </a:prstGeom>
          <a:solidFill>
            <a:schemeClr val="bg1"/>
          </a:solidFill>
          <a:ln/>
        </p:spPr>
      </p:sp>
      <p:sp>
        <p:nvSpPr>
          <p:cNvPr id="4" name="Shape 2"/>
          <p:cNvSpPr/>
          <p:nvPr/>
        </p:nvSpPr>
        <p:spPr>
          <a:xfrm>
            <a:off x="457200" y="1097280"/>
            <a:ext cx="3840480" cy="2926080"/>
          </a:xfrm>
          <a:prstGeom prst="roundRect">
            <a:avLst>
              <a:gd name="adj" fmla="val 2500"/>
            </a:avLst>
          </a:prstGeom>
          <a:ln w="9525">
            <a:solidFill>
              <a:srgbClr val="D5DED7"/>
            </a:solidFill>
            <a:prstDash val="solid"/>
          </a:ln>
        </p:spPr>
      </p:sp>
      <p:pic>
        <p:nvPicPr>
          <p:cNvPr id="5" name="Image 0" descr="/tmp/work/smedia/image7.jpg">    </p:cNvPr>
          <p:cNvPicPr>
            <a:picLocks noChangeAspect="1"/>
          </p:cNvPicPr>
          <p:nvPr/>
        </p:nvPicPr>
        <p:blipFill>
          <a:blip r:embed="rId1"/>
          <a:stretch>
            <a:fillRect/>
          </a:stretch>
        </p:blipFill>
        <p:spPr>
          <a:xfrm>
            <a:off x="560848" y="1170432"/>
            <a:ext cx="3633185" cy="2779776"/>
          </a:xfrm>
          <a:prstGeom prst="rect">
            <a:avLst/>
          </a:prstGeom>
        </p:spPr>
      </p:pic>
      <p:sp>
        <p:nvSpPr>
          <p:cNvPr id="6" name="Text 3"/>
          <p:cNvSpPr txBox="1"/>
          <p:nvPr/>
        </p:nvSpPr>
        <p:spPr>
          <a:xfrm>
            <a:off x="457200" y="4114800"/>
            <a:ext cx="3840480" cy="365760"/>
          </a:xfrm>
          <a:prstGeom prst="rect">
            <a:avLst/>
          </a:prstGeom>
          <a:noFill/>
          <a:ln/>
        </p:spPr>
        <p:txBody>
          <a:bodyPr wrap="square" lIns="0" tIns="0" rIns="0" bIns="0" rtlCol="0" anchor="t"/>
          <a:lstStyle/>
          <a:p>
            <a:pPr algn="ctr" indent="0" marL="0">
              <a:buNone/>
            </a:pPr>
            <a:r>
              <a:rPr lang="en-US" sz="1400" i="1" dirty="0">
                <a:solidFill>
                  <a:schemeClr val="accent2"/>
                </a:solidFill>
                <a:latin typeface="Calibri" pitchFamily="34" charset="0"/>
                <a:ea typeface="Calibri" pitchFamily="34" charset="-122"/>
                <a:cs typeface="Calibri" pitchFamily="34" charset="-120"/>
              </a:rPr>
              <a:t>Which tip will melt solder better?</a:t>
            </a:r>
            <a:endParaRPr lang="en-US" sz="1400" dirty="0"/>
          </a:p>
        </p:txBody>
      </p:sp>
      <p:sp>
        <p:nvSpPr>
          <p:cNvPr id="7" name="Shape 4"/>
          <p:cNvSpPr/>
          <p:nvPr/>
        </p:nvSpPr>
        <p:spPr>
          <a:xfrm>
            <a:off x="4572000" y="1097280"/>
            <a:ext cx="4114800" cy="914400"/>
          </a:xfrm>
          <a:prstGeom prst="roundRect">
            <a:avLst>
              <a:gd name="adj" fmla="val 8000"/>
            </a:avLst>
          </a:prstGeom>
          <a:solidFill>
            <a:schemeClr val="bg2"/>
          </a:solidFill>
          <a:ln/>
        </p:spPr>
      </p:sp>
      <p:sp>
        <p:nvSpPr>
          <p:cNvPr id="8" name="Shape 5"/>
          <p:cNvSpPr/>
          <p:nvPr/>
        </p:nvSpPr>
        <p:spPr>
          <a:xfrm>
            <a:off x="4709160" y="1280160"/>
            <a:ext cx="548640" cy="548640"/>
          </a:xfrm>
          <a:prstGeom prst="ellipse">
            <a:avLst/>
          </a:prstGeom>
          <a:solidFill>
            <a:schemeClr val="accent1"/>
          </a:solidFill>
          <a:ln/>
        </p:spPr>
      </p:sp>
      <p:pic>
        <p:nvPicPr>
          <p:cNvPr id="9" name="Image 1" descr="preencoded.png">    </p:cNvPr>
          <p:cNvPicPr>
            <a:picLocks noChangeAspect="1"/>
          </p:cNvPicPr>
          <p:nvPr/>
        </p:nvPicPr>
        <p:blipFill>
          <a:blip r:embed="rId2"/>
          <a:stretch>
            <a:fillRect/>
          </a:stretch>
        </p:blipFill>
        <p:spPr>
          <a:xfrm>
            <a:off x="4840834" y="1411834"/>
            <a:ext cx="285293" cy="285293"/>
          </a:xfrm>
          <a:prstGeom prst="rect">
            <a:avLst/>
          </a:prstGeom>
        </p:spPr>
      </p:pic>
      <p:sp>
        <p:nvSpPr>
          <p:cNvPr id="10" name="Text 6"/>
          <p:cNvSpPr txBox="1"/>
          <p:nvPr/>
        </p:nvSpPr>
        <p:spPr>
          <a:xfrm>
            <a:off x="5394960" y="1170432"/>
            <a:ext cx="3200400" cy="77724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Hot metal oxidizes fast</a:t>
            </a:r>
            <a:endParaRPr lang="en-US" sz="1500" dirty="0"/>
          </a:p>
          <a:p>
            <a:pPr indent="0" marL="0">
              <a:buNone/>
            </a:pPr>
            <a:r>
              <a:rPr lang="en-US" sz="1200" dirty="0">
                <a:solidFill>
                  <a:schemeClr val="tx1"/>
                </a:solidFill>
                <a:latin typeface="Calibri" pitchFamily="34" charset="0"/>
                <a:ea typeface="Calibri" pitchFamily="34" charset="-122"/>
                <a:cs typeface="Calibri" pitchFamily="34" charset="-120"/>
              </a:rPr>
              <a:t>A dark oxide layer forms on hot copper in seconds</a:t>
            </a:r>
            <a:endParaRPr lang="en-US" sz="1500" dirty="0"/>
          </a:p>
        </p:txBody>
      </p:sp>
      <p:sp>
        <p:nvSpPr>
          <p:cNvPr id="11" name="Shape 7"/>
          <p:cNvSpPr/>
          <p:nvPr/>
        </p:nvSpPr>
        <p:spPr>
          <a:xfrm>
            <a:off x="4572000" y="2121408"/>
            <a:ext cx="4114800" cy="914400"/>
          </a:xfrm>
          <a:prstGeom prst="roundRect">
            <a:avLst>
              <a:gd name="adj" fmla="val 8000"/>
            </a:avLst>
          </a:prstGeom>
          <a:solidFill>
            <a:schemeClr val="bg2"/>
          </a:solidFill>
          <a:ln/>
        </p:spPr>
      </p:sp>
      <p:sp>
        <p:nvSpPr>
          <p:cNvPr id="12" name="Shape 8"/>
          <p:cNvSpPr/>
          <p:nvPr/>
        </p:nvSpPr>
        <p:spPr>
          <a:xfrm>
            <a:off x="4709160" y="2304288"/>
            <a:ext cx="548640" cy="548640"/>
          </a:xfrm>
          <a:prstGeom prst="ellipse">
            <a:avLst/>
          </a:prstGeom>
          <a:solidFill>
            <a:schemeClr val="accent6"/>
          </a:solidFill>
          <a:ln/>
        </p:spPr>
      </p:sp>
      <p:pic>
        <p:nvPicPr>
          <p:cNvPr id="13" name="Image 2" descr="preencoded.png">    </p:cNvPr>
          <p:cNvPicPr>
            <a:picLocks noChangeAspect="1"/>
          </p:cNvPicPr>
          <p:nvPr/>
        </p:nvPicPr>
        <p:blipFill>
          <a:blip r:embed="rId3"/>
          <a:stretch>
            <a:fillRect/>
          </a:stretch>
        </p:blipFill>
        <p:spPr>
          <a:xfrm>
            <a:off x="4840834" y="2435962"/>
            <a:ext cx="285293" cy="285293"/>
          </a:xfrm>
          <a:prstGeom prst="rect">
            <a:avLst/>
          </a:prstGeom>
        </p:spPr>
      </p:pic>
      <p:sp>
        <p:nvSpPr>
          <p:cNvPr id="14" name="Text 9"/>
          <p:cNvSpPr txBox="1"/>
          <p:nvPr/>
        </p:nvSpPr>
        <p:spPr>
          <a:xfrm>
            <a:off x="5394960" y="2194560"/>
            <a:ext cx="3200400" cy="77724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Oxide blocks solder</a:t>
            </a:r>
            <a:endParaRPr lang="en-US" sz="1500" dirty="0"/>
          </a:p>
          <a:p>
            <a:pPr indent="0" marL="0">
              <a:buNone/>
            </a:pPr>
            <a:r>
              <a:rPr lang="en-US" sz="1200" dirty="0">
                <a:solidFill>
                  <a:schemeClr val="tx1"/>
                </a:solidFill>
                <a:latin typeface="Calibri" pitchFamily="34" charset="0"/>
                <a:ea typeface="Calibri" pitchFamily="34" charset="-122"/>
                <a:cs typeface="Calibri" pitchFamily="34" charset="-120"/>
              </a:rPr>
              <a:t>Solder beads up on it instead of flowing and bonding</a:t>
            </a:r>
            <a:endParaRPr lang="en-US" sz="1500" dirty="0"/>
          </a:p>
        </p:txBody>
      </p:sp>
      <p:sp>
        <p:nvSpPr>
          <p:cNvPr id="15" name="Shape 10"/>
          <p:cNvSpPr/>
          <p:nvPr/>
        </p:nvSpPr>
        <p:spPr>
          <a:xfrm>
            <a:off x="4572000" y="3145536"/>
            <a:ext cx="4114800" cy="914400"/>
          </a:xfrm>
          <a:prstGeom prst="roundRect">
            <a:avLst>
              <a:gd name="adj" fmla="val 8000"/>
            </a:avLst>
          </a:prstGeom>
          <a:solidFill>
            <a:schemeClr val="bg2"/>
          </a:solidFill>
          <a:ln/>
        </p:spPr>
      </p:sp>
      <p:sp>
        <p:nvSpPr>
          <p:cNvPr id="16" name="Shape 11"/>
          <p:cNvSpPr/>
          <p:nvPr/>
        </p:nvSpPr>
        <p:spPr>
          <a:xfrm>
            <a:off x="4709160" y="3328416"/>
            <a:ext cx="548640" cy="548640"/>
          </a:xfrm>
          <a:prstGeom prst="ellipse">
            <a:avLst/>
          </a:prstGeom>
          <a:solidFill>
            <a:schemeClr val="accent1"/>
          </a:solidFill>
          <a:ln/>
        </p:spPr>
      </p:sp>
      <p:pic>
        <p:nvPicPr>
          <p:cNvPr id="17" name="Image 3" descr="preencoded.png">    </p:cNvPr>
          <p:cNvPicPr>
            <a:picLocks noChangeAspect="1"/>
          </p:cNvPicPr>
          <p:nvPr/>
        </p:nvPicPr>
        <p:blipFill>
          <a:blip r:embed="rId4"/>
          <a:stretch>
            <a:fillRect/>
          </a:stretch>
        </p:blipFill>
        <p:spPr>
          <a:xfrm>
            <a:off x="4840834" y="3460090"/>
            <a:ext cx="285293" cy="285293"/>
          </a:xfrm>
          <a:prstGeom prst="rect">
            <a:avLst/>
          </a:prstGeom>
        </p:spPr>
      </p:pic>
      <p:sp>
        <p:nvSpPr>
          <p:cNvPr id="18" name="Text 12"/>
          <p:cNvSpPr txBox="1"/>
          <p:nvPr/>
        </p:nvSpPr>
        <p:spPr>
          <a:xfrm>
            <a:off x="5394960" y="3218688"/>
            <a:ext cx="3200400" cy="77724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Flux + tinning fix it</a:t>
            </a:r>
            <a:endParaRPr lang="en-US" sz="1500" dirty="0"/>
          </a:p>
          <a:p>
            <a:pPr indent="0" marL="0">
              <a:buNone/>
            </a:pPr>
            <a:r>
              <a:rPr lang="en-US" sz="1200" dirty="0">
                <a:solidFill>
                  <a:schemeClr val="tx1"/>
                </a:solidFill>
                <a:latin typeface="Calibri" pitchFamily="34" charset="0"/>
                <a:ea typeface="Calibri" pitchFamily="34" charset="-122"/>
                <a:cs typeface="Calibri" pitchFamily="34" charset="-120"/>
              </a:rPr>
              <a:t>Flux cleans the joint; a thin solder coat protects the tip</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Soldering safety</a:t>
            </a:r>
            <a:endParaRPr lang="en-US" sz="3000" dirty="0"/>
          </a:p>
        </p:txBody>
      </p:sp>
      <p:sp>
        <p:nvSpPr>
          <p:cNvPr id="3" name="Shape 1"/>
          <p:cNvSpPr/>
          <p:nvPr/>
        </p:nvSpPr>
        <p:spPr>
          <a:xfrm>
            <a:off x="457200" y="1097280"/>
            <a:ext cx="4023360" cy="1005840"/>
          </a:xfrm>
          <a:prstGeom prst="roundRect">
            <a:avLst>
              <a:gd name="adj" fmla="val 7273"/>
            </a:avLst>
          </a:prstGeom>
          <a:solidFill>
            <a:schemeClr val="bg2"/>
          </a:solidFill>
          <a:ln/>
        </p:spPr>
      </p:sp>
      <p:sp>
        <p:nvSpPr>
          <p:cNvPr id="4" name="Shape 2"/>
          <p:cNvSpPr/>
          <p:nvPr/>
        </p:nvSpPr>
        <p:spPr>
          <a:xfrm>
            <a:off x="640080" y="1280160"/>
            <a:ext cx="640080" cy="640080"/>
          </a:xfrm>
          <a:prstGeom prst="ellipse">
            <a:avLst/>
          </a:prstGeom>
          <a:solidFill>
            <a:schemeClr val="accent6"/>
          </a:solidFill>
          <a:ln/>
        </p:spPr>
      </p:sp>
      <p:pic>
        <p:nvPicPr>
          <p:cNvPr id="5" name="Image 0" descr="preencoded.png">    </p:cNvPr>
          <p:cNvPicPr>
            <a:picLocks noChangeAspect="1"/>
          </p:cNvPicPr>
          <p:nvPr/>
        </p:nvPicPr>
        <p:blipFill>
          <a:blip r:embed="rId1"/>
          <a:stretch>
            <a:fillRect/>
          </a:stretch>
        </p:blipFill>
        <p:spPr>
          <a:xfrm>
            <a:off x="793699" y="1433779"/>
            <a:ext cx="332842" cy="332842"/>
          </a:xfrm>
          <a:prstGeom prst="rect">
            <a:avLst/>
          </a:prstGeom>
        </p:spPr>
      </p:pic>
      <p:sp>
        <p:nvSpPr>
          <p:cNvPr id="6" name="Text 3"/>
          <p:cNvSpPr txBox="1"/>
          <p:nvPr/>
        </p:nvSpPr>
        <p:spPr>
          <a:xfrm>
            <a:off x="1463040" y="1170432"/>
            <a:ext cx="2880360" cy="859536"/>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The tip is several hundred °C</a:t>
            </a:r>
            <a:endParaRPr lang="en-US" sz="1500" dirty="0"/>
          </a:p>
          <a:p>
            <a:pPr indent="0" marL="0">
              <a:buNone/>
            </a:pPr>
            <a:r>
              <a:rPr lang="en-US" sz="1200" dirty="0">
                <a:solidFill>
                  <a:schemeClr val="tx1"/>
                </a:solidFill>
                <a:latin typeface="Calibri" pitchFamily="34" charset="0"/>
                <a:ea typeface="Calibri" pitchFamily="34" charset="-122"/>
                <a:cs typeface="Calibri" pitchFamily="34" charset="-120"/>
              </a:rPr>
              <a:t>Iron always goes back in the stand. Never catch a falling iron. Let it drop.</a:t>
            </a:r>
            <a:endParaRPr lang="en-US" sz="1500" dirty="0"/>
          </a:p>
        </p:txBody>
      </p:sp>
      <p:sp>
        <p:nvSpPr>
          <p:cNvPr id="7" name="Shape 4"/>
          <p:cNvSpPr/>
          <p:nvPr/>
        </p:nvSpPr>
        <p:spPr>
          <a:xfrm>
            <a:off x="4663440" y="1097280"/>
            <a:ext cx="4023360" cy="1005840"/>
          </a:xfrm>
          <a:prstGeom prst="roundRect">
            <a:avLst>
              <a:gd name="adj" fmla="val 7273"/>
            </a:avLst>
          </a:prstGeom>
          <a:solidFill>
            <a:schemeClr val="bg2"/>
          </a:solidFill>
          <a:ln/>
        </p:spPr>
      </p:sp>
      <p:sp>
        <p:nvSpPr>
          <p:cNvPr id="8" name="Shape 5"/>
          <p:cNvSpPr/>
          <p:nvPr/>
        </p:nvSpPr>
        <p:spPr>
          <a:xfrm>
            <a:off x="4846320" y="1280160"/>
            <a:ext cx="640080" cy="640080"/>
          </a:xfrm>
          <a:prstGeom prst="ellipse">
            <a:avLst/>
          </a:prstGeom>
          <a:solidFill>
            <a:schemeClr val="accent1"/>
          </a:solidFill>
          <a:ln/>
        </p:spPr>
      </p:sp>
      <p:pic>
        <p:nvPicPr>
          <p:cNvPr id="9" name="Image 1" descr="preencoded.png">    </p:cNvPr>
          <p:cNvPicPr>
            <a:picLocks noChangeAspect="1"/>
          </p:cNvPicPr>
          <p:nvPr/>
        </p:nvPicPr>
        <p:blipFill>
          <a:blip r:embed="rId2"/>
          <a:stretch>
            <a:fillRect/>
          </a:stretch>
        </p:blipFill>
        <p:spPr>
          <a:xfrm>
            <a:off x="4999939" y="1433779"/>
            <a:ext cx="332842" cy="332842"/>
          </a:xfrm>
          <a:prstGeom prst="rect">
            <a:avLst/>
          </a:prstGeom>
        </p:spPr>
      </p:pic>
      <p:sp>
        <p:nvSpPr>
          <p:cNvPr id="10" name="Text 6"/>
          <p:cNvSpPr txBox="1"/>
          <p:nvPr/>
        </p:nvSpPr>
        <p:spPr>
          <a:xfrm>
            <a:off x="5669280" y="1170432"/>
            <a:ext cx="2880360" cy="859536"/>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Safety glasses at all times</a:t>
            </a:r>
            <a:endParaRPr lang="en-US" sz="1500" dirty="0"/>
          </a:p>
          <a:p>
            <a:pPr indent="0" marL="0">
              <a:buNone/>
            </a:pPr>
            <a:r>
              <a:rPr lang="en-US" sz="1200" dirty="0">
                <a:solidFill>
                  <a:schemeClr val="tx1"/>
                </a:solidFill>
                <a:latin typeface="Calibri" pitchFamily="34" charset="0"/>
                <a:ea typeface="Calibri" pitchFamily="34" charset="-122"/>
                <a:cs typeface="Calibri" pitchFamily="34" charset="-120"/>
              </a:rPr>
              <a:t>Solder can spatter, and clipped leads fly.</a:t>
            </a:r>
            <a:endParaRPr lang="en-US" sz="1500" dirty="0"/>
          </a:p>
        </p:txBody>
      </p:sp>
      <p:sp>
        <p:nvSpPr>
          <p:cNvPr id="11" name="Shape 7"/>
          <p:cNvSpPr/>
          <p:nvPr/>
        </p:nvSpPr>
        <p:spPr>
          <a:xfrm>
            <a:off x="457200" y="2258568"/>
            <a:ext cx="4023360" cy="1005840"/>
          </a:xfrm>
          <a:prstGeom prst="roundRect">
            <a:avLst>
              <a:gd name="adj" fmla="val 7273"/>
            </a:avLst>
          </a:prstGeom>
          <a:solidFill>
            <a:schemeClr val="bg2"/>
          </a:solidFill>
          <a:ln/>
        </p:spPr>
      </p:sp>
      <p:sp>
        <p:nvSpPr>
          <p:cNvPr id="12" name="Shape 8"/>
          <p:cNvSpPr/>
          <p:nvPr/>
        </p:nvSpPr>
        <p:spPr>
          <a:xfrm>
            <a:off x="640080" y="2441448"/>
            <a:ext cx="640080" cy="640080"/>
          </a:xfrm>
          <a:prstGeom prst="ellipse">
            <a:avLst/>
          </a:prstGeom>
          <a:solidFill>
            <a:schemeClr val="accent1"/>
          </a:solidFill>
          <a:ln/>
        </p:spPr>
      </p:sp>
      <p:pic>
        <p:nvPicPr>
          <p:cNvPr id="13" name="Image 2" descr="preencoded.png">    </p:cNvPr>
          <p:cNvPicPr>
            <a:picLocks noChangeAspect="1"/>
          </p:cNvPicPr>
          <p:nvPr/>
        </p:nvPicPr>
        <p:blipFill>
          <a:blip r:embed="rId3"/>
          <a:stretch>
            <a:fillRect/>
          </a:stretch>
        </p:blipFill>
        <p:spPr>
          <a:xfrm>
            <a:off x="793699" y="2595067"/>
            <a:ext cx="332842" cy="332842"/>
          </a:xfrm>
          <a:prstGeom prst="rect">
            <a:avLst/>
          </a:prstGeom>
        </p:spPr>
      </p:pic>
      <p:sp>
        <p:nvSpPr>
          <p:cNvPr id="14" name="Text 9"/>
          <p:cNvSpPr txBox="1"/>
          <p:nvPr/>
        </p:nvSpPr>
        <p:spPr>
          <a:xfrm>
            <a:off x="1463040" y="2331720"/>
            <a:ext cx="2880360" cy="859536"/>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Fume absorber on</a:t>
            </a:r>
            <a:endParaRPr lang="en-US" sz="1500" dirty="0"/>
          </a:p>
          <a:p>
            <a:pPr indent="0" marL="0">
              <a:buNone/>
            </a:pPr>
            <a:r>
              <a:rPr lang="en-US" sz="1200" dirty="0">
                <a:solidFill>
                  <a:schemeClr val="tx1"/>
                </a:solidFill>
                <a:latin typeface="Calibri" pitchFamily="34" charset="0"/>
                <a:ea typeface="Calibri" pitchFamily="34" charset="-122"/>
                <a:cs typeface="Calibri" pitchFamily="34" charset="-120"/>
              </a:rPr>
              <a:t>Keep the smoke away from your face. Don't lean over the joint.</a:t>
            </a:r>
            <a:endParaRPr lang="en-US" sz="1500" dirty="0"/>
          </a:p>
        </p:txBody>
      </p:sp>
      <p:sp>
        <p:nvSpPr>
          <p:cNvPr id="15" name="Shape 10"/>
          <p:cNvSpPr/>
          <p:nvPr/>
        </p:nvSpPr>
        <p:spPr>
          <a:xfrm>
            <a:off x="4663440" y="2258568"/>
            <a:ext cx="4023360" cy="1005840"/>
          </a:xfrm>
          <a:prstGeom prst="roundRect">
            <a:avLst>
              <a:gd name="adj" fmla="val 7273"/>
            </a:avLst>
          </a:prstGeom>
          <a:solidFill>
            <a:schemeClr val="bg2"/>
          </a:solidFill>
          <a:ln/>
        </p:spPr>
      </p:sp>
      <p:sp>
        <p:nvSpPr>
          <p:cNvPr id="16" name="Shape 11"/>
          <p:cNvSpPr/>
          <p:nvPr/>
        </p:nvSpPr>
        <p:spPr>
          <a:xfrm>
            <a:off x="4846320" y="2441448"/>
            <a:ext cx="640080" cy="640080"/>
          </a:xfrm>
          <a:prstGeom prst="ellipse">
            <a:avLst/>
          </a:prstGeom>
          <a:solidFill>
            <a:schemeClr val="accent1"/>
          </a:solidFill>
          <a:ln/>
        </p:spPr>
      </p:sp>
      <p:pic>
        <p:nvPicPr>
          <p:cNvPr id="17" name="Image 3" descr="preencoded.png">    </p:cNvPr>
          <p:cNvPicPr>
            <a:picLocks noChangeAspect="1"/>
          </p:cNvPicPr>
          <p:nvPr/>
        </p:nvPicPr>
        <p:blipFill>
          <a:blip r:embed="rId4"/>
          <a:stretch>
            <a:fillRect/>
          </a:stretch>
        </p:blipFill>
        <p:spPr>
          <a:xfrm>
            <a:off x="4999939" y="2595067"/>
            <a:ext cx="332842" cy="332842"/>
          </a:xfrm>
          <a:prstGeom prst="rect">
            <a:avLst/>
          </a:prstGeom>
        </p:spPr>
      </p:pic>
      <p:sp>
        <p:nvSpPr>
          <p:cNvPr id="18" name="Text 12"/>
          <p:cNvSpPr txBox="1"/>
          <p:nvPr/>
        </p:nvSpPr>
        <p:spPr>
          <a:xfrm>
            <a:off x="5669280" y="2331720"/>
            <a:ext cx="2880360" cy="859536"/>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Wash your hands after</a:t>
            </a:r>
            <a:endParaRPr lang="en-US" sz="1500" dirty="0"/>
          </a:p>
          <a:p>
            <a:pPr indent="0" marL="0">
              <a:buNone/>
            </a:pPr>
            <a:r>
              <a:rPr lang="en-US" sz="1200" dirty="0">
                <a:solidFill>
                  <a:schemeClr val="tx1"/>
                </a:solidFill>
                <a:latin typeface="Calibri" pitchFamily="34" charset="0"/>
                <a:ea typeface="Calibri" pitchFamily="34" charset="-122"/>
                <a:cs typeface="Calibri" pitchFamily="34" charset="-120"/>
              </a:rPr>
              <a:t>Solder and flux residue: no food or drinks at the station.</a:t>
            </a:r>
            <a:endParaRPr lang="en-US" sz="1500" dirty="0"/>
          </a:p>
        </p:txBody>
      </p:sp>
      <p:sp>
        <p:nvSpPr>
          <p:cNvPr id="19" name="Shape 13"/>
          <p:cNvSpPr/>
          <p:nvPr/>
        </p:nvSpPr>
        <p:spPr>
          <a:xfrm>
            <a:off x="457200" y="3419856"/>
            <a:ext cx="4023360" cy="1005840"/>
          </a:xfrm>
          <a:prstGeom prst="roundRect">
            <a:avLst>
              <a:gd name="adj" fmla="val 7273"/>
            </a:avLst>
          </a:prstGeom>
          <a:solidFill>
            <a:schemeClr val="bg2"/>
          </a:solidFill>
          <a:ln/>
        </p:spPr>
      </p:sp>
      <p:sp>
        <p:nvSpPr>
          <p:cNvPr id="20" name="Shape 14"/>
          <p:cNvSpPr/>
          <p:nvPr/>
        </p:nvSpPr>
        <p:spPr>
          <a:xfrm>
            <a:off x="640080" y="3602736"/>
            <a:ext cx="640080" cy="640080"/>
          </a:xfrm>
          <a:prstGeom prst="ellipse">
            <a:avLst/>
          </a:prstGeom>
          <a:solidFill>
            <a:schemeClr val="accent1"/>
          </a:solidFill>
          <a:ln/>
        </p:spPr>
      </p:sp>
      <p:pic>
        <p:nvPicPr>
          <p:cNvPr id="21" name="Image 4" descr="preencoded.png">    </p:cNvPr>
          <p:cNvPicPr>
            <a:picLocks noChangeAspect="1"/>
          </p:cNvPicPr>
          <p:nvPr/>
        </p:nvPicPr>
        <p:blipFill>
          <a:blip r:embed="rId5"/>
          <a:stretch>
            <a:fillRect/>
          </a:stretch>
        </p:blipFill>
        <p:spPr>
          <a:xfrm>
            <a:off x="793699" y="3756355"/>
            <a:ext cx="332842" cy="332842"/>
          </a:xfrm>
          <a:prstGeom prst="rect">
            <a:avLst/>
          </a:prstGeom>
        </p:spPr>
      </p:pic>
      <p:sp>
        <p:nvSpPr>
          <p:cNvPr id="22" name="Text 15"/>
          <p:cNvSpPr txBox="1"/>
          <p:nvPr/>
        </p:nvSpPr>
        <p:spPr>
          <a:xfrm>
            <a:off x="1463040" y="3493008"/>
            <a:ext cx="2880360" cy="859536"/>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Clear, tidy workspace</a:t>
            </a:r>
            <a:endParaRPr lang="en-US" sz="1500" dirty="0"/>
          </a:p>
          <a:p>
            <a:pPr indent="0" marL="0">
              <a:buNone/>
            </a:pPr>
            <a:r>
              <a:rPr lang="en-US" sz="1200" dirty="0">
                <a:solidFill>
                  <a:schemeClr val="tx1"/>
                </a:solidFill>
                <a:latin typeface="Calibri" pitchFamily="34" charset="0"/>
                <a:ea typeface="Calibri" pitchFamily="34" charset="-122"/>
                <a:cs typeface="Calibri" pitchFamily="34" charset="-120"/>
              </a:rPr>
              <a:t>No loose sleeves or cords near the tip. Nothing flammable nearby.</a:t>
            </a:r>
            <a:endParaRPr lang="en-US" sz="1500" dirty="0"/>
          </a:p>
        </p:txBody>
      </p:sp>
      <p:sp>
        <p:nvSpPr>
          <p:cNvPr id="23" name="Shape 16"/>
          <p:cNvSpPr/>
          <p:nvPr/>
        </p:nvSpPr>
        <p:spPr>
          <a:xfrm>
            <a:off x="4663440" y="3419856"/>
            <a:ext cx="4023360" cy="1005840"/>
          </a:xfrm>
          <a:prstGeom prst="roundRect">
            <a:avLst>
              <a:gd name="adj" fmla="val 7273"/>
            </a:avLst>
          </a:prstGeom>
          <a:solidFill>
            <a:schemeClr val="bg2"/>
          </a:solidFill>
          <a:ln/>
        </p:spPr>
      </p:sp>
      <p:sp>
        <p:nvSpPr>
          <p:cNvPr id="24" name="Shape 17"/>
          <p:cNvSpPr/>
          <p:nvPr/>
        </p:nvSpPr>
        <p:spPr>
          <a:xfrm>
            <a:off x="4846320" y="3602736"/>
            <a:ext cx="640080" cy="640080"/>
          </a:xfrm>
          <a:prstGeom prst="ellipse">
            <a:avLst/>
          </a:prstGeom>
          <a:solidFill>
            <a:schemeClr val="accent6"/>
          </a:solidFill>
          <a:ln/>
        </p:spPr>
      </p:sp>
      <p:pic>
        <p:nvPicPr>
          <p:cNvPr id="25" name="Image 5" descr="preencoded.png">    </p:cNvPr>
          <p:cNvPicPr>
            <a:picLocks noChangeAspect="1"/>
          </p:cNvPicPr>
          <p:nvPr/>
        </p:nvPicPr>
        <p:blipFill>
          <a:blip r:embed="rId6"/>
          <a:stretch>
            <a:fillRect/>
          </a:stretch>
        </p:blipFill>
        <p:spPr>
          <a:xfrm>
            <a:off x="4999939" y="3756355"/>
            <a:ext cx="332842" cy="332842"/>
          </a:xfrm>
          <a:prstGeom prst="rect">
            <a:avLst/>
          </a:prstGeom>
        </p:spPr>
      </p:pic>
      <p:sp>
        <p:nvSpPr>
          <p:cNvPr id="26" name="Text 18"/>
          <p:cNvSpPr txBox="1"/>
          <p:nvPr/>
        </p:nvSpPr>
        <p:spPr>
          <a:xfrm>
            <a:off x="5669280" y="3493008"/>
            <a:ext cx="2880360" cy="859536"/>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Off and unplugged when done</a:t>
            </a:r>
            <a:endParaRPr lang="en-US" sz="1500" dirty="0"/>
          </a:p>
          <a:p>
            <a:pPr indent="0" marL="0">
              <a:buNone/>
            </a:pPr>
            <a:r>
              <a:rPr lang="en-US" sz="1200" dirty="0">
                <a:solidFill>
                  <a:schemeClr val="tx1"/>
                </a:solidFill>
                <a:latin typeface="Calibri" pitchFamily="34" charset="0"/>
                <a:ea typeface="Calibri" pitchFamily="34" charset="-122"/>
                <a:cs typeface="Calibri" pitchFamily="34" charset="-120"/>
              </a:rPr>
              <a:t>Burned? Cool water right away and tell the instructor.</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The big picture: four steps</a:t>
            </a:r>
            <a:endParaRPr lang="en-US" sz="3000" dirty="0"/>
          </a:p>
        </p:txBody>
      </p:sp>
      <p:sp>
        <p:nvSpPr>
          <p:cNvPr id="3" name="Shape 1"/>
          <p:cNvSpPr/>
          <p:nvPr/>
        </p:nvSpPr>
        <p:spPr>
          <a:xfrm>
            <a:off x="457200" y="1188720"/>
            <a:ext cx="1920240" cy="2743200"/>
          </a:xfrm>
          <a:prstGeom prst="roundRect">
            <a:avLst>
              <a:gd name="adj" fmla="val 3810"/>
            </a:avLst>
          </a:prstGeom>
          <a:solidFill>
            <a:schemeClr val="bg2"/>
          </a:solidFill>
          <a:ln/>
        </p:spPr>
      </p:sp>
      <p:sp>
        <p:nvSpPr>
          <p:cNvPr id="4" name="Text 2"/>
          <p:cNvSpPr txBox="1"/>
          <p:nvPr/>
        </p:nvSpPr>
        <p:spPr>
          <a:xfrm>
            <a:off x="548640" y="1298448"/>
            <a:ext cx="1737360" cy="320040"/>
          </a:xfrm>
          <a:prstGeom prst="rect">
            <a:avLst/>
          </a:prstGeom>
          <a:noFill/>
          <a:ln/>
        </p:spPr>
        <p:txBody>
          <a:bodyPr wrap="square" lIns="0" tIns="0" rIns="0" bIns="0" rtlCol="0" anchor="t"/>
          <a:lstStyle/>
          <a:p>
            <a:pPr algn="ctr" indent="0" marL="0">
              <a:buNone/>
            </a:pPr>
            <a:r>
              <a:rPr lang="en-US" sz="1300" b="1" dirty="0">
                <a:solidFill>
                  <a:schemeClr val="accent3"/>
                </a:solidFill>
                <a:latin typeface="Calibri" pitchFamily="34" charset="0"/>
                <a:ea typeface="Calibri" pitchFamily="34" charset="-122"/>
                <a:cs typeface="Calibri" pitchFamily="34" charset="-120"/>
              </a:rPr>
              <a:t>STEP 1</a:t>
            </a:r>
            <a:endParaRPr lang="en-US" sz="1300" dirty="0"/>
          </a:p>
        </p:txBody>
      </p:sp>
      <p:sp>
        <p:nvSpPr>
          <p:cNvPr id="5" name="Shape 3"/>
          <p:cNvSpPr/>
          <p:nvPr/>
        </p:nvSpPr>
        <p:spPr>
          <a:xfrm>
            <a:off x="1051560" y="1691640"/>
            <a:ext cx="731520" cy="73152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1227125" y="1867205"/>
            <a:ext cx="380390" cy="380390"/>
          </a:xfrm>
          <a:prstGeom prst="rect">
            <a:avLst/>
          </a:prstGeom>
        </p:spPr>
      </p:pic>
      <p:sp>
        <p:nvSpPr>
          <p:cNvPr id="7" name="Text 4"/>
          <p:cNvSpPr txBox="1"/>
          <p:nvPr/>
        </p:nvSpPr>
        <p:spPr>
          <a:xfrm>
            <a:off x="548640" y="2560320"/>
            <a:ext cx="1737360" cy="365760"/>
          </a:xfrm>
          <a:prstGeom prst="rect">
            <a:avLst/>
          </a:prstGeom>
          <a:noFill/>
          <a:ln/>
        </p:spPr>
        <p:txBody>
          <a:bodyPr wrap="square" lIns="0" tIns="0" rIns="0" bIns="0" rtlCol="0" anchor="t"/>
          <a:lstStyle/>
          <a:p>
            <a:pPr algn="ctr" indent="0" marL="0">
              <a:buNone/>
            </a:pPr>
            <a:r>
              <a:rPr lang="en-US" sz="1600" b="1" dirty="0">
                <a:solidFill>
                  <a:schemeClr val="accent1"/>
                </a:solidFill>
                <a:latin typeface="Cambria" pitchFamily="34" charset="0"/>
                <a:ea typeface="Cambria" pitchFamily="34" charset="-122"/>
                <a:cs typeface="Cambria" pitchFamily="34" charset="-120"/>
              </a:rPr>
              <a:t>Prep station</a:t>
            </a:r>
            <a:endParaRPr lang="en-US" sz="1600" dirty="0"/>
          </a:p>
        </p:txBody>
      </p:sp>
      <p:sp>
        <p:nvSpPr>
          <p:cNvPr id="8" name="Text 5"/>
          <p:cNvSpPr txBox="1"/>
          <p:nvPr/>
        </p:nvSpPr>
        <p:spPr>
          <a:xfrm>
            <a:off x="594360" y="2971800"/>
            <a:ext cx="1645920" cy="8686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Iron on, sponge wet, fume absorber on, parts secured</a:t>
            </a:r>
            <a:endParaRPr lang="en-US" sz="1200" dirty="0"/>
          </a:p>
        </p:txBody>
      </p:sp>
      <p:sp>
        <p:nvSpPr>
          <p:cNvPr id="9" name="Shape 6"/>
          <p:cNvSpPr/>
          <p:nvPr/>
        </p:nvSpPr>
        <p:spPr>
          <a:xfrm>
            <a:off x="2395728" y="1920240"/>
            <a:ext cx="146304" cy="201168"/>
          </a:xfrm>
          <a:prstGeom prst="rightArrow">
            <a:avLst/>
          </a:prstGeom>
          <a:solidFill>
            <a:schemeClr val="accent3"/>
          </a:solidFill>
          <a:ln/>
        </p:spPr>
      </p:sp>
      <p:sp>
        <p:nvSpPr>
          <p:cNvPr id="10" name="Shape 7"/>
          <p:cNvSpPr/>
          <p:nvPr/>
        </p:nvSpPr>
        <p:spPr>
          <a:xfrm>
            <a:off x="2560320" y="1188720"/>
            <a:ext cx="1920240" cy="2743200"/>
          </a:xfrm>
          <a:prstGeom prst="roundRect">
            <a:avLst>
              <a:gd name="adj" fmla="val 3810"/>
            </a:avLst>
          </a:prstGeom>
          <a:solidFill>
            <a:schemeClr val="bg2"/>
          </a:solidFill>
          <a:ln/>
        </p:spPr>
      </p:sp>
      <p:sp>
        <p:nvSpPr>
          <p:cNvPr id="11" name="Text 8"/>
          <p:cNvSpPr txBox="1"/>
          <p:nvPr/>
        </p:nvSpPr>
        <p:spPr>
          <a:xfrm>
            <a:off x="2651760" y="1298448"/>
            <a:ext cx="1737360" cy="320040"/>
          </a:xfrm>
          <a:prstGeom prst="rect">
            <a:avLst/>
          </a:prstGeom>
          <a:noFill/>
          <a:ln/>
        </p:spPr>
        <p:txBody>
          <a:bodyPr wrap="square" lIns="0" tIns="0" rIns="0" bIns="0" rtlCol="0" anchor="t"/>
          <a:lstStyle/>
          <a:p>
            <a:pPr algn="ctr" indent="0" marL="0">
              <a:buNone/>
            </a:pPr>
            <a:r>
              <a:rPr lang="en-US" sz="1300" b="1" dirty="0">
                <a:solidFill>
                  <a:schemeClr val="accent3"/>
                </a:solidFill>
                <a:latin typeface="Calibri" pitchFamily="34" charset="0"/>
                <a:ea typeface="Calibri" pitchFamily="34" charset="-122"/>
                <a:cs typeface="Calibri" pitchFamily="34" charset="-120"/>
              </a:rPr>
              <a:t>STEP 2</a:t>
            </a:r>
            <a:endParaRPr lang="en-US" sz="1300" dirty="0"/>
          </a:p>
        </p:txBody>
      </p:sp>
      <p:sp>
        <p:nvSpPr>
          <p:cNvPr id="12" name="Shape 9"/>
          <p:cNvSpPr/>
          <p:nvPr/>
        </p:nvSpPr>
        <p:spPr>
          <a:xfrm>
            <a:off x="3154680" y="1691640"/>
            <a:ext cx="731520" cy="731520"/>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3330245" y="1867205"/>
            <a:ext cx="380390" cy="380390"/>
          </a:xfrm>
          <a:prstGeom prst="rect">
            <a:avLst/>
          </a:prstGeom>
        </p:spPr>
      </p:pic>
      <p:sp>
        <p:nvSpPr>
          <p:cNvPr id="14" name="Text 10"/>
          <p:cNvSpPr txBox="1"/>
          <p:nvPr/>
        </p:nvSpPr>
        <p:spPr>
          <a:xfrm>
            <a:off x="2651760" y="2560320"/>
            <a:ext cx="1737360" cy="365760"/>
          </a:xfrm>
          <a:prstGeom prst="rect">
            <a:avLst/>
          </a:prstGeom>
          <a:noFill/>
          <a:ln/>
        </p:spPr>
        <p:txBody>
          <a:bodyPr wrap="square" lIns="0" tIns="0" rIns="0" bIns="0" rtlCol="0" anchor="t"/>
          <a:lstStyle/>
          <a:p>
            <a:pPr algn="ctr" indent="0" marL="0">
              <a:buNone/>
            </a:pPr>
            <a:r>
              <a:rPr lang="en-US" sz="1600" b="1" dirty="0">
                <a:solidFill>
                  <a:schemeClr val="accent1"/>
                </a:solidFill>
                <a:latin typeface="Cambria" pitchFamily="34" charset="0"/>
                <a:ea typeface="Cambria" pitchFamily="34" charset="-122"/>
                <a:cs typeface="Cambria" pitchFamily="34" charset="-120"/>
              </a:rPr>
              <a:t>Prep parts</a:t>
            </a:r>
            <a:endParaRPr lang="en-US" sz="1600" dirty="0"/>
          </a:p>
        </p:txBody>
      </p:sp>
      <p:sp>
        <p:nvSpPr>
          <p:cNvPr id="15" name="Text 11"/>
          <p:cNvSpPr txBox="1"/>
          <p:nvPr/>
        </p:nvSpPr>
        <p:spPr>
          <a:xfrm>
            <a:off x="2697480" y="2971800"/>
            <a:ext cx="1645920" cy="8686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Strip, join, and flux wires (or insert components)</a:t>
            </a:r>
            <a:endParaRPr lang="en-US" sz="1200" dirty="0"/>
          </a:p>
        </p:txBody>
      </p:sp>
      <p:sp>
        <p:nvSpPr>
          <p:cNvPr id="16" name="Shape 12"/>
          <p:cNvSpPr/>
          <p:nvPr/>
        </p:nvSpPr>
        <p:spPr>
          <a:xfrm>
            <a:off x="4498848" y="1920240"/>
            <a:ext cx="146304" cy="201168"/>
          </a:xfrm>
          <a:prstGeom prst="rightArrow">
            <a:avLst/>
          </a:prstGeom>
          <a:solidFill>
            <a:schemeClr val="accent3"/>
          </a:solidFill>
          <a:ln/>
        </p:spPr>
      </p:sp>
      <p:sp>
        <p:nvSpPr>
          <p:cNvPr id="17" name="Shape 13"/>
          <p:cNvSpPr/>
          <p:nvPr/>
        </p:nvSpPr>
        <p:spPr>
          <a:xfrm>
            <a:off x="4663440" y="1188720"/>
            <a:ext cx="1920240" cy="2743200"/>
          </a:xfrm>
          <a:prstGeom prst="roundRect">
            <a:avLst>
              <a:gd name="adj" fmla="val 3810"/>
            </a:avLst>
          </a:prstGeom>
          <a:solidFill>
            <a:schemeClr val="bg2"/>
          </a:solidFill>
          <a:ln/>
        </p:spPr>
      </p:sp>
      <p:sp>
        <p:nvSpPr>
          <p:cNvPr id="18" name="Text 14"/>
          <p:cNvSpPr txBox="1"/>
          <p:nvPr/>
        </p:nvSpPr>
        <p:spPr>
          <a:xfrm>
            <a:off x="4754880" y="1298448"/>
            <a:ext cx="1737360" cy="320040"/>
          </a:xfrm>
          <a:prstGeom prst="rect">
            <a:avLst/>
          </a:prstGeom>
          <a:noFill/>
          <a:ln/>
        </p:spPr>
        <p:txBody>
          <a:bodyPr wrap="square" lIns="0" tIns="0" rIns="0" bIns="0" rtlCol="0" anchor="t"/>
          <a:lstStyle/>
          <a:p>
            <a:pPr algn="ctr" indent="0" marL="0">
              <a:buNone/>
            </a:pPr>
            <a:r>
              <a:rPr lang="en-US" sz="1300" b="1" dirty="0">
                <a:solidFill>
                  <a:schemeClr val="accent3"/>
                </a:solidFill>
                <a:latin typeface="Calibri" pitchFamily="34" charset="0"/>
                <a:ea typeface="Calibri" pitchFamily="34" charset="-122"/>
                <a:cs typeface="Calibri" pitchFamily="34" charset="-120"/>
              </a:rPr>
              <a:t>STEP 3</a:t>
            </a:r>
            <a:endParaRPr lang="en-US" sz="1300" dirty="0"/>
          </a:p>
        </p:txBody>
      </p:sp>
      <p:sp>
        <p:nvSpPr>
          <p:cNvPr id="19" name="Shape 15"/>
          <p:cNvSpPr/>
          <p:nvPr/>
        </p:nvSpPr>
        <p:spPr>
          <a:xfrm>
            <a:off x="5257800" y="1691640"/>
            <a:ext cx="731520" cy="731520"/>
          </a:xfrm>
          <a:prstGeom prst="ellipse">
            <a:avLst/>
          </a:prstGeom>
          <a:solidFill>
            <a:schemeClr val="accent1"/>
          </a:solidFill>
          <a:ln/>
        </p:spPr>
      </p:sp>
      <p:pic>
        <p:nvPicPr>
          <p:cNvPr id="20" name="Image 2" descr="preencoded.png">    </p:cNvPr>
          <p:cNvPicPr>
            <a:picLocks noChangeAspect="1"/>
          </p:cNvPicPr>
          <p:nvPr/>
        </p:nvPicPr>
        <p:blipFill>
          <a:blip r:embed="rId3"/>
          <a:stretch>
            <a:fillRect/>
          </a:stretch>
        </p:blipFill>
        <p:spPr>
          <a:xfrm>
            <a:off x="5433365" y="1867205"/>
            <a:ext cx="380390" cy="380390"/>
          </a:xfrm>
          <a:prstGeom prst="rect">
            <a:avLst/>
          </a:prstGeom>
        </p:spPr>
      </p:pic>
      <p:sp>
        <p:nvSpPr>
          <p:cNvPr id="21" name="Text 16"/>
          <p:cNvSpPr txBox="1"/>
          <p:nvPr/>
        </p:nvSpPr>
        <p:spPr>
          <a:xfrm>
            <a:off x="4754880" y="2560320"/>
            <a:ext cx="1737360" cy="365760"/>
          </a:xfrm>
          <a:prstGeom prst="rect">
            <a:avLst/>
          </a:prstGeom>
          <a:noFill/>
          <a:ln/>
        </p:spPr>
        <p:txBody>
          <a:bodyPr wrap="square" lIns="0" tIns="0" rIns="0" bIns="0" rtlCol="0" anchor="t"/>
          <a:lstStyle/>
          <a:p>
            <a:pPr algn="ctr" indent="0" marL="0">
              <a:buNone/>
            </a:pPr>
            <a:r>
              <a:rPr lang="en-US" sz="1600" b="1" dirty="0">
                <a:solidFill>
                  <a:schemeClr val="accent1"/>
                </a:solidFill>
                <a:latin typeface="Cambria" pitchFamily="34" charset="0"/>
                <a:ea typeface="Cambria" pitchFamily="34" charset="-122"/>
                <a:cs typeface="Cambria" pitchFamily="34" charset="-120"/>
              </a:rPr>
              <a:t>Clean &amp; tin</a:t>
            </a:r>
            <a:endParaRPr lang="en-US" sz="1600" dirty="0"/>
          </a:p>
        </p:txBody>
      </p:sp>
      <p:sp>
        <p:nvSpPr>
          <p:cNvPr id="22" name="Text 17"/>
          <p:cNvSpPr txBox="1"/>
          <p:nvPr/>
        </p:nvSpPr>
        <p:spPr>
          <a:xfrm>
            <a:off x="4800600" y="2971800"/>
            <a:ext cx="1645920" cy="8686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Clean the tip until shiny, then coat it with solder</a:t>
            </a:r>
            <a:endParaRPr lang="en-US" sz="1200" dirty="0"/>
          </a:p>
        </p:txBody>
      </p:sp>
      <p:sp>
        <p:nvSpPr>
          <p:cNvPr id="23" name="Shape 18"/>
          <p:cNvSpPr/>
          <p:nvPr/>
        </p:nvSpPr>
        <p:spPr>
          <a:xfrm>
            <a:off x="6601968" y="1920240"/>
            <a:ext cx="146304" cy="201168"/>
          </a:xfrm>
          <a:prstGeom prst="rightArrow">
            <a:avLst/>
          </a:prstGeom>
          <a:solidFill>
            <a:schemeClr val="accent3"/>
          </a:solidFill>
          <a:ln/>
        </p:spPr>
      </p:sp>
      <p:sp>
        <p:nvSpPr>
          <p:cNvPr id="24" name="Shape 19"/>
          <p:cNvSpPr/>
          <p:nvPr/>
        </p:nvSpPr>
        <p:spPr>
          <a:xfrm>
            <a:off x="6766560" y="1188720"/>
            <a:ext cx="1920240" cy="2743200"/>
          </a:xfrm>
          <a:prstGeom prst="roundRect">
            <a:avLst>
              <a:gd name="adj" fmla="val 3810"/>
            </a:avLst>
          </a:prstGeom>
          <a:solidFill>
            <a:schemeClr val="bg2"/>
          </a:solidFill>
          <a:ln/>
        </p:spPr>
      </p:sp>
      <p:sp>
        <p:nvSpPr>
          <p:cNvPr id="25" name="Text 20"/>
          <p:cNvSpPr txBox="1"/>
          <p:nvPr/>
        </p:nvSpPr>
        <p:spPr>
          <a:xfrm>
            <a:off x="6858000" y="1298448"/>
            <a:ext cx="1737360" cy="320040"/>
          </a:xfrm>
          <a:prstGeom prst="rect">
            <a:avLst/>
          </a:prstGeom>
          <a:noFill/>
          <a:ln/>
        </p:spPr>
        <p:txBody>
          <a:bodyPr wrap="square" lIns="0" tIns="0" rIns="0" bIns="0" rtlCol="0" anchor="t"/>
          <a:lstStyle/>
          <a:p>
            <a:pPr algn="ctr" indent="0" marL="0">
              <a:buNone/>
            </a:pPr>
            <a:r>
              <a:rPr lang="en-US" sz="1300" b="1" dirty="0">
                <a:solidFill>
                  <a:schemeClr val="accent3"/>
                </a:solidFill>
                <a:latin typeface="Calibri" pitchFamily="34" charset="0"/>
                <a:ea typeface="Calibri" pitchFamily="34" charset="-122"/>
                <a:cs typeface="Calibri" pitchFamily="34" charset="-120"/>
              </a:rPr>
              <a:t>STEP 4</a:t>
            </a:r>
            <a:endParaRPr lang="en-US" sz="1300" dirty="0"/>
          </a:p>
        </p:txBody>
      </p:sp>
      <p:sp>
        <p:nvSpPr>
          <p:cNvPr id="26" name="Shape 21"/>
          <p:cNvSpPr/>
          <p:nvPr/>
        </p:nvSpPr>
        <p:spPr>
          <a:xfrm>
            <a:off x="7360920" y="1691640"/>
            <a:ext cx="731520" cy="731520"/>
          </a:xfrm>
          <a:prstGeom prst="ellipse">
            <a:avLst/>
          </a:prstGeom>
          <a:solidFill>
            <a:schemeClr val="accent1"/>
          </a:solidFill>
          <a:ln/>
        </p:spPr>
      </p:sp>
      <p:pic>
        <p:nvPicPr>
          <p:cNvPr id="27" name="Image 3" descr="preencoded.png">    </p:cNvPr>
          <p:cNvPicPr>
            <a:picLocks noChangeAspect="1"/>
          </p:cNvPicPr>
          <p:nvPr/>
        </p:nvPicPr>
        <p:blipFill>
          <a:blip r:embed="rId4"/>
          <a:stretch>
            <a:fillRect/>
          </a:stretch>
        </p:blipFill>
        <p:spPr>
          <a:xfrm>
            <a:off x="7536485" y="1867205"/>
            <a:ext cx="380390" cy="380390"/>
          </a:xfrm>
          <a:prstGeom prst="rect">
            <a:avLst/>
          </a:prstGeom>
        </p:spPr>
      </p:pic>
      <p:sp>
        <p:nvSpPr>
          <p:cNvPr id="28" name="Text 22"/>
          <p:cNvSpPr txBox="1"/>
          <p:nvPr/>
        </p:nvSpPr>
        <p:spPr>
          <a:xfrm>
            <a:off x="6858000" y="2560320"/>
            <a:ext cx="1737360" cy="365760"/>
          </a:xfrm>
          <a:prstGeom prst="rect">
            <a:avLst/>
          </a:prstGeom>
          <a:noFill/>
          <a:ln/>
        </p:spPr>
        <p:txBody>
          <a:bodyPr wrap="square" lIns="0" tIns="0" rIns="0" bIns="0" rtlCol="0" anchor="t"/>
          <a:lstStyle/>
          <a:p>
            <a:pPr algn="ctr" indent="0" marL="0">
              <a:buNone/>
            </a:pPr>
            <a:r>
              <a:rPr lang="en-US" sz="1600" b="1" dirty="0">
                <a:solidFill>
                  <a:schemeClr val="accent1"/>
                </a:solidFill>
                <a:latin typeface="Cambria" pitchFamily="34" charset="0"/>
                <a:ea typeface="Cambria" pitchFamily="34" charset="-122"/>
                <a:cs typeface="Cambria" pitchFamily="34" charset="-120"/>
              </a:rPr>
              <a:t>Solder &amp; inspect</a:t>
            </a:r>
            <a:endParaRPr lang="en-US" sz="1600" dirty="0"/>
          </a:p>
        </p:txBody>
      </p:sp>
      <p:sp>
        <p:nvSpPr>
          <p:cNvPr id="29" name="Text 23"/>
          <p:cNvSpPr txBox="1"/>
          <p:nvPr/>
        </p:nvSpPr>
        <p:spPr>
          <a:xfrm>
            <a:off x="6903720" y="2971800"/>
            <a:ext cx="1645920" cy="8686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Heat the joint, feed solder, check it, trim</a:t>
            </a:r>
            <a:endParaRPr lang="en-US" sz="1200" dirty="0"/>
          </a:p>
        </p:txBody>
      </p:sp>
      <p:sp>
        <p:nvSpPr>
          <p:cNvPr id="30" name="Shape 24"/>
          <p:cNvSpPr/>
          <p:nvPr/>
        </p:nvSpPr>
        <p:spPr>
          <a:xfrm>
            <a:off x="457200" y="4114800"/>
            <a:ext cx="8229600" cy="502920"/>
          </a:xfrm>
          <a:prstGeom prst="roundRect">
            <a:avLst>
              <a:gd name="adj" fmla="val 14545"/>
            </a:avLst>
          </a:prstGeom>
          <a:solidFill>
            <a:schemeClr val="accent1"/>
          </a:solidFill>
          <a:ln/>
        </p:spPr>
      </p:sp>
      <p:sp>
        <p:nvSpPr>
          <p:cNvPr id="31" name="Text 25"/>
          <p:cNvSpPr txBox="1"/>
          <p:nvPr/>
        </p:nvSpPr>
        <p:spPr>
          <a:xfrm>
            <a:off x="685800" y="4114800"/>
            <a:ext cx="7772400" cy="502920"/>
          </a:xfrm>
          <a:prstGeom prst="rect">
            <a:avLst/>
          </a:prstGeom>
          <a:noFill/>
          <a:ln/>
        </p:spPr>
        <p:txBody>
          <a:bodyPr wrap="square" lIns="0" tIns="0" rIns="0" bIns="0" rtlCol="0" anchor="ctr"/>
          <a:lstStyle/>
          <a:p>
            <a:pPr indent="0" marL="0">
              <a:buNone/>
            </a:pPr>
            <a:r>
              <a:rPr lang="en-US" sz="1400" b="1" dirty="0">
                <a:solidFill>
                  <a:schemeClr val="accent3"/>
                </a:solidFill>
                <a:latin typeface="Calibri" pitchFamily="34" charset="0"/>
                <a:ea typeface="Calibri" pitchFamily="34" charset="-122"/>
                <a:cs typeface="Calibri" pitchFamily="34" charset="-120"/>
              </a:rPr>
              <a:t>Badge activity: </a:t>
            </a:r>
            <a:pPr indent="0" marL="0">
              <a:buNone/>
            </a:pPr>
            <a:r>
              <a:rPr lang="en-US" sz="1400" dirty="0">
                <a:solidFill>
                  <a:schemeClr val="bg1"/>
                </a:solidFill>
                <a:latin typeface="Calibri" pitchFamily="34" charset="0"/>
                <a:ea typeface="Calibri" pitchFamily="34" charset="-122"/>
                <a:cs typeface="Calibri" pitchFamily="34" charset="-120"/>
              </a:rPr>
              <a:t>SparkFun Basic Flashlight Soldering Kit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Prep your soldering iron</a:t>
            </a:r>
            <a:endParaRPr lang="en-US" sz="3000" dirty="0"/>
          </a:p>
        </p:txBody>
      </p:sp>
      <p:sp>
        <p:nvSpPr>
          <p:cNvPr id="3" name="Shape 1"/>
          <p:cNvSpPr/>
          <p:nvPr/>
        </p:nvSpPr>
        <p:spPr>
          <a:xfrm>
            <a:off x="7315200" y="411480"/>
            <a:ext cx="1371600" cy="365760"/>
          </a:xfrm>
          <a:prstGeom prst="roundRect">
            <a:avLst>
              <a:gd name="adj" fmla="val 50000"/>
            </a:avLst>
          </a:prstGeom>
          <a:solidFill>
            <a:schemeClr val="accent3"/>
          </a:solidFill>
          <a:ln/>
        </p:spPr>
      </p:sp>
      <p:sp>
        <p:nvSpPr>
          <p:cNvPr id="4" name="Text 2"/>
          <p:cNvSpPr txBox="1"/>
          <p:nvPr/>
        </p:nvSpPr>
        <p:spPr>
          <a:xfrm>
            <a:off x="7315200" y="411480"/>
            <a:ext cx="1371600" cy="365760"/>
          </a:xfrm>
          <a:prstGeom prst="rect">
            <a:avLst/>
          </a:prstGeom>
          <a:noFill/>
          <a:ln/>
        </p:spPr>
        <p:txBody>
          <a:bodyPr wrap="square" lIns="0" tIns="0" rIns="0" bIns="0" rtlCol="0" anchor="ctr"/>
          <a:lstStyle/>
          <a:p>
            <a:pPr algn="ctr" indent="0" marL="0">
              <a:buNone/>
            </a:pPr>
            <a:r>
              <a:rPr lang="en-US" sz="1100" b="1" dirty="0">
                <a:solidFill>
                  <a:schemeClr val="accent1"/>
                </a:solidFill>
                <a:latin typeface="Calibri" pitchFamily="34" charset="0"/>
                <a:ea typeface="Calibri" pitchFamily="34" charset="-122"/>
                <a:cs typeface="Calibri" pitchFamily="34" charset="-120"/>
              </a:rPr>
              <a:t>STEP 1 · PREP</a:t>
            </a:r>
            <a:endParaRPr lang="en-US" sz="1100" dirty="0"/>
          </a:p>
        </p:txBody>
      </p:sp>
      <p:sp>
        <p:nvSpPr>
          <p:cNvPr id="5" name="Shape 3"/>
          <p:cNvSpPr/>
          <p:nvPr/>
        </p:nvSpPr>
        <p:spPr>
          <a:xfrm>
            <a:off x="457200" y="1115568"/>
            <a:ext cx="365760" cy="365760"/>
          </a:xfrm>
          <a:prstGeom prst="ellipse">
            <a:avLst/>
          </a:prstGeom>
          <a:solidFill>
            <a:schemeClr val="accent1"/>
          </a:solidFill>
          <a:ln/>
        </p:spPr>
      </p:sp>
      <p:sp>
        <p:nvSpPr>
          <p:cNvPr id="6" name="Text 4"/>
          <p:cNvSpPr txBox="1"/>
          <p:nvPr/>
        </p:nvSpPr>
        <p:spPr>
          <a:xfrm>
            <a:off x="457200" y="111556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A</a:t>
            </a:r>
            <a:endParaRPr lang="en-US" sz="1300" dirty="0"/>
          </a:p>
        </p:txBody>
      </p:sp>
      <p:sp>
        <p:nvSpPr>
          <p:cNvPr id="7" name="Text 5"/>
          <p:cNvSpPr txBox="1"/>
          <p:nvPr/>
        </p:nvSpPr>
        <p:spPr>
          <a:xfrm>
            <a:off x="932688" y="1078992"/>
            <a:ext cx="3730752" cy="658368"/>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Plug in and set the temperature</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Iron in its stand before turning it on. Unsure of the temperature? Ask.</a:t>
            </a:r>
            <a:endParaRPr lang="en-US" sz="1400" dirty="0"/>
          </a:p>
        </p:txBody>
      </p:sp>
      <p:sp>
        <p:nvSpPr>
          <p:cNvPr id="8" name="Shape 6"/>
          <p:cNvSpPr/>
          <p:nvPr/>
        </p:nvSpPr>
        <p:spPr>
          <a:xfrm>
            <a:off x="457200" y="1810512"/>
            <a:ext cx="365760" cy="365760"/>
          </a:xfrm>
          <a:prstGeom prst="ellipse">
            <a:avLst/>
          </a:prstGeom>
          <a:solidFill>
            <a:schemeClr val="accent1"/>
          </a:solidFill>
          <a:ln/>
        </p:spPr>
      </p:sp>
      <p:sp>
        <p:nvSpPr>
          <p:cNvPr id="9" name="Text 7"/>
          <p:cNvSpPr txBox="1"/>
          <p:nvPr/>
        </p:nvSpPr>
        <p:spPr>
          <a:xfrm>
            <a:off x="457200" y="18105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B</a:t>
            </a:r>
            <a:endParaRPr lang="en-US" sz="1300" dirty="0"/>
          </a:p>
        </p:txBody>
      </p:sp>
      <p:sp>
        <p:nvSpPr>
          <p:cNvPr id="10" name="Text 8"/>
          <p:cNvSpPr txBox="1"/>
          <p:nvPr/>
        </p:nvSpPr>
        <p:spPr>
          <a:xfrm>
            <a:off x="932688" y="1773936"/>
            <a:ext cx="3730752" cy="658368"/>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Soak the sponge</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Use the area's water container. Damp, not dripping.</a:t>
            </a:r>
            <a:endParaRPr lang="en-US" sz="1400" dirty="0"/>
          </a:p>
        </p:txBody>
      </p:sp>
      <p:sp>
        <p:nvSpPr>
          <p:cNvPr id="11" name="Shape 9"/>
          <p:cNvSpPr/>
          <p:nvPr/>
        </p:nvSpPr>
        <p:spPr>
          <a:xfrm>
            <a:off x="457200" y="2505456"/>
            <a:ext cx="365760" cy="365760"/>
          </a:xfrm>
          <a:prstGeom prst="ellipse">
            <a:avLst/>
          </a:prstGeom>
          <a:solidFill>
            <a:schemeClr val="accent1"/>
          </a:solidFill>
          <a:ln/>
        </p:spPr>
      </p:sp>
      <p:sp>
        <p:nvSpPr>
          <p:cNvPr id="12" name="Text 10"/>
          <p:cNvSpPr txBox="1"/>
          <p:nvPr/>
        </p:nvSpPr>
        <p:spPr>
          <a:xfrm>
            <a:off x="457200" y="250545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C</a:t>
            </a:r>
            <a:endParaRPr lang="en-US" sz="1300" dirty="0"/>
          </a:p>
        </p:txBody>
      </p:sp>
      <p:sp>
        <p:nvSpPr>
          <p:cNvPr id="13" name="Text 11"/>
          <p:cNvSpPr txBox="1"/>
          <p:nvPr/>
        </p:nvSpPr>
        <p:spPr>
          <a:xfrm>
            <a:off x="932688" y="2468880"/>
            <a:ext cx="3730752" cy="658368"/>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Turn on the fume absorber</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Switch is on the back</a:t>
            </a:r>
            <a:endParaRPr lang="en-US" sz="1400" dirty="0"/>
          </a:p>
        </p:txBody>
      </p:sp>
      <p:sp>
        <p:nvSpPr>
          <p:cNvPr id="14" name="Shape 12"/>
          <p:cNvSpPr/>
          <p:nvPr/>
        </p:nvSpPr>
        <p:spPr>
          <a:xfrm>
            <a:off x="457200" y="3200400"/>
            <a:ext cx="365760" cy="365760"/>
          </a:xfrm>
          <a:prstGeom prst="ellipse">
            <a:avLst/>
          </a:prstGeom>
          <a:solidFill>
            <a:schemeClr val="accent1"/>
          </a:solidFill>
          <a:ln/>
        </p:spPr>
      </p:sp>
      <p:sp>
        <p:nvSpPr>
          <p:cNvPr id="15" name="Text 13"/>
          <p:cNvSpPr txBox="1"/>
          <p:nvPr/>
        </p:nvSpPr>
        <p:spPr>
          <a:xfrm>
            <a:off x="457200" y="320040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D</a:t>
            </a:r>
            <a:endParaRPr lang="en-US" sz="1300" dirty="0"/>
          </a:p>
        </p:txBody>
      </p:sp>
      <p:sp>
        <p:nvSpPr>
          <p:cNvPr id="16" name="Text 14"/>
          <p:cNvSpPr txBox="1"/>
          <p:nvPr/>
        </p:nvSpPr>
        <p:spPr>
          <a:xfrm>
            <a:off x="932688" y="3163824"/>
            <a:ext cx="3730752" cy="658368"/>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Gather materials while it heats</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Safety glasses, flux, solder, support equipment, parts</a:t>
            </a:r>
            <a:endParaRPr lang="en-US" sz="1400" dirty="0"/>
          </a:p>
        </p:txBody>
      </p:sp>
      <p:sp>
        <p:nvSpPr>
          <p:cNvPr id="17" name="Shape 15"/>
          <p:cNvSpPr/>
          <p:nvPr/>
        </p:nvSpPr>
        <p:spPr>
          <a:xfrm>
            <a:off x="457200" y="3895344"/>
            <a:ext cx="365760" cy="365760"/>
          </a:xfrm>
          <a:prstGeom prst="ellipse">
            <a:avLst/>
          </a:prstGeom>
          <a:solidFill>
            <a:schemeClr val="accent1"/>
          </a:solidFill>
          <a:ln/>
        </p:spPr>
      </p:sp>
      <p:sp>
        <p:nvSpPr>
          <p:cNvPr id="18" name="Text 16"/>
          <p:cNvSpPr txBox="1"/>
          <p:nvPr/>
        </p:nvSpPr>
        <p:spPr>
          <a:xfrm>
            <a:off x="457200" y="3895344"/>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E</a:t>
            </a:r>
            <a:endParaRPr lang="en-US" sz="1300" dirty="0"/>
          </a:p>
        </p:txBody>
      </p:sp>
      <p:sp>
        <p:nvSpPr>
          <p:cNvPr id="19" name="Text 17"/>
          <p:cNvSpPr txBox="1"/>
          <p:nvPr/>
        </p:nvSpPr>
        <p:spPr>
          <a:xfrm>
            <a:off x="932688" y="3858768"/>
            <a:ext cx="3730752" cy="658368"/>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Secure your project</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In support equipment that lets you move or rotate it</a:t>
            </a:r>
            <a:endParaRPr lang="en-US" sz="1400" dirty="0"/>
          </a:p>
        </p:txBody>
      </p:sp>
      <p:sp>
        <p:nvSpPr>
          <p:cNvPr id="20" name="Shape 18"/>
          <p:cNvSpPr/>
          <p:nvPr/>
        </p:nvSpPr>
        <p:spPr>
          <a:xfrm>
            <a:off x="4892040" y="1097280"/>
            <a:ext cx="3794760" cy="1645920"/>
          </a:xfrm>
          <a:prstGeom prst="roundRect">
            <a:avLst>
              <a:gd name="adj" fmla="val 4444"/>
            </a:avLst>
          </a:prstGeom>
          <a:solidFill>
            <a:schemeClr val="bg1"/>
          </a:solidFill>
          <a:ln/>
        </p:spPr>
      </p:sp>
      <p:sp>
        <p:nvSpPr>
          <p:cNvPr id="21" name="Shape 19"/>
          <p:cNvSpPr/>
          <p:nvPr/>
        </p:nvSpPr>
        <p:spPr>
          <a:xfrm>
            <a:off x="4892040" y="1097280"/>
            <a:ext cx="3794760" cy="1645920"/>
          </a:xfrm>
          <a:prstGeom prst="roundRect">
            <a:avLst>
              <a:gd name="adj" fmla="val 4444"/>
            </a:avLst>
          </a:prstGeom>
          <a:ln w="9525">
            <a:solidFill>
              <a:srgbClr val="D5DED7"/>
            </a:solidFill>
            <a:prstDash val="solid"/>
          </a:ln>
        </p:spPr>
      </p:sp>
      <p:pic>
        <p:nvPicPr>
          <p:cNvPr id="22" name="Image 0" descr="/tmp/work/smedia/image21.jpg">    </p:cNvPr>
          <p:cNvPicPr>
            <a:picLocks noChangeAspect="1"/>
          </p:cNvPicPr>
          <p:nvPr/>
        </p:nvPicPr>
        <p:blipFill>
          <a:blip r:embed="rId1"/>
          <a:stretch>
            <a:fillRect/>
          </a:stretch>
        </p:blipFill>
        <p:spPr>
          <a:xfrm>
            <a:off x="5568802" y="1170432"/>
            <a:ext cx="2441235" cy="1499616"/>
          </a:xfrm>
          <a:prstGeom prst="rect">
            <a:avLst/>
          </a:prstGeom>
        </p:spPr>
      </p:pic>
      <p:sp>
        <p:nvSpPr>
          <p:cNvPr id="23" name="Shape 20"/>
          <p:cNvSpPr/>
          <p:nvPr/>
        </p:nvSpPr>
        <p:spPr>
          <a:xfrm>
            <a:off x="4892040" y="2880360"/>
            <a:ext cx="3794760" cy="1691640"/>
          </a:xfrm>
          <a:prstGeom prst="roundRect">
            <a:avLst>
              <a:gd name="adj" fmla="val 4324"/>
            </a:avLst>
          </a:prstGeom>
          <a:solidFill>
            <a:schemeClr val="bg1"/>
          </a:solidFill>
          <a:ln/>
        </p:spPr>
      </p:sp>
      <p:sp>
        <p:nvSpPr>
          <p:cNvPr id="24" name="Shape 21"/>
          <p:cNvSpPr/>
          <p:nvPr/>
        </p:nvSpPr>
        <p:spPr>
          <a:xfrm>
            <a:off x="4892040" y="2880360"/>
            <a:ext cx="3794760" cy="1691640"/>
          </a:xfrm>
          <a:prstGeom prst="roundRect">
            <a:avLst>
              <a:gd name="adj" fmla="val 4324"/>
            </a:avLst>
          </a:prstGeom>
          <a:ln w="9525">
            <a:solidFill>
              <a:srgbClr val="D5DED7"/>
            </a:solidFill>
            <a:prstDash val="solid"/>
          </a:ln>
        </p:spPr>
      </p:sp>
      <p:pic>
        <p:nvPicPr>
          <p:cNvPr id="25" name="Image 1" descr="/tmp/work/smedia/image17.jpg">    </p:cNvPr>
          <p:cNvPicPr>
            <a:picLocks noChangeAspect="1"/>
          </p:cNvPicPr>
          <p:nvPr/>
        </p:nvPicPr>
        <p:blipFill>
          <a:blip r:embed="rId2"/>
          <a:stretch>
            <a:fillRect/>
          </a:stretch>
        </p:blipFill>
        <p:spPr>
          <a:xfrm>
            <a:off x="5468620" y="2953512"/>
            <a:ext cx="2641600" cy="1545336"/>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Prep your wires</a:t>
            </a:r>
            <a:endParaRPr lang="en-US" sz="3000" dirty="0"/>
          </a:p>
        </p:txBody>
      </p:sp>
      <p:sp>
        <p:nvSpPr>
          <p:cNvPr id="3" name="Shape 1"/>
          <p:cNvSpPr/>
          <p:nvPr/>
        </p:nvSpPr>
        <p:spPr>
          <a:xfrm>
            <a:off x="7315200" y="411480"/>
            <a:ext cx="1371600" cy="365760"/>
          </a:xfrm>
          <a:prstGeom prst="roundRect">
            <a:avLst>
              <a:gd name="adj" fmla="val 50000"/>
            </a:avLst>
          </a:prstGeom>
          <a:solidFill>
            <a:schemeClr val="accent3"/>
          </a:solidFill>
          <a:ln/>
        </p:spPr>
      </p:sp>
      <p:sp>
        <p:nvSpPr>
          <p:cNvPr id="4" name="Text 2"/>
          <p:cNvSpPr txBox="1"/>
          <p:nvPr/>
        </p:nvSpPr>
        <p:spPr>
          <a:xfrm>
            <a:off x="7315200" y="411480"/>
            <a:ext cx="1371600" cy="365760"/>
          </a:xfrm>
          <a:prstGeom prst="rect">
            <a:avLst/>
          </a:prstGeom>
          <a:noFill/>
          <a:ln/>
        </p:spPr>
        <p:txBody>
          <a:bodyPr wrap="square" lIns="0" tIns="0" rIns="0" bIns="0" rtlCol="0" anchor="ctr"/>
          <a:lstStyle/>
          <a:p>
            <a:pPr algn="ctr" indent="0" marL="0">
              <a:buNone/>
            </a:pPr>
            <a:r>
              <a:rPr lang="en-US" sz="1100" b="1" dirty="0">
                <a:solidFill>
                  <a:schemeClr val="accent1"/>
                </a:solidFill>
                <a:latin typeface="Calibri" pitchFamily="34" charset="0"/>
                <a:ea typeface="Calibri" pitchFamily="34" charset="-122"/>
                <a:cs typeface="Calibri" pitchFamily="34" charset="-120"/>
              </a:rPr>
              <a:t>STEP 2 · PARTS</a:t>
            </a:r>
            <a:endParaRPr lang="en-US" sz="1100" dirty="0"/>
          </a:p>
        </p:txBody>
      </p:sp>
      <p:sp>
        <p:nvSpPr>
          <p:cNvPr id="5" name="Shape 3"/>
          <p:cNvSpPr/>
          <p:nvPr/>
        </p:nvSpPr>
        <p:spPr>
          <a:xfrm>
            <a:off x="457200" y="1115568"/>
            <a:ext cx="365760" cy="365760"/>
          </a:xfrm>
          <a:prstGeom prst="ellipse">
            <a:avLst/>
          </a:prstGeom>
          <a:solidFill>
            <a:schemeClr val="accent1"/>
          </a:solidFill>
          <a:ln/>
        </p:spPr>
      </p:sp>
      <p:sp>
        <p:nvSpPr>
          <p:cNvPr id="6" name="Text 4"/>
          <p:cNvSpPr txBox="1"/>
          <p:nvPr/>
        </p:nvSpPr>
        <p:spPr>
          <a:xfrm>
            <a:off x="457200" y="111556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A</a:t>
            </a:r>
            <a:endParaRPr lang="en-US" sz="1300" dirty="0"/>
          </a:p>
        </p:txBody>
      </p:sp>
      <p:sp>
        <p:nvSpPr>
          <p:cNvPr id="7" name="Text 5"/>
          <p:cNvSpPr txBox="1"/>
          <p:nvPr/>
        </p:nvSpPr>
        <p:spPr>
          <a:xfrm>
            <a:off x="932688" y="1078992"/>
            <a:ext cx="3730752" cy="832104"/>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Strip the wire</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Match the gauge on the stripper, close, pull the insulation off. About 1/2 inch exposed.</a:t>
            </a:r>
            <a:endParaRPr lang="en-US" sz="1400" dirty="0"/>
          </a:p>
        </p:txBody>
      </p:sp>
      <p:sp>
        <p:nvSpPr>
          <p:cNvPr id="8" name="Shape 6"/>
          <p:cNvSpPr/>
          <p:nvPr/>
        </p:nvSpPr>
        <p:spPr>
          <a:xfrm>
            <a:off x="457200" y="1984248"/>
            <a:ext cx="365760" cy="365760"/>
          </a:xfrm>
          <a:prstGeom prst="ellipse">
            <a:avLst/>
          </a:prstGeom>
          <a:solidFill>
            <a:schemeClr val="accent1"/>
          </a:solidFill>
          <a:ln/>
        </p:spPr>
      </p:sp>
      <p:sp>
        <p:nvSpPr>
          <p:cNvPr id="9" name="Text 7"/>
          <p:cNvSpPr txBox="1"/>
          <p:nvPr/>
        </p:nvSpPr>
        <p:spPr>
          <a:xfrm>
            <a:off x="457200" y="198424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B</a:t>
            </a:r>
            <a:endParaRPr lang="en-US" sz="1300" dirty="0"/>
          </a:p>
        </p:txBody>
      </p:sp>
      <p:sp>
        <p:nvSpPr>
          <p:cNvPr id="10" name="Text 8"/>
          <p:cNvSpPr txBox="1"/>
          <p:nvPr/>
        </p:nvSpPr>
        <p:spPr>
          <a:xfrm>
            <a:off x="932688" y="1947672"/>
            <a:ext cx="3730752" cy="832104"/>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Join the wires</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Secure them in support equipment and twist the strands together</a:t>
            </a:r>
            <a:endParaRPr lang="en-US" sz="1400" dirty="0"/>
          </a:p>
        </p:txBody>
      </p:sp>
      <p:sp>
        <p:nvSpPr>
          <p:cNvPr id="11" name="Shape 9"/>
          <p:cNvSpPr/>
          <p:nvPr/>
        </p:nvSpPr>
        <p:spPr>
          <a:xfrm>
            <a:off x="457200" y="2852928"/>
            <a:ext cx="365760" cy="365760"/>
          </a:xfrm>
          <a:prstGeom prst="ellipse">
            <a:avLst/>
          </a:prstGeom>
          <a:solidFill>
            <a:schemeClr val="accent1"/>
          </a:solidFill>
          <a:ln/>
        </p:spPr>
      </p:sp>
      <p:sp>
        <p:nvSpPr>
          <p:cNvPr id="12" name="Text 10"/>
          <p:cNvSpPr txBox="1"/>
          <p:nvPr/>
        </p:nvSpPr>
        <p:spPr>
          <a:xfrm>
            <a:off x="457200" y="285292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C</a:t>
            </a:r>
            <a:endParaRPr lang="en-US" sz="1300" dirty="0"/>
          </a:p>
        </p:txBody>
      </p:sp>
      <p:sp>
        <p:nvSpPr>
          <p:cNvPr id="13" name="Text 11"/>
          <p:cNvSpPr txBox="1"/>
          <p:nvPr/>
        </p:nvSpPr>
        <p:spPr>
          <a:xfrm>
            <a:off x="932688" y="2816352"/>
            <a:ext cx="3730752" cy="832104"/>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Apply flux</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A small amount on the areas to be soldered</a:t>
            </a:r>
            <a:endParaRPr lang="en-US" sz="1400" dirty="0"/>
          </a:p>
        </p:txBody>
      </p:sp>
      <p:sp>
        <p:nvSpPr>
          <p:cNvPr id="14" name="Shape 12"/>
          <p:cNvSpPr/>
          <p:nvPr/>
        </p:nvSpPr>
        <p:spPr>
          <a:xfrm>
            <a:off x="4892040" y="1097280"/>
            <a:ext cx="3794760" cy="1463040"/>
          </a:xfrm>
          <a:prstGeom prst="roundRect">
            <a:avLst>
              <a:gd name="adj" fmla="val 5000"/>
            </a:avLst>
          </a:prstGeom>
          <a:solidFill>
            <a:schemeClr val="bg1"/>
          </a:solidFill>
          <a:ln/>
        </p:spPr>
      </p:sp>
      <p:sp>
        <p:nvSpPr>
          <p:cNvPr id="15" name="Shape 13"/>
          <p:cNvSpPr/>
          <p:nvPr/>
        </p:nvSpPr>
        <p:spPr>
          <a:xfrm>
            <a:off x="4892040" y="1097280"/>
            <a:ext cx="3794760" cy="1463040"/>
          </a:xfrm>
          <a:prstGeom prst="roundRect">
            <a:avLst>
              <a:gd name="adj" fmla="val 5000"/>
            </a:avLst>
          </a:prstGeom>
          <a:ln w="9525">
            <a:solidFill>
              <a:srgbClr val="D5DED7"/>
            </a:solidFill>
            <a:prstDash val="solid"/>
          </a:ln>
        </p:spPr>
      </p:sp>
      <p:pic>
        <p:nvPicPr>
          <p:cNvPr id="16" name="Image 0" descr="/tmp/work/smedia/image9.jpg">    </p:cNvPr>
          <p:cNvPicPr>
            <a:picLocks noChangeAspect="1"/>
          </p:cNvPicPr>
          <p:nvPr/>
        </p:nvPicPr>
        <p:blipFill>
          <a:blip r:embed="rId1"/>
          <a:stretch>
            <a:fillRect/>
          </a:stretch>
        </p:blipFill>
        <p:spPr>
          <a:xfrm>
            <a:off x="5576637" y="1170432"/>
            <a:ext cx="2425566" cy="1316736"/>
          </a:xfrm>
          <a:prstGeom prst="rect">
            <a:avLst/>
          </a:prstGeom>
        </p:spPr>
      </p:pic>
      <p:sp>
        <p:nvSpPr>
          <p:cNvPr id="17" name="Shape 14"/>
          <p:cNvSpPr/>
          <p:nvPr/>
        </p:nvSpPr>
        <p:spPr>
          <a:xfrm>
            <a:off x="4892040" y="2697480"/>
            <a:ext cx="3794760" cy="1280160"/>
          </a:xfrm>
          <a:prstGeom prst="roundRect">
            <a:avLst>
              <a:gd name="adj" fmla="val 5714"/>
            </a:avLst>
          </a:prstGeom>
          <a:solidFill>
            <a:schemeClr val="bg1"/>
          </a:solidFill>
          <a:ln/>
        </p:spPr>
      </p:sp>
      <p:sp>
        <p:nvSpPr>
          <p:cNvPr id="18" name="Shape 15"/>
          <p:cNvSpPr/>
          <p:nvPr/>
        </p:nvSpPr>
        <p:spPr>
          <a:xfrm>
            <a:off x="4892040" y="2697480"/>
            <a:ext cx="3794760" cy="1280160"/>
          </a:xfrm>
          <a:prstGeom prst="roundRect">
            <a:avLst>
              <a:gd name="adj" fmla="val 5714"/>
            </a:avLst>
          </a:prstGeom>
          <a:ln w="9525">
            <a:solidFill>
              <a:srgbClr val="D5DED7"/>
            </a:solidFill>
            <a:prstDash val="solid"/>
          </a:ln>
        </p:spPr>
      </p:sp>
      <p:pic>
        <p:nvPicPr>
          <p:cNvPr id="19" name="Image 1" descr="/tmp/work/smedia/image6.jpg">    </p:cNvPr>
          <p:cNvPicPr>
            <a:picLocks noChangeAspect="1"/>
          </p:cNvPicPr>
          <p:nvPr/>
        </p:nvPicPr>
        <p:blipFill>
          <a:blip r:embed="rId2"/>
          <a:stretch>
            <a:fillRect/>
          </a:stretch>
        </p:blipFill>
        <p:spPr>
          <a:xfrm>
            <a:off x="5045026" y="2770632"/>
            <a:ext cx="3488788" cy="1133856"/>
          </a:xfrm>
          <a:prstGeom prst="rect">
            <a:avLst/>
          </a:prstGeom>
        </p:spPr>
      </p:pic>
      <p:sp>
        <p:nvSpPr>
          <p:cNvPr id="20" name="Shape 16"/>
          <p:cNvSpPr/>
          <p:nvPr/>
        </p:nvSpPr>
        <p:spPr>
          <a:xfrm>
            <a:off x="457200" y="4069080"/>
            <a:ext cx="8229600" cy="548640"/>
          </a:xfrm>
          <a:prstGeom prst="roundRect">
            <a:avLst>
              <a:gd name="adj" fmla="val 13333"/>
            </a:avLst>
          </a:prstGeom>
          <a:solidFill>
            <a:schemeClr val="accent1"/>
          </a:solidFill>
          <a:ln/>
        </p:spPr>
      </p:sp>
      <p:sp>
        <p:nvSpPr>
          <p:cNvPr id="21" name="Text 17"/>
          <p:cNvSpPr txBox="1"/>
          <p:nvPr/>
        </p:nvSpPr>
        <p:spPr>
          <a:xfrm>
            <a:off x="685800" y="4069080"/>
            <a:ext cx="7772400" cy="548640"/>
          </a:xfrm>
          <a:prstGeom prst="rect">
            <a:avLst/>
          </a:prstGeom>
          <a:noFill/>
          <a:ln/>
        </p:spPr>
        <p:txBody>
          <a:bodyPr wrap="square" lIns="0" tIns="0" rIns="0" bIns="0" rtlCol="0" anchor="ctr"/>
          <a:lstStyle/>
          <a:p>
            <a:pPr indent="0" marL="0">
              <a:buNone/>
            </a:pPr>
            <a:r>
              <a:rPr lang="en-US" sz="1400" b="1" dirty="0">
                <a:solidFill>
                  <a:schemeClr val="accent3"/>
                </a:solidFill>
                <a:latin typeface="Calibri" pitchFamily="34" charset="0"/>
                <a:ea typeface="Calibri" pitchFamily="34" charset="-122"/>
                <a:cs typeface="Calibri" pitchFamily="34" charset="-120"/>
              </a:rPr>
              <a:t>Flashlight kit: </a:t>
            </a:r>
            <a:pPr indent="0" marL="0">
              <a:buNone/>
            </a:pPr>
            <a:r>
              <a:rPr lang="en-US" sz="1400" dirty="0">
                <a:solidFill>
                  <a:schemeClr val="bg1"/>
                </a:solidFill>
                <a:latin typeface="Calibri" pitchFamily="34" charset="0"/>
                <a:ea typeface="Calibri" pitchFamily="34" charset="-122"/>
                <a:cs typeface="Calibri" pitchFamily="34" charset="-120"/>
              </a:rPr>
              <a:t>you don't need to prep wires beyond removing the protective paper ends.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Clean and tin the tip</a:t>
            </a:r>
            <a:endParaRPr lang="en-US" sz="3000" dirty="0"/>
          </a:p>
        </p:txBody>
      </p:sp>
      <p:sp>
        <p:nvSpPr>
          <p:cNvPr id="3" name="Shape 1"/>
          <p:cNvSpPr/>
          <p:nvPr/>
        </p:nvSpPr>
        <p:spPr>
          <a:xfrm>
            <a:off x="7315200" y="411480"/>
            <a:ext cx="1371600" cy="365760"/>
          </a:xfrm>
          <a:prstGeom prst="roundRect">
            <a:avLst>
              <a:gd name="adj" fmla="val 50000"/>
            </a:avLst>
          </a:prstGeom>
          <a:solidFill>
            <a:schemeClr val="accent3"/>
          </a:solidFill>
          <a:ln/>
        </p:spPr>
      </p:sp>
      <p:sp>
        <p:nvSpPr>
          <p:cNvPr id="4" name="Text 2"/>
          <p:cNvSpPr txBox="1"/>
          <p:nvPr/>
        </p:nvSpPr>
        <p:spPr>
          <a:xfrm>
            <a:off x="7315200" y="411480"/>
            <a:ext cx="1371600" cy="365760"/>
          </a:xfrm>
          <a:prstGeom prst="rect">
            <a:avLst/>
          </a:prstGeom>
          <a:noFill/>
          <a:ln/>
        </p:spPr>
        <p:txBody>
          <a:bodyPr wrap="square" lIns="0" tIns="0" rIns="0" bIns="0" rtlCol="0" anchor="ctr"/>
          <a:lstStyle/>
          <a:p>
            <a:pPr algn="ctr" indent="0" marL="0">
              <a:buNone/>
            </a:pPr>
            <a:r>
              <a:rPr lang="en-US" sz="1100" b="1" dirty="0">
                <a:solidFill>
                  <a:schemeClr val="accent1"/>
                </a:solidFill>
                <a:latin typeface="Calibri" pitchFamily="34" charset="0"/>
                <a:ea typeface="Calibri" pitchFamily="34" charset="-122"/>
                <a:cs typeface="Calibri" pitchFamily="34" charset="-120"/>
              </a:rPr>
              <a:t>STEP 3 · TIN</a:t>
            </a:r>
            <a:endParaRPr lang="en-US" sz="1100" dirty="0"/>
          </a:p>
        </p:txBody>
      </p:sp>
      <p:sp>
        <p:nvSpPr>
          <p:cNvPr id="5" name="Shape 3"/>
          <p:cNvSpPr/>
          <p:nvPr/>
        </p:nvSpPr>
        <p:spPr>
          <a:xfrm>
            <a:off x="457200" y="1097280"/>
            <a:ext cx="2606040" cy="1828800"/>
          </a:xfrm>
          <a:prstGeom prst="roundRect">
            <a:avLst>
              <a:gd name="adj" fmla="val 4000"/>
            </a:avLst>
          </a:prstGeom>
          <a:solidFill>
            <a:schemeClr val="bg1"/>
          </a:solidFill>
          <a:ln/>
        </p:spPr>
      </p:sp>
      <p:sp>
        <p:nvSpPr>
          <p:cNvPr id="6" name="Shape 4"/>
          <p:cNvSpPr/>
          <p:nvPr/>
        </p:nvSpPr>
        <p:spPr>
          <a:xfrm>
            <a:off x="457200" y="1097280"/>
            <a:ext cx="2606040" cy="1828800"/>
          </a:xfrm>
          <a:prstGeom prst="roundRect">
            <a:avLst>
              <a:gd name="adj" fmla="val 4000"/>
            </a:avLst>
          </a:prstGeom>
          <a:ln w="9525">
            <a:solidFill>
              <a:srgbClr val="D5DED7"/>
            </a:solidFill>
            <a:prstDash val="solid"/>
          </a:ln>
        </p:spPr>
      </p:sp>
      <p:pic>
        <p:nvPicPr>
          <p:cNvPr id="7" name="Image 0" descr="/tmp/work/smedia/image7.jpg">    </p:cNvPr>
          <p:cNvPicPr>
            <a:picLocks noChangeAspect="1"/>
          </p:cNvPicPr>
          <p:nvPr/>
        </p:nvPicPr>
        <p:blipFill>
          <a:blip r:embed="rId1"/>
          <a:stretch>
            <a:fillRect/>
          </a:stretch>
        </p:blipFill>
        <p:spPr>
          <a:xfrm>
            <a:off x="660704" y="1170432"/>
            <a:ext cx="2199033" cy="1682496"/>
          </a:xfrm>
          <a:prstGeom prst="rect">
            <a:avLst/>
          </a:prstGeom>
        </p:spPr>
      </p:pic>
      <p:sp>
        <p:nvSpPr>
          <p:cNvPr id="8" name="Text 5"/>
          <p:cNvSpPr txBox="1"/>
          <p:nvPr/>
        </p:nvSpPr>
        <p:spPr>
          <a:xfrm>
            <a:off x="457200" y="3017520"/>
            <a:ext cx="260604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A · Check</a:t>
            </a:r>
            <a:endParaRPr lang="en-US" sz="1600" dirty="0"/>
          </a:p>
        </p:txBody>
      </p:sp>
      <p:sp>
        <p:nvSpPr>
          <p:cNvPr id="9" name="Text 6"/>
          <p:cNvSpPr txBox="1"/>
          <p:nvPr/>
        </p:nvSpPr>
        <p:spPr>
          <a:xfrm>
            <a:off x="457200" y="3383280"/>
            <a:ext cx="260604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Dark and crusty = oxidized. Shiny silver = ready. Not sure? Ask!</a:t>
            </a:r>
            <a:endParaRPr lang="en-US" sz="1200" dirty="0"/>
          </a:p>
        </p:txBody>
      </p:sp>
      <p:sp>
        <p:nvSpPr>
          <p:cNvPr id="10" name="Shape 7"/>
          <p:cNvSpPr/>
          <p:nvPr/>
        </p:nvSpPr>
        <p:spPr>
          <a:xfrm>
            <a:off x="3273552" y="1097280"/>
            <a:ext cx="2606040" cy="1828800"/>
          </a:xfrm>
          <a:prstGeom prst="roundRect">
            <a:avLst>
              <a:gd name="adj" fmla="val 4000"/>
            </a:avLst>
          </a:prstGeom>
          <a:solidFill>
            <a:schemeClr val="bg1"/>
          </a:solidFill>
          <a:ln/>
        </p:spPr>
      </p:sp>
      <p:sp>
        <p:nvSpPr>
          <p:cNvPr id="11" name="Shape 8"/>
          <p:cNvSpPr/>
          <p:nvPr/>
        </p:nvSpPr>
        <p:spPr>
          <a:xfrm>
            <a:off x="3273552" y="1097280"/>
            <a:ext cx="2606040" cy="1828800"/>
          </a:xfrm>
          <a:prstGeom prst="roundRect">
            <a:avLst>
              <a:gd name="adj" fmla="val 4000"/>
            </a:avLst>
          </a:prstGeom>
          <a:ln w="9525">
            <a:solidFill>
              <a:srgbClr val="D5DED7"/>
            </a:solidFill>
            <a:prstDash val="solid"/>
          </a:ln>
        </p:spPr>
      </p:sp>
      <p:pic>
        <p:nvPicPr>
          <p:cNvPr id="12" name="Image 1" descr="/tmp/work/smedia/image23.jpg">    </p:cNvPr>
          <p:cNvPicPr>
            <a:picLocks noChangeAspect="1"/>
          </p:cNvPicPr>
          <p:nvPr/>
        </p:nvPicPr>
        <p:blipFill>
          <a:blip r:embed="rId2"/>
          <a:stretch>
            <a:fillRect/>
          </a:stretch>
        </p:blipFill>
        <p:spPr>
          <a:xfrm>
            <a:off x="3704563" y="1170432"/>
            <a:ext cx="1744018" cy="1682496"/>
          </a:xfrm>
          <a:prstGeom prst="rect">
            <a:avLst/>
          </a:prstGeom>
        </p:spPr>
      </p:pic>
      <p:sp>
        <p:nvSpPr>
          <p:cNvPr id="13" name="Text 9"/>
          <p:cNvSpPr txBox="1"/>
          <p:nvPr/>
        </p:nvSpPr>
        <p:spPr>
          <a:xfrm>
            <a:off x="3273552" y="3017520"/>
            <a:ext cx="260604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B · Clean</a:t>
            </a:r>
            <a:endParaRPr lang="en-US" sz="1600" dirty="0"/>
          </a:p>
        </p:txBody>
      </p:sp>
      <p:sp>
        <p:nvSpPr>
          <p:cNvPr id="14" name="Text 10"/>
          <p:cNvSpPr txBox="1"/>
          <p:nvPr/>
        </p:nvSpPr>
        <p:spPr>
          <a:xfrm>
            <a:off x="3273552" y="3383280"/>
            <a:ext cx="260604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Once hot, wipe on the damp sponge or brass cleaner until shiny</a:t>
            </a:r>
            <a:endParaRPr lang="en-US" sz="1200" dirty="0"/>
          </a:p>
        </p:txBody>
      </p:sp>
      <p:sp>
        <p:nvSpPr>
          <p:cNvPr id="15" name="Shape 11"/>
          <p:cNvSpPr/>
          <p:nvPr/>
        </p:nvSpPr>
        <p:spPr>
          <a:xfrm>
            <a:off x="6089904" y="1097280"/>
            <a:ext cx="2606040" cy="1828800"/>
          </a:xfrm>
          <a:prstGeom prst="roundRect">
            <a:avLst>
              <a:gd name="adj" fmla="val 4000"/>
            </a:avLst>
          </a:prstGeom>
          <a:solidFill>
            <a:schemeClr val="bg1"/>
          </a:solidFill>
          <a:ln/>
        </p:spPr>
      </p:sp>
      <p:sp>
        <p:nvSpPr>
          <p:cNvPr id="16" name="Shape 12"/>
          <p:cNvSpPr/>
          <p:nvPr/>
        </p:nvSpPr>
        <p:spPr>
          <a:xfrm>
            <a:off x="6089904" y="1097280"/>
            <a:ext cx="2606040" cy="1828800"/>
          </a:xfrm>
          <a:prstGeom prst="roundRect">
            <a:avLst>
              <a:gd name="adj" fmla="val 4000"/>
            </a:avLst>
          </a:prstGeom>
          <a:ln w="9525">
            <a:solidFill>
              <a:srgbClr val="D5DED7"/>
            </a:solidFill>
            <a:prstDash val="solid"/>
          </a:ln>
        </p:spPr>
      </p:sp>
      <p:pic>
        <p:nvPicPr>
          <p:cNvPr id="17" name="Image 2" descr="/tmp/work/smedia/image15.jpg">    </p:cNvPr>
          <p:cNvPicPr>
            <a:picLocks noChangeAspect="1"/>
          </p:cNvPicPr>
          <p:nvPr/>
        </p:nvPicPr>
        <p:blipFill>
          <a:blip r:embed="rId3"/>
          <a:stretch>
            <a:fillRect/>
          </a:stretch>
        </p:blipFill>
        <p:spPr>
          <a:xfrm>
            <a:off x="6313680" y="1170432"/>
            <a:ext cx="2158487" cy="1682496"/>
          </a:xfrm>
          <a:prstGeom prst="rect">
            <a:avLst/>
          </a:prstGeom>
        </p:spPr>
      </p:pic>
      <p:sp>
        <p:nvSpPr>
          <p:cNvPr id="18" name="Text 13"/>
          <p:cNvSpPr txBox="1"/>
          <p:nvPr/>
        </p:nvSpPr>
        <p:spPr>
          <a:xfrm>
            <a:off x="6089904" y="3017520"/>
            <a:ext cx="260604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C · Tin</a:t>
            </a:r>
            <a:endParaRPr lang="en-US" sz="1600" dirty="0"/>
          </a:p>
        </p:txBody>
      </p:sp>
      <p:sp>
        <p:nvSpPr>
          <p:cNvPr id="19" name="Text 14"/>
          <p:cNvSpPr txBox="1"/>
          <p:nvPr/>
        </p:nvSpPr>
        <p:spPr>
          <a:xfrm>
            <a:off x="6089904" y="3383280"/>
            <a:ext cx="260604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Melt a little solder onto the tip: a thin, even, shiny coat</a:t>
            </a:r>
            <a:endParaRPr lang="en-US" sz="1200" dirty="0"/>
          </a:p>
        </p:txBody>
      </p:sp>
      <p:sp>
        <p:nvSpPr>
          <p:cNvPr id="20" name="Shape 15"/>
          <p:cNvSpPr/>
          <p:nvPr/>
        </p:nvSpPr>
        <p:spPr>
          <a:xfrm>
            <a:off x="457200" y="4069080"/>
            <a:ext cx="8229600" cy="548640"/>
          </a:xfrm>
          <a:prstGeom prst="roundRect">
            <a:avLst>
              <a:gd name="adj" fmla="val 13333"/>
            </a:avLst>
          </a:prstGeom>
          <a:solidFill>
            <a:schemeClr val="accent1"/>
          </a:solidFill>
          <a:ln/>
        </p:spPr>
      </p:sp>
      <p:sp>
        <p:nvSpPr>
          <p:cNvPr id="21" name="Text 16"/>
          <p:cNvSpPr txBox="1"/>
          <p:nvPr/>
        </p:nvSpPr>
        <p:spPr>
          <a:xfrm>
            <a:off x="685800" y="4069080"/>
            <a:ext cx="7772400" cy="548640"/>
          </a:xfrm>
          <a:prstGeom prst="rect">
            <a:avLst/>
          </a:prstGeom>
          <a:noFill/>
          <a:ln/>
        </p:spPr>
        <p:txBody>
          <a:bodyPr wrap="square" lIns="0" tIns="0" rIns="0" bIns="0" rtlCol="0" anchor="ctr"/>
          <a:lstStyle/>
          <a:p>
            <a:pPr indent="0" marL="0">
              <a:buNone/>
            </a:pPr>
            <a:r>
              <a:rPr lang="en-US" sz="1400" b="1" dirty="0">
                <a:solidFill>
                  <a:schemeClr val="accent3"/>
                </a:solidFill>
                <a:latin typeface="Calibri" pitchFamily="34" charset="0"/>
                <a:ea typeface="Calibri" pitchFamily="34" charset="-122"/>
                <a:cs typeface="Calibri" pitchFamily="34" charset="-120"/>
              </a:rPr>
              <a:t>Tin before and after every session, </a:t>
            </a:r>
            <a:pPr indent="0" marL="0">
              <a:buNone/>
            </a:pPr>
            <a:r>
              <a:rPr lang="en-US" sz="1400" dirty="0">
                <a:solidFill>
                  <a:schemeClr val="bg1"/>
                </a:solidFill>
                <a:latin typeface="Calibri" pitchFamily="34" charset="0"/>
                <a:ea typeface="Calibri" pitchFamily="34" charset="-122"/>
                <a:cs typeface="Calibri" pitchFamily="34" charset="-120"/>
              </a:rPr>
              <a:t>and as you go on long jobs. It makes tips last much longer.</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Get ready to solder</a:t>
            </a:r>
            <a:endParaRPr lang="en-US" sz="3000" dirty="0"/>
          </a:p>
        </p:txBody>
      </p:sp>
      <p:sp>
        <p:nvSpPr>
          <p:cNvPr id="3" name="Shape 1"/>
          <p:cNvSpPr/>
          <p:nvPr/>
        </p:nvSpPr>
        <p:spPr>
          <a:xfrm>
            <a:off x="7315200" y="411480"/>
            <a:ext cx="1371600" cy="365760"/>
          </a:xfrm>
          <a:prstGeom prst="roundRect">
            <a:avLst>
              <a:gd name="adj" fmla="val 50000"/>
            </a:avLst>
          </a:prstGeom>
          <a:solidFill>
            <a:schemeClr val="accent3"/>
          </a:solidFill>
          <a:ln/>
        </p:spPr>
      </p:sp>
      <p:sp>
        <p:nvSpPr>
          <p:cNvPr id="4" name="Text 2"/>
          <p:cNvSpPr txBox="1"/>
          <p:nvPr/>
        </p:nvSpPr>
        <p:spPr>
          <a:xfrm>
            <a:off x="7315200" y="411480"/>
            <a:ext cx="1371600" cy="365760"/>
          </a:xfrm>
          <a:prstGeom prst="rect">
            <a:avLst/>
          </a:prstGeom>
          <a:noFill/>
          <a:ln/>
        </p:spPr>
        <p:txBody>
          <a:bodyPr wrap="square" lIns="0" tIns="0" rIns="0" bIns="0" rtlCol="0" anchor="ctr"/>
          <a:lstStyle/>
          <a:p>
            <a:pPr algn="ctr" indent="0" marL="0">
              <a:buNone/>
            </a:pPr>
            <a:r>
              <a:rPr lang="en-US" sz="1100" b="1" dirty="0">
                <a:solidFill>
                  <a:schemeClr val="accent1"/>
                </a:solidFill>
                <a:latin typeface="Calibri" pitchFamily="34" charset="0"/>
                <a:ea typeface="Calibri" pitchFamily="34" charset="-122"/>
                <a:cs typeface="Calibri" pitchFamily="34" charset="-120"/>
              </a:rPr>
              <a:t>STEP 4 · SOLDER</a:t>
            </a:r>
            <a:endParaRPr lang="en-US" sz="1100" dirty="0"/>
          </a:p>
        </p:txBody>
      </p:sp>
      <p:sp>
        <p:nvSpPr>
          <p:cNvPr id="5" name="Shape 3"/>
          <p:cNvSpPr/>
          <p:nvPr/>
        </p:nvSpPr>
        <p:spPr>
          <a:xfrm>
            <a:off x="457200" y="1097280"/>
            <a:ext cx="2606040" cy="2057400"/>
          </a:xfrm>
          <a:prstGeom prst="roundRect">
            <a:avLst>
              <a:gd name="adj" fmla="val 3556"/>
            </a:avLst>
          </a:prstGeom>
          <a:solidFill>
            <a:schemeClr val="bg1"/>
          </a:solidFill>
          <a:ln/>
        </p:spPr>
      </p:sp>
      <p:sp>
        <p:nvSpPr>
          <p:cNvPr id="6" name="Shape 4"/>
          <p:cNvSpPr/>
          <p:nvPr/>
        </p:nvSpPr>
        <p:spPr>
          <a:xfrm>
            <a:off x="457200" y="1097280"/>
            <a:ext cx="2606040" cy="2057400"/>
          </a:xfrm>
          <a:prstGeom prst="roundRect">
            <a:avLst>
              <a:gd name="adj" fmla="val 3556"/>
            </a:avLst>
          </a:prstGeom>
          <a:ln w="9525">
            <a:solidFill>
              <a:srgbClr val="D5DED7"/>
            </a:solidFill>
            <a:prstDash val="solid"/>
          </a:ln>
        </p:spPr>
      </p:sp>
      <p:pic>
        <p:nvPicPr>
          <p:cNvPr id="7" name="Image 0" descr="/tmp/work/smedia/image22.jpg">    </p:cNvPr>
          <p:cNvPicPr>
            <a:picLocks noChangeAspect="1"/>
          </p:cNvPicPr>
          <p:nvPr/>
        </p:nvPicPr>
        <p:blipFill>
          <a:blip r:embed="rId1"/>
          <a:stretch>
            <a:fillRect/>
          </a:stretch>
        </p:blipFill>
        <p:spPr>
          <a:xfrm>
            <a:off x="530352" y="1255409"/>
            <a:ext cx="2459736" cy="1741142"/>
          </a:xfrm>
          <a:prstGeom prst="rect">
            <a:avLst/>
          </a:prstGeom>
        </p:spPr>
      </p:pic>
      <p:sp>
        <p:nvSpPr>
          <p:cNvPr id="8" name="Text 5"/>
          <p:cNvSpPr txBox="1"/>
          <p:nvPr/>
        </p:nvSpPr>
        <p:spPr>
          <a:xfrm>
            <a:off x="457200" y="3246120"/>
            <a:ext cx="2606040" cy="36576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A · Cut a piece of solder</a:t>
            </a:r>
            <a:endParaRPr lang="en-US" sz="1500" dirty="0"/>
          </a:p>
        </p:txBody>
      </p:sp>
      <p:sp>
        <p:nvSpPr>
          <p:cNvPr id="9" name="Text 6"/>
          <p:cNvSpPr txBox="1"/>
          <p:nvPr/>
        </p:nvSpPr>
        <p:spPr>
          <a:xfrm>
            <a:off x="457200" y="3611880"/>
            <a:ext cx="260604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A short length is easier to control than the spool</a:t>
            </a:r>
            <a:endParaRPr lang="en-US" sz="1200" dirty="0"/>
          </a:p>
        </p:txBody>
      </p:sp>
      <p:sp>
        <p:nvSpPr>
          <p:cNvPr id="10" name="Shape 7"/>
          <p:cNvSpPr/>
          <p:nvPr/>
        </p:nvSpPr>
        <p:spPr>
          <a:xfrm>
            <a:off x="3273552" y="1097280"/>
            <a:ext cx="2606040" cy="2057400"/>
          </a:xfrm>
          <a:prstGeom prst="roundRect">
            <a:avLst>
              <a:gd name="adj" fmla="val 3556"/>
            </a:avLst>
          </a:prstGeom>
          <a:solidFill>
            <a:schemeClr val="bg1"/>
          </a:solidFill>
          <a:ln/>
        </p:spPr>
      </p:sp>
      <p:sp>
        <p:nvSpPr>
          <p:cNvPr id="11" name="Shape 8"/>
          <p:cNvSpPr/>
          <p:nvPr/>
        </p:nvSpPr>
        <p:spPr>
          <a:xfrm>
            <a:off x="3273552" y="1097280"/>
            <a:ext cx="2606040" cy="2057400"/>
          </a:xfrm>
          <a:prstGeom prst="roundRect">
            <a:avLst>
              <a:gd name="adj" fmla="val 3556"/>
            </a:avLst>
          </a:prstGeom>
          <a:ln w="9525">
            <a:solidFill>
              <a:srgbClr val="D5DED7"/>
            </a:solidFill>
            <a:prstDash val="solid"/>
          </a:ln>
        </p:spPr>
      </p:sp>
      <p:pic>
        <p:nvPicPr>
          <p:cNvPr id="12" name="Image 1" descr="/tmp/work/smedia/image28.jpg">    </p:cNvPr>
          <p:cNvPicPr>
            <a:picLocks noChangeAspect="1"/>
          </p:cNvPicPr>
          <p:nvPr/>
        </p:nvPicPr>
        <p:blipFill>
          <a:blip r:embed="rId2"/>
          <a:stretch>
            <a:fillRect/>
          </a:stretch>
        </p:blipFill>
        <p:spPr>
          <a:xfrm>
            <a:off x="3346704" y="1327444"/>
            <a:ext cx="2459736" cy="1597071"/>
          </a:xfrm>
          <a:prstGeom prst="rect">
            <a:avLst/>
          </a:prstGeom>
        </p:spPr>
      </p:pic>
      <p:sp>
        <p:nvSpPr>
          <p:cNvPr id="13" name="Text 9"/>
          <p:cNvSpPr txBox="1"/>
          <p:nvPr/>
        </p:nvSpPr>
        <p:spPr>
          <a:xfrm>
            <a:off x="3273552" y="3246120"/>
            <a:ext cx="2606040" cy="36576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B · Insert the component</a:t>
            </a:r>
            <a:endParaRPr lang="en-US" sz="1500" dirty="0"/>
          </a:p>
        </p:txBody>
      </p:sp>
      <p:sp>
        <p:nvSpPr>
          <p:cNvPr id="14" name="Text 10"/>
          <p:cNvSpPr txBox="1"/>
          <p:nvPr/>
        </p:nvSpPr>
        <p:spPr>
          <a:xfrm>
            <a:off x="3273552" y="3611880"/>
            <a:ext cx="260604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Leads through the holes from the printed side; bend them slightly to hold</a:t>
            </a:r>
            <a:endParaRPr lang="en-US" sz="1200" dirty="0"/>
          </a:p>
        </p:txBody>
      </p:sp>
      <p:sp>
        <p:nvSpPr>
          <p:cNvPr id="15" name="Shape 11"/>
          <p:cNvSpPr/>
          <p:nvPr/>
        </p:nvSpPr>
        <p:spPr>
          <a:xfrm>
            <a:off x="6089904" y="1097280"/>
            <a:ext cx="2606040" cy="2057400"/>
          </a:xfrm>
          <a:prstGeom prst="roundRect">
            <a:avLst>
              <a:gd name="adj" fmla="val 3556"/>
            </a:avLst>
          </a:prstGeom>
          <a:solidFill>
            <a:schemeClr val="bg1"/>
          </a:solidFill>
          <a:ln/>
        </p:spPr>
      </p:sp>
      <p:sp>
        <p:nvSpPr>
          <p:cNvPr id="16" name="Shape 12"/>
          <p:cNvSpPr/>
          <p:nvPr/>
        </p:nvSpPr>
        <p:spPr>
          <a:xfrm>
            <a:off x="6089904" y="1097280"/>
            <a:ext cx="2606040" cy="2057400"/>
          </a:xfrm>
          <a:prstGeom prst="roundRect">
            <a:avLst>
              <a:gd name="adj" fmla="val 3556"/>
            </a:avLst>
          </a:prstGeom>
          <a:ln w="9525">
            <a:solidFill>
              <a:srgbClr val="D5DED7"/>
            </a:solidFill>
            <a:prstDash val="solid"/>
          </a:ln>
        </p:spPr>
      </p:sp>
      <p:pic>
        <p:nvPicPr>
          <p:cNvPr id="17" name="Image 2" descr="/tmp/work/smedia/image31.jpg">    </p:cNvPr>
          <p:cNvPicPr>
            <a:picLocks noChangeAspect="1"/>
          </p:cNvPicPr>
          <p:nvPr/>
        </p:nvPicPr>
        <p:blipFill>
          <a:blip r:embed="rId3"/>
          <a:stretch>
            <a:fillRect/>
          </a:stretch>
        </p:blipFill>
        <p:spPr>
          <a:xfrm>
            <a:off x="6163056" y="1460973"/>
            <a:ext cx="2459736" cy="1330014"/>
          </a:xfrm>
          <a:prstGeom prst="rect">
            <a:avLst/>
          </a:prstGeom>
        </p:spPr>
      </p:pic>
      <p:sp>
        <p:nvSpPr>
          <p:cNvPr id="18" name="Text 13"/>
          <p:cNvSpPr txBox="1"/>
          <p:nvPr/>
        </p:nvSpPr>
        <p:spPr>
          <a:xfrm>
            <a:off x="6089904" y="3246120"/>
            <a:ext cx="2606040" cy="36576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C · Apply flux to the joint</a:t>
            </a:r>
            <a:endParaRPr lang="en-US" sz="1500" dirty="0"/>
          </a:p>
        </p:txBody>
      </p:sp>
      <p:sp>
        <p:nvSpPr>
          <p:cNvPr id="19" name="Text 14"/>
          <p:cNvSpPr txBox="1"/>
          <p:nvPr/>
        </p:nvSpPr>
        <p:spPr>
          <a:xfrm>
            <a:off x="6089904" y="3611880"/>
            <a:ext cx="260604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A small dab on the pad and lead</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Make the joint</a:t>
            </a:r>
            <a:endParaRPr lang="en-US" sz="3000" dirty="0"/>
          </a:p>
        </p:txBody>
      </p:sp>
      <p:sp>
        <p:nvSpPr>
          <p:cNvPr id="3" name="Shape 1"/>
          <p:cNvSpPr/>
          <p:nvPr/>
        </p:nvSpPr>
        <p:spPr>
          <a:xfrm>
            <a:off x="7315200" y="411480"/>
            <a:ext cx="1371600" cy="365760"/>
          </a:xfrm>
          <a:prstGeom prst="roundRect">
            <a:avLst>
              <a:gd name="adj" fmla="val 50000"/>
            </a:avLst>
          </a:prstGeom>
          <a:solidFill>
            <a:schemeClr val="accent3"/>
          </a:solidFill>
          <a:ln/>
        </p:spPr>
      </p:sp>
      <p:sp>
        <p:nvSpPr>
          <p:cNvPr id="4" name="Text 2"/>
          <p:cNvSpPr txBox="1"/>
          <p:nvPr/>
        </p:nvSpPr>
        <p:spPr>
          <a:xfrm>
            <a:off x="7315200" y="411480"/>
            <a:ext cx="1371600" cy="365760"/>
          </a:xfrm>
          <a:prstGeom prst="rect">
            <a:avLst/>
          </a:prstGeom>
          <a:noFill/>
          <a:ln/>
        </p:spPr>
        <p:txBody>
          <a:bodyPr wrap="square" lIns="0" tIns="0" rIns="0" bIns="0" rtlCol="0" anchor="ctr"/>
          <a:lstStyle/>
          <a:p>
            <a:pPr algn="ctr" indent="0" marL="0">
              <a:buNone/>
            </a:pPr>
            <a:r>
              <a:rPr lang="en-US" sz="1100" b="1" dirty="0">
                <a:solidFill>
                  <a:schemeClr val="accent1"/>
                </a:solidFill>
                <a:latin typeface="Calibri" pitchFamily="34" charset="0"/>
                <a:ea typeface="Calibri" pitchFamily="34" charset="-122"/>
                <a:cs typeface="Calibri" pitchFamily="34" charset="-120"/>
              </a:rPr>
              <a:t>STEP 4 · SOLDER</a:t>
            </a:r>
            <a:endParaRPr lang="en-US" sz="1100" dirty="0"/>
          </a:p>
        </p:txBody>
      </p:sp>
      <p:sp>
        <p:nvSpPr>
          <p:cNvPr id="5" name="Shape 3"/>
          <p:cNvSpPr/>
          <p:nvPr/>
        </p:nvSpPr>
        <p:spPr>
          <a:xfrm>
            <a:off x="457200" y="1097280"/>
            <a:ext cx="4937760" cy="512064"/>
          </a:xfrm>
          <a:prstGeom prst="roundRect">
            <a:avLst>
              <a:gd name="adj" fmla="val 14286"/>
            </a:avLst>
          </a:prstGeom>
          <a:solidFill>
            <a:schemeClr val="bg2"/>
          </a:solidFill>
          <a:ln/>
        </p:spPr>
      </p:sp>
      <p:sp>
        <p:nvSpPr>
          <p:cNvPr id="6" name="Shape 4"/>
          <p:cNvSpPr/>
          <p:nvPr/>
        </p:nvSpPr>
        <p:spPr>
          <a:xfrm>
            <a:off x="566928" y="1170432"/>
            <a:ext cx="365760" cy="365760"/>
          </a:xfrm>
          <a:prstGeom prst="ellipse">
            <a:avLst/>
          </a:prstGeom>
          <a:solidFill>
            <a:schemeClr val="accent1"/>
          </a:solidFill>
          <a:ln/>
        </p:spPr>
      </p:sp>
      <p:sp>
        <p:nvSpPr>
          <p:cNvPr id="7" name="Text 5"/>
          <p:cNvSpPr txBox="1"/>
          <p:nvPr/>
        </p:nvSpPr>
        <p:spPr>
          <a:xfrm>
            <a:off x="566928" y="117043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51560" y="1097280"/>
            <a:ext cx="3657600" cy="512064"/>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Heat  </a:t>
            </a:r>
            <a:pPr indent="0" marL="0">
              <a:buNone/>
            </a:pPr>
            <a:r>
              <a:rPr lang="en-US" sz="1200" dirty="0">
                <a:solidFill>
                  <a:schemeClr val="tx1"/>
                </a:solidFill>
                <a:latin typeface="Calibri" pitchFamily="34" charset="0"/>
                <a:ea typeface="Calibri" pitchFamily="34" charset="-122"/>
                <a:cs typeface="Calibri" pitchFamily="34" charset="-120"/>
              </a:rPr>
              <a:t>Touch the tip to the pad AND the lead at the same time</a:t>
            </a:r>
            <a:endParaRPr lang="en-US" sz="1400" dirty="0"/>
          </a:p>
        </p:txBody>
      </p:sp>
      <p:sp>
        <p:nvSpPr>
          <p:cNvPr id="9" name="Text 7"/>
          <p:cNvSpPr txBox="1"/>
          <p:nvPr/>
        </p:nvSpPr>
        <p:spPr>
          <a:xfrm>
            <a:off x="4663440" y="1097280"/>
            <a:ext cx="640080" cy="512064"/>
          </a:xfrm>
          <a:prstGeom prst="rect">
            <a:avLst/>
          </a:prstGeom>
          <a:noFill/>
          <a:ln/>
        </p:spPr>
        <p:txBody>
          <a:bodyPr wrap="square" lIns="0" tIns="0" rIns="0" bIns="0" rtlCol="0" anchor="ctr"/>
          <a:lstStyle/>
          <a:p>
            <a:pPr algn="r" indent="0" marL="0">
              <a:buNone/>
            </a:pPr>
            <a:r>
              <a:rPr lang="en-US" sz="1200" b="1" dirty="0">
                <a:solidFill>
                  <a:schemeClr val="accent2"/>
                </a:solidFill>
                <a:latin typeface="Calibri" pitchFamily="34" charset="0"/>
                <a:ea typeface="Calibri" pitchFamily="34" charset="-122"/>
                <a:cs typeface="Calibri" pitchFamily="34" charset="-120"/>
              </a:rPr>
              <a:t>1–2 s</a:t>
            </a:r>
            <a:endParaRPr lang="en-US" sz="1200" dirty="0"/>
          </a:p>
        </p:txBody>
      </p:sp>
      <p:sp>
        <p:nvSpPr>
          <p:cNvPr id="10" name="Shape 8"/>
          <p:cNvSpPr/>
          <p:nvPr/>
        </p:nvSpPr>
        <p:spPr>
          <a:xfrm>
            <a:off x="457200" y="1700784"/>
            <a:ext cx="4937760" cy="512064"/>
          </a:xfrm>
          <a:prstGeom prst="roundRect">
            <a:avLst>
              <a:gd name="adj" fmla="val 14286"/>
            </a:avLst>
          </a:prstGeom>
          <a:solidFill>
            <a:schemeClr val="bg2"/>
          </a:solidFill>
          <a:ln/>
        </p:spPr>
      </p:sp>
      <p:sp>
        <p:nvSpPr>
          <p:cNvPr id="11" name="Shape 9"/>
          <p:cNvSpPr/>
          <p:nvPr/>
        </p:nvSpPr>
        <p:spPr>
          <a:xfrm>
            <a:off x="566928" y="1773936"/>
            <a:ext cx="365760" cy="365760"/>
          </a:xfrm>
          <a:prstGeom prst="ellipse">
            <a:avLst/>
          </a:prstGeom>
          <a:solidFill>
            <a:schemeClr val="accent1"/>
          </a:solidFill>
          <a:ln/>
        </p:spPr>
      </p:sp>
      <p:sp>
        <p:nvSpPr>
          <p:cNvPr id="12" name="Text 10"/>
          <p:cNvSpPr txBox="1"/>
          <p:nvPr/>
        </p:nvSpPr>
        <p:spPr>
          <a:xfrm>
            <a:off x="566928" y="177393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051560" y="1700784"/>
            <a:ext cx="3657600" cy="512064"/>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Feed  </a:t>
            </a:r>
            <a:pPr indent="0" marL="0">
              <a:buNone/>
            </a:pPr>
            <a:r>
              <a:rPr lang="en-US" sz="1200" dirty="0">
                <a:solidFill>
                  <a:schemeClr val="tx1"/>
                </a:solidFill>
                <a:latin typeface="Calibri" pitchFamily="34" charset="0"/>
                <a:ea typeface="Calibri" pitchFamily="34" charset="-122"/>
                <a:cs typeface="Calibri" pitchFamily="34" charset="-120"/>
              </a:rPr>
              <a:t>Touch solder to the joint, opposite the iron, not to the tip</a:t>
            </a:r>
            <a:endParaRPr lang="en-US" sz="1400" dirty="0"/>
          </a:p>
        </p:txBody>
      </p:sp>
      <p:sp>
        <p:nvSpPr>
          <p:cNvPr id="14" name="Text 12"/>
          <p:cNvSpPr txBox="1"/>
          <p:nvPr/>
        </p:nvSpPr>
        <p:spPr>
          <a:xfrm>
            <a:off x="4663440" y="1700784"/>
            <a:ext cx="640080" cy="512064"/>
          </a:xfrm>
          <a:prstGeom prst="rect">
            <a:avLst/>
          </a:prstGeom>
          <a:noFill/>
          <a:ln/>
        </p:spPr>
        <p:txBody>
          <a:bodyPr wrap="square" lIns="0" tIns="0" rIns="0" bIns="0" rtlCol="0" anchor="ctr"/>
          <a:lstStyle/>
          <a:p>
            <a:pPr algn="r" indent="0" marL="0">
              <a:buNone/>
            </a:pPr>
            <a:r>
              <a:rPr lang="en-US" sz="1200" b="1" dirty="0">
                <a:solidFill>
                  <a:schemeClr val="accent2"/>
                </a:solidFill>
                <a:latin typeface="Calibri" pitchFamily="34" charset="0"/>
                <a:ea typeface="Calibri" pitchFamily="34" charset="-122"/>
                <a:cs typeface="Calibri" pitchFamily="34" charset="-120"/>
              </a:rPr>
              <a:t>1–2 s</a:t>
            </a:r>
            <a:endParaRPr lang="en-US" sz="1200" dirty="0"/>
          </a:p>
        </p:txBody>
      </p:sp>
      <p:sp>
        <p:nvSpPr>
          <p:cNvPr id="15" name="Shape 13"/>
          <p:cNvSpPr/>
          <p:nvPr/>
        </p:nvSpPr>
        <p:spPr>
          <a:xfrm>
            <a:off x="457200" y="2304288"/>
            <a:ext cx="4937760" cy="512064"/>
          </a:xfrm>
          <a:prstGeom prst="roundRect">
            <a:avLst>
              <a:gd name="adj" fmla="val 14286"/>
            </a:avLst>
          </a:prstGeom>
          <a:solidFill>
            <a:schemeClr val="bg2"/>
          </a:solidFill>
          <a:ln/>
        </p:spPr>
      </p:sp>
      <p:sp>
        <p:nvSpPr>
          <p:cNvPr id="16" name="Shape 14"/>
          <p:cNvSpPr/>
          <p:nvPr/>
        </p:nvSpPr>
        <p:spPr>
          <a:xfrm>
            <a:off x="566928" y="2377440"/>
            <a:ext cx="365760" cy="365760"/>
          </a:xfrm>
          <a:prstGeom prst="ellipse">
            <a:avLst/>
          </a:prstGeom>
          <a:solidFill>
            <a:schemeClr val="accent1"/>
          </a:solidFill>
          <a:ln/>
        </p:spPr>
      </p:sp>
      <p:sp>
        <p:nvSpPr>
          <p:cNvPr id="17" name="Text 15"/>
          <p:cNvSpPr txBox="1"/>
          <p:nvPr/>
        </p:nvSpPr>
        <p:spPr>
          <a:xfrm>
            <a:off x="566928" y="237744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051560" y="2304288"/>
            <a:ext cx="3657600" cy="512064"/>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Remove solder  </a:t>
            </a:r>
            <a:pPr indent="0" marL="0">
              <a:buNone/>
            </a:pPr>
            <a:r>
              <a:rPr lang="en-US" sz="1200" dirty="0">
                <a:solidFill>
                  <a:schemeClr val="tx1"/>
                </a:solidFill>
                <a:latin typeface="Calibri" pitchFamily="34" charset="0"/>
                <a:ea typeface="Calibri" pitchFamily="34" charset="-122"/>
                <a:cs typeface="Calibri" pitchFamily="34" charset="-120"/>
              </a:rPr>
              <a:t>Pull the solder away once it flows around the lead</a:t>
            </a:r>
            <a:endParaRPr lang="en-US" sz="1400" dirty="0"/>
          </a:p>
        </p:txBody>
      </p:sp>
      <p:sp>
        <p:nvSpPr>
          <p:cNvPr id="19" name="Shape 17"/>
          <p:cNvSpPr/>
          <p:nvPr/>
        </p:nvSpPr>
        <p:spPr>
          <a:xfrm>
            <a:off x="457200" y="2907792"/>
            <a:ext cx="4937760" cy="512064"/>
          </a:xfrm>
          <a:prstGeom prst="roundRect">
            <a:avLst>
              <a:gd name="adj" fmla="val 14286"/>
            </a:avLst>
          </a:prstGeom>
          <a:solidFill>
            <a:schemeClr val="bg2"/>
          </a:solidFill>
          <a:ln/>
        </p:spPr>
      </p:sp>
      <p:sp>
        <p:nvSpPr>
          <p:cNvPr id="20" name="Shape 18"/>
          <p:cNvSpPr/>
          <p:nvPr/>
        </p:nvSpPr>
        <p:spPr>
          <a:xfrm>
            <a:off x="566928" y="2980944"/>
            <a:ext cx="365760" cy="365760"/>
          </a:xfrm>
          <a:prstGeom prst="ellipse">
            <a:avLst/>
          </a:prstGeom>
          <a:solidFill>
            <a:schemeClr val="accent1"/>
          </a:solidFill>
          <a:ln/>
        </p:spPr>
      </p:sp>
      <p:sp>
        <p:nvSpPr>
          <p:cNvPr id="21" name="Text 19"/>
          <p:cNvSpPr txBox="1"/>
          <p:nvPr/>
        </p:nvSpPr>
        <p:spPr>
          <a:xfrm>
            <a:off x="566928" y="2980944"/>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051560" y="2907792"/>
            <a:ext cx="3657600" cy="512064"/>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Remove iron  </a:t>
            </a:r>
            <a:pPr indent="0" marL="0">
              <a:buNone/>
            </a:pPr>
            <a:r>
              <a:rPr lang="en-US" sz="1200" dirty="0">
                <a:solidFill>
                  <a:schemeClr val="tx1"/>
                </a:solidFill>
                <a:latin typeface="Calibri" pitchFamily="34" charset="0"/>
                <a:ea typeface="Calibri" pitchFamily="34" charset="-122"/>
                <a:cs typeface="Calibri" pitchFamily="34" charset="-120"/>
              </a:rPr>
              <a:t>Then lift the iron straight away</a:t>
            </a:r>
            <a:endParaRPr lang="en-US" sz="1400" dirty="0"/>
          </a:p>
        </p:txBody>
      </p:sp>
      <p:sp>
        <p:nvSpPr>
          <p:cNvPr id="23" name="Shape 21"/>
          <p:cNvSpPr/>
          <p:nvPr/>
        </p:nvSpPr>
        <p:spPr>
          <a:xfrm>
            <a:off x="457200" y="3511296"/>
            <a:ext cx="4937760" cy="512064"/>
          </a:xfrm>
          <a:prstGeom prst="roundRect">
            <a:avLst>
              <a:gd name="adj" fmla="val 14286"/>
            </a:avLst>
          </a:prstGeom>
          <a:solidFill>
            <a:schemeClr val="bg2"/>
          </a:solidFill>
          <a:ln/>
        </p:spPr>
      </p:sp>
      <p:sp>
        <p:nvSpPr>
          <p:cNvPr id="24" name="Shape 22"/>
          <p:cNvSpPr/>
          <p:nvPr/>
        </p:nvSpPr>
        <p:spPr>
          <a:xfrm>
            <a:off x="566928" y="3584448"/>
            <a:ext cx="365760" cy="365760"/>
          </a:xfrm>
          <a:prstGeom prst="ellipse">
            <a:avLst/>
          </a:prstGeom>
          <a:solidFill>
            <a:schemeClr val="accent1"/>
          </a:solidFill>
          <a:ln/>
        </p:spPr>
      </p:sp>
      <p:sp>
        <p:nvSpPr>
          <p:cNvPr id="25" name="Text 23"/>
          <p:cNvSpPr txBox="1"/>
          <p:nvPr/>
        </p:nvSpPr>
        <p:spPr>
          <a:xfrm>
            <a:off x="566928" y="358444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5</a:t>
            </a:r>
            <a:endParaRPr lang="en-US" sz="1300" dirty="0"/>
          </a:p>
        </p:txBody>
      </p:sp>
      <p:sp>
        <p:nvSpPr>
          <p:cNvPr id="26" name="Text 24"/>
          <p:cNvSpPr txBox="1"/>
          <p:nvPr/>
        </p:nvSpPr>
        <p:spPr>
          <a:xfrm>
            <a:off x="1051560" y="3511296"/>
            <a:ext cx="3657600" cy="512064"/>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Hold still  </a:t>
            </a:r>
            <a:pPr indent="0" marL="0">
              <a:buNone/>
            </a:pPr>
            <a:r>
              <a:rPr lang="en-US" sz="1200" dirty="0">
                <a:solidFill>
                  <a:schemeClr val="tx1"/>
                </a:solidFill>
                <a:latin typeface="Calibri" pitchFamily="34" charset="0"/>
                <a:ea typeface="Calibri" pitchFamily="34" charset="-122"/>
                <a:cs typeface="Calibri" pitchFamily="34" charset="-120"/>
              </a:rPr>
              <a:t>Don't move the part while it cools</a:t>
            </a:r>
            <a:endParaRPr lang="en-US" sz="1400" dirty="0"/>
          </a:p>
        </p:txBody>
      </p:sp>
      <p:sp>
        <p:nvSpPr>
          <p:cNvPr id="27" name="Text 25"/>
          <p:cNvSpPr txBox="1"/>
          <p:nvPr/>
        </p:nvSpPr>
        <p:spPr>
          <a:xfrm>
            <a:off x="4663440" y="3511296"/>
            <a:ext cx="640080" cy="512064"/>
          </a:xfrm>
          <a:prstGeom prst="rect">
            <a:avLst/>
          </a:prstGeom>
          <a:noFill/>
          <a:ln/>
        </p:spPr>
        <p:txBody>
          <a:bodyPr wrap="square" lIns="0" tIns="0" rIns="0" bIns="0" rtlCol="0" anchor="ctr"/>
          <a:lstStyle/>
          <a:p>
            <a:pPr algn="r" indent="0" marL="0">
              <a:buNone/>
            </a:pPr>
            <a:r>
              <a:rPr lang="en-US" sz="1200" b="1" dirty="0">
                <a:solidFill>
                  <a:schemeClr val="accent2"/>
                </a:solidFill>
                <a:latin typeface="Calibri" pitchFamily="34" charset="0"/>
                <a:ea typeface="Calibri" pitchFamily="34" charset="-122"/>
                <a:cs typeface="Calibri" pitchFamily="34" charset="-120"/>
              </a:rPr>
              <a:t>2–3 s</a:t>
            </a:r>
            <a:endParaRPr lang="en-US" sz="1200" dirty="0"/>
          </a:p>
        </p:txBody>
      </p:sp>
      <p:sp>
        <p:nvSpPr>
          <p:cNvPr id="28" name="Shape 26"/>
          <p:cNvSpPr/>
          <p:nvPr/>
        </p:nvSpPr>
        <p:spPr>
          <a:xfrm>
            <a:off x="5623560" y="1097280"/>
            <a:ext cx="3063240" cy="2240280"/>
          </a:xfrm>
          <a:prstGeom prst="roundRect">
            <a:avLst>
              <a:gd name="adj" fmla="val 3265"/>
            </a:avLst>
          </a:prstGeom>
          <a:solidFill>
            <a:schemeClr val="bg1"/>
          </a:solidFill>
          <a:ln/>
        </p:spPr>
      </p:sp>
      <p:sp>
        <p:nvSpPr>
          <p:cNvPr id="29" name="Shape 27"/>
          <p:cNvSpPr/>
          <p:nvPr/>
        </p:nvSpPr>
        <p:spPr>
          <a:xfrm>
            <a:off x="5623560" y="1097280"/>
            <a:ext cx="3063240" cy="2240280"/>
          </a:xfrm>
          <a:prstGeom prst="roundRect">
            <a:avLst>
              <a:gd name="adj" fmla="val 3265"/>
            </a:avLst>
          </a:prstGeom>
          <a:ln w="9525">
            <a:solidFill>
              <a:srgbClr val="D5DED7"/>
            </a:solidFill>
            <a:prstDash val="solid"/>
          </a:ln>
        </p:spPr>
      </p:sp>
      <p:pic>
        <p:nvPicPr>
          <p:cNvPr id="30" name="Image 0" descr="/tmp/work/smedia/image24.jpg">    </p:cNvPr>
          <p:cNvPicPr>
            <a:picLocks noChangeAspect="1"/>
          </p:cNvPicPr>
          <p:nvPr/>
        </p:nvPicPr>
        <p:blipFill>
          <a:blip r:embed="rId1"/>
          <a:stretch>
            <a:fillRect/>
          </a:stretch>
        </p:blipFill>
        <p:spPr>
          <a:xfrm>
            <a:off x="5696712" y="1178782"/>
            <a:ext cx="2916936" cy="2077275"/>
          </a:xfrm>
          <a:prstGeom prst="rect">
            <a:avLst/>
          </a:prstGeom>
        </p:spPr>
      </p:pic>
      <p:sp>
        <p:nvSpPr>
          <p:cNvPr id="31" name="Shape 28"/>
          <p:cNvSpPr/>
          <p:nvPr/>
        </p:nvSpPr>
        <p:spPr>
          <a:xfrm>
            <a:off x="5623560" y="3474720"/>
            <a:ext cx="3063240" cy="1097280"/>
          </a:xfrm>
          <a:prstGeom prst="roundRect">
            <a:avLst>
              <a:gd name="adj" fmla="val 6667"/>
            </a:avLst>
          </a:prstGeom>
          <a:solidFill>
            <a:schemeClr val="accent1"/>
          </a:solidFill>
          <a:ln/>
        </p:spPr>
      </p:sp>
      <p:sp>
        <p:nvSpPr>
          <p:cNvPr id="32" name="Text 29"/>
          <p:cNvSpPr txBox="1"/>
          <p:nvPr/>
        </p:nvSpPr>
        <p:spPr>
          <a:xfrm>
            <a:off x="5806440" y="3474720"/>
            <a:ext cx="2743200" cy="1097280"/>
          </a:xfrm>
          <a:prstGeom prst="rect">
            <a:avLst/>
          </a:prstGeom>
          <a:noFill/>
          <a:ln/>
        </p:spPr>
        <p:txBody>
          <a:bodyPr wrap="square" lIns="0" tIns="0" rIns="0" bIns="0" rtlCol="0" anchor="ctr"/>
          <a:lstStyle/>
          <a:p>
            <a:pPr indent="0" marL="0">
              <a:buNone/>
            </a:pPr>
            <a:r>
              <a:rPr lang="en-US" sz="1300" b="1" dirty="0">
                <a:solidFill>
                  <a:schemeClr val="accent3"/>
                </a:solidFill>
                <a:latin typeface="Calibri" pitchFamily="34" charset="0"/>
                <a:ea typeface="Calibri" pitchFamily="34" charset="-122"/>
                <a:cs typeface="Calibri" pitchFamily="34" charset="-120"/>
              </a:rPr>
              <a:t>~3–5 seconds per joint. </a:t>
            </a:r>
            <a:pPr indent="0" marL="0">
              <a:buNone/>
            </a:pPr>
            <a:r>
              <a:rPr lang="en-US" sz="1300" dirty="0">
                <a:solidFill>
                  <a:schemeClr val="bg1"/>
                </a:solidFill>
                <a:latin typeface="Calibri" pitchFamily="34" charset="0"/>
                <a:ea typeface="Calibri" pitchFamily="34" charset="-122"/>
                <a:cs typeface="Calibri" pitchFamily="34" charset="-120"/>
              </a:rPr>
              <a:t>Much longer can lift the pad off the board.</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Good joint or bad joint?</a:t>
            </a:r>
            <a:endParaRPr lang="en-US" sz="3000" dirty="0"/>
          </a:p>
        </p:txBody>
      </p:sp>
      <p:sp>
        <p:nvSpPr>
          <p:cNvPr id="3" name="Shape 1"/>
          <p:cNvSpPr/>
          <p:nvPr/>
        </p:nvSpPr>
        <p:spPr>
          <a:xfrm>
            <a:off x="7315200" y="411480"/>
            <a:ext cx="1371600" cy="365760"/>
          </a:xfrm>
          <a:prstGeom prst="roundRect">
            <a:avLst>
              <a:gd name="adj" fmla="val 50000"/>
            </a:avLst>
          </a:prstGeom>
          <a:solidFill>
            <a:schemeClr val="accent3"/>
          </a:solidFill>
          <a:ln/>
        </p:spPr>
      </p:sp>
      <p:sp>
        <p:nvSpPr>
          <p:cNvPr id="4" name="Text 2"/>
          <p:cNvSpPr txBox="1"/>
          <p:nvPr/>
        </p:nvSpPr>
        <p:spPr>
          <a:xfrm>
            <a:off x="7315200" y="411480"/>
            <a:ext cx="1371600" cy="365760"/>
          </a:xfrm>
          <a:prstGeom prst="rect">
            <a:avLst/>
          </a:prstGeom>
          <a:noFill/>
          <a:ln/>
        </p:spPr>
        <p:txBody>
          <a:bodyPr wrap="square" lIns="0" tIns="0" rIns="0" bIns="0" rtlCol="0" anchor="ctr"/>
          <a:lstStyle/>
          <a:p>
            <a:pPr algn="ctr" indent="0" marL="0">
              <a:buNone/>
            </a:pPr>
            <a:r>
              <a:rPr lang="en-US" sz="1100" b="1" dirty="0">
                <a:solidFill>
                  <a:schemeClr val="accent1"/>
                </a:solidFill>
                <a:latin typeface="Calibri" pitchFamily="34" charset="0"/>
                <a:ea typeface="Calibri" pitchFamily="34" charset="-122"/>
                <a:cs typeface="Calibri" pitchFamily="34" charset="-120"/>
              </a:rPr>
              <a:t>STEP 4 · INSPECT</a:t>
            </a:r>
            <a:endParaRPr lang="en-US" sz="1100" dirty="0"/>
          </a:p>
        </p:txBody>
      </p:sp>
      <p:sp>
        <p:nvSpPr>
          <p:cNvPr id="5" name="Shape 3"/>
          <p:cNvSpPr/>
          <p:nvPr/>
        </p:nvSpPr>
        <p:spPr>
          <a:xfrm>
            <a:off x="457200" y="1097280"/>
            <a:ext cx="5120640" cy="2880360"/>
          </a:xfrm>
          <a:prstGeom prst="roundRect">
            <a:avLst>
              <a:gd name="adj" fmla="val 2540"/>
            </a:avLst>
          </a:prstGeom>
          <a:solidFill>
            <a:schemeClr val="bg1"/>
          </a:solidFill>
          <a:ln/>
        </p:spPr>
      </p:sp>
      <p:sp>
        <p:nvSpPr>
          <p:cNvPr id="6" name="Shape 4"/>
          <p:cNvSpPr/>
          <p:nvPr/>
        </p:nvSpPr>
        <p:spPr>
          <a:xfrm>
            <a:off x="457200" y="1097280"/>
            <a:ext cx="5120640" cy="2880360"/>
          </a:xfrm>
          <a:prstGeom prst="roundRect">
            <a:avLst>
              <a:gd name="adj" fmla="val 2540"/>
            </a:avLst>
          </a:prstGeom>
          <a:ln w="9525">
            <a:solidFill>
              <a:srgbClr val="D5DED7"/>
            </a:solidFill>
            <a:prstDash val="solid"/>
          </a:ln>
        </p:spPr>
      </p:sp>
      <p:pic>
        <p:nvPicPr>
          <p:cNvPr id="7" name="Image 0" descr="/tmp/work/smedia/image20.jpg">    </p:cNvPr>
          <p:cNvPicPr>
            <a:picLocks noChangeAspect="1"/>
          </p:cNvPicPr>
          <p:nvPr/>
        </p:nvPicPr>
        <p:blipFill>
          <a:blip r:embed="rId1"/>
          <a:stretch>
            <a:fillRect/>
          </a:stretch>
        </p:blipFill>
        <p:spPr>
          <a:xfrm>
            <a:off x="557572" y="1170432"/>
            <a:ext cx="4919895" cy="2734056"/>
          </a:xfrm>
          <a:prstGeom prst="rect">
            <a:avLst/>
          </a:prstGeom>
        </p:spPr>
      </p:pic>
      <p:sp>
        <p:nvSpPr>
          <p:cNvPr id="8" name="Shape 5"/>
          <p:cNvSpPr/>
          <p:nvPr/>
        </p:nvSpPr>
        <p:spPr>
          <a:xfrm>
            <a:off x="5806440" y="1097280"/>
            <a:ext cx="2880360" cy="1234440"/>
          </a:xfrm>
          <a:prstGeom prst="roundRect">
            <a:avLst>
              <a:gd name="adj" fmla="val 5926"/>
            </a:avLst>
          </a:prstGeom>
          <a:solidFill>
            <a:schemeClr val="accent1"/>
          </a:solidFill>
          <a:ln/>
        </p:spPr>
      </p:sp>
      <p:sp>
        <p:nvSpPr>
          <p:cNvPr id="9" name="Text 6"/>
          <p:cNvSpPr txBox="1"/>
          <p:nvPr/>
        </p:nvSpPr>
        <p:spPr>
          <a:xfrm>
            <a:off x="5943600" y="1143000"/>
            <a:ext cx="2651760" cy="1143000"/>
          </a:xfrm>
          <a:prstGeom prst="rect">
            <a:avLst/>
          </a:prstGeom>
          <a:noFill/>
          <a:ln/>
        </p:spPr>
        <p:txBody>
          <a:bodyPr wrap="square" lIns="0" tIns="0" rIns="0" bIns="0" rtlCol="0" anchor="ctr"/>
          <a:lstStyle/>
          <a:p>
            <a:pPr indent="0" marL="0">
              <a:buNone/>
            </a:pPr>
            <a:r>
              <a:rPr lang="en-US" sz="1500" b="1" dirty="0">
                <a:solidFill>
                  <a:schemeClr val="accent3"/>
                </a:solidFill>
                <a:latin typeface="Calibri" pitchFamily="34" charset="0"/>
                <a:ea typeface="Calibri" pitchFamily="34" charset="-122"/>
                <a:cs typeface="Calibri" pitchFamily="34" charset="-120"/>
              </a:rPr>
              <a:t>Good joint</a:t>
            </a:r>
            <a:endParaRPr lang="en-US" sz="1500" dirty="0"/>
          </a:p>
          <a:p>
            <a:pPr indent="0" marL="0">
              <a:buNone/>
            </a:pPr>
            <a:r>
              <a:rPr lang="en-US" sz="1200" dirty="0">
                <a:solidFill>
                  <a:schemeClr val="bg1"/>
                </a:solidFill>
                <a:latin typeface="Calibri" pitchFamily="34" charset="0"/>
                <a:ea typeface="Calibri" pitchFamily="34" charset="-122"/>
                <a:cs typeface="Calibri" pitchFamily="34" charset="-120"/>
              </a:rPr>
              <a:t>Shiny, smooth, cone- or volcano-shaped, wraps the lead and covers the pad</a:t>
            </a:r>
            <a:endParaRPr lang="en-US" sz="1500" dirty="0"/>
          </a:p>
        </p:txBody>
      </p:sp>
      <p:sp>
        <p:nvSpPr>
          <p:cNvPr id="10" name="Shape 7"/>
          <p:cNvSpPr/>
          <p:nvPr/>
        </p:nvSpPr>
        <p:spPr>
          <a:xfrm>
            <a:off x="5806440" y="2468880"/>
            <a:ext cx="2880360" cy="457200"/>
          </a:xfrm>
          <a:prstGeom prst="roundRect">
            <a:avLst>
              <a:gd name="adj" fmla="val 16000"/>
            </a:avLst>
          </a:prstGeom>
          <a:solidFill>
            <a:schemeClr val="bg2"/>
          </a:solidFill>
          <a:ln/>
        </p:spPr>
      </p:sp>
      <p:sp>
        <p:nvSpPr>
          <p:cNvPr id="11" name="Text 8"/>
          <p:cNvSpPr txBox="1"/>
          <p:nvPr/>
        </p:nvSpPr>
        <p:spPr>
          <a:xfrm>
            <a:off x="5943600" y="2468880"/>
            <a:ext cx="2697480" cy="457200"/>
          </a:xfrm>
          <a:prstGeom prst="rect">
            <a:avLst/>
          </a:prstGeom>
          <a:noFill/>
          <a:ln/>
        </p:spPr>
        <p:txBody>
          <a:bodyPr wrap="square" lIns="0" tIns="0" rIns="0" bIns="0" rtlCol="0" anchor="ctr"/>
          <a:lstStyle/>
          <a:p>
            <a:pPr indent="0" marL="0">
              <a:buNone/>
            </a:pPr>
            <a:r>
              <a:rPr lang="en-US" sz="1200" b="1" dirty="0">
                <a:solidFill>
                  <a:schemeClr val="accent6"/>
                </a:solidFill>
                <a:latin typeface="Calibri" pitchFamily="34" charset="0"/>
                <a:ea typeface="Calibri" pitchFamily="34" charset="-122"/>
                <a:cs typeface="Calibri" pitchFamily="34" charset="-120"/>
              </a:rPr>
              <a:t>Dull or grainy: </a:t>
            </a:r>
            <a:pPr indent="0" marL="0">
              <a:buNone/>
            </a:pPr>
            <a:r>
              <a:rPr lang="en-US" sz="1100" dirty="0">
                <a:solidFill>
                  <a:schemeClr val="tx1"/>
                </a:solidFill>
                <a:latin typeface="Calibri" pitchFamily="34" charset="0"/>
                <a:ea typeface="Calibri" pitchFamily="34" charset="-122"/>
                <a:cs typeface="Calibri" pitchFamily="34" charset="-120"/>
              </a:rPr>
              <a:t>Moved while cooling, or cold</a:t>
            </a:r>
            <a:endParaRPr lang="en-US" sz="1200" dirty="0"/>
          </a:p>
        </p:txBody>
      </p:sp>
      <p:sp>
        <p:nvSpPr>
          <p:cNvPr id="12" name="Shape 9"/>
          <p:cNvSpPr/>
          <p:nvPr/>
        </p:nvSpPr>
        <p:spPr>
          <a:xfrm>
            <a:off x="5806440" y="2990088"/>
            <a:ext cx="2880360" cy="457200"/>
          </a:xfrm>
          <a:prstGeom prst="roundRect">
            <a:avLst>
              <a:gd name="adj" fmla="val 16000"/>
            </a:avLst>
          </a:prstGeom>
          <a:solidFill>
            <a:schemeClr val="bg2"/>
          </a:solidFill>
          <a:ln/>
        </p:spPr>
      </p:sp>
      <p:sp>
        <p:nvSpPr>
          <p:cNvPr id="13" name="Text 10"/>
          <p:cNvSpPr txBox="1"/>
          <p:nvPr/>
        </p:nvSpPr>
        <p:spPr>
          <a:xfrm>
            <a:off x="5943600" y="2990088"/>
            <a:ext cx="2697480" cy="457200"/>
          </a:xfrm>
          <a:prstGeom prst="rect">
            <a:avLst/>
          </a:prstGeom>
          <a:noFill/>
          <a:ln/>
        </p:spPr>
        <p:txBody>
          <a:bodyPr wrap="square" lIns="0" tIns="0" rIns="0" bIns="0" rtlCol="0" anchor="ctr"/>
          <a:lstStyle/>
          <a:p>
            <a:pPr indent="0" marL="0">
              <a:buNone/>
            </a:pPr>
            <a:r>
              <a:rPr lang="en-US" sz="1200" b="1" dirty="0">
                <a:solidFill>
                  <a:schemeClr val="accent6"/>
                </a:solidFill>
                <a:latin typeface="Calibri" pitchFamily="34" charset="0"/>
                <a:ea typeface="Calibri" pitchFamily="34" charset="-122"/>
                <a:cs typeface="Calibri" pitchFamily="34" charset="-120"/>
              </a:rPr>
              <a:t>Ball or blob: </a:t>
            </a:r>
            <a:pPr indent="0" marL="0">
              <a:buNone/>
            </a:pPr>
            <a:r>
              <a:rPr lang="en-US" sz="1100" dirty="0">
                <a:solidFill>
                  <a:schemeClr val="tx1"/>
                </a:solidFill>
                <a:latin typeface="Calibri" pitchFamily="34" charset="0"/>
                <a:ea typeface="Calibri" pitchFamily="34" charset="-122"/>
                <a:cs typeface="Calibri" pitchFamily="34" charset="-120"/>
              </a:rPr>
              <a:t>Too much solder, or the pad wasn't heated</a:t>
            </a:r>
            <a:endParaRPr lang="en-US" sz="1200" dirty="0"/>
          </a:p>
        </p:txBody>
      </p:sp>
      <p:sp>
        <p:nvSpPr>
          <p:cNvPr id="14" name="Shape 11"/>
          <p:cNvSpPr/>
          <p:nvPr/>
        </p:nvSpPr>
        <p:spPr>
          <a:xfrm>
            <a:off x="5806440" y="3511296"/>
            <a:ext cx="2880360" cy="457200"/>
          </a:xfrm>
          <a:prstGeom prst="roundRect">
            <a:avLst>
              <a:gd name="adj" fmla="val 16000"/>
            </a:avLst>
          </a:prstGeom>
          <a:solidFill>
            <a:schemeClr val="bg2"/>
          </a:solidFill>
          <a:ln/>
        </p:spPr>
      </p:sp>
      <p:sp>
        <p:nvSpPr>
          <p:cNvPr id="15" name="Text 12"/>
          <p:cNvSpPr txBox="1"/>
          <p:nvPr/>
        </p:nvSpPr>
        <p:spPr>
          <a:xfrm>
            <a:off x="5943600" y="3511296"/>
            <a:ext cx="2697480" cy="457200"/>
          </a:xfrm>
          <a:prstGeom prst="rect">
            <a:avLst/>
          </a:prstGeom>
          <a:noFill/>
          <a:ln/>
        </p:spPr>
        <p:txBody>
          <a:bodyPr wrap="square" lIns="0" tIns="0" rIns="0" bIns="0" rtlCol="0" anchor="ctr"/>
          <a:lstStyle/>
          <a:p>
            <a:pPr indent="0" marL="0">
              <a:buNone/>
            </a:pPr>
            <a:r>
              <a:rPr lang="en-US" sz="1200" b="1" dirty="0">
                <a:solidFill>
                  <a:schemeClr val="accent6"/>
                </a:solidFill>
                <a:latin typeface="Calibri" pitchFamily="34" charset="0"/>
                <a:ea typeface="Calibri" pitchFamily="34" charset="-122"/>
                <a:cs typeface="Calibri" pitchFamily="34" charset="-120"/>
              </a:rPr>
              <a:t>Bridge: </a:t>
            </a:r>
            <a:pPr indent="0" marL="0">
              <a:buNone/>
            </a:pPr>
            <a:r>
              <a:rPr lang="en-US" sz="1100" dirty="0">
                <a:solidFill>
                  <a:schemeClr val="tx1"/>
                </a:solidFill>
                <a:latin typeface="Calibri" pitchFamily="34" charset="0"/>
                <a:ea typeface="Calibri" pitchFamily="34" charset="-122"/>
                <a:cs typeface="Calibri" pitchFamily="34" charset="-120"/>
              </a:rPr>
              <a:t>Solder connects two pads that shouldn't touch</a:t>
            </a:r>
            <a:endParaRPr lang="en-US" sz="1200" dirty="0"/>
          </a:p>
        </p:txBody>
      </p:sp>
      <p:sp>
        <p:nvSpPr>
          <p:cNvPr id="16" name="Shape 13"/>
          <p:cNvSpPr/>
          <p:nvPr/>
        </p:nvSpPr>
        <p:spPr>
          <a:xfrm>
            <a:off x="457200" y="4114800"/>
            <a:ext cx="8229600" cy="502920"/>
          </a:xfrm>
          <a:prstGeom prst="roundRect">
            <a:avLst>
              <a:gd name="adj" fmla="val 14545"/>
            </a:avLst>
          </a:prstGeom>
          <a:solidFill>
            <a:schemeClr val="accent1"/>
          </a:solidFill>
          <a:ln/>
        </p:spPr>
      </p:sp>
      <p:sp>
        <p:nvSpPr>
          <p:cNvPr id="17" name="Text 14"/>
          <p:cNvSpPr txBox="1"/>
          <p:nvPr/>
        </p:nvSpPr>
        <p:spPr>
          <a:xfrm>
            <a:off x="685800" y="4114800"/>
            <a:ext cx="7772400" cy="502920"/>
          </a:xfrm>
          <a:prstGeom prst="rect">
            <a:avLst/>
          </a:prstGeom>
          <a:noFill/>
          <a:ln/>
        </p:spPr>
        <p:txBody>
          <a:bodyPr wrap="square" lIns="0" tIns="0" rIns="0" bIns="0" rtlCol="0" anchor="ctr"/>
          <a:lstStyle/>
          <a:p>
            <a:pPr indent="0" marL="0">
              <a:buNone/>
            </a:pPr>
            <a:r>
              <a:rPr lang="en-US" sz="1400" b="1" dirty="0">
                <a:solidFill>
                  <a:schemeClr val="accent3"/>
                </a:solidFill>
                <a:latin typeface="Calibri" pitchFamily="34" charset="0"/>
                <a:ea typeface="Calibri" pitchFamily="34" charset="-122"/>
                <a:cs typeface="Calibri" pitchFamily="34" charset="-120"/>
              </a:rPr>
              <a:t>Swap boards with a partner: </a:t>
            </a:r>
            <a:pPr indent="0" marL="0">
              <a:buNone/>
            </a:pPr>
            <a:r>
              <a:rPr lang="en-US" sz="1400" dirty="0">
                <a:solidFill>
                  <a:schemeClr val="bg1"/>
                </a:solidFill>
                <a:latin typeface="Calibri" pitchFamily="34" charset="0"/>
                <a:ea typeface="Calibri" pitchFamily="34" charset="-122"/>
                <a:cs typeface="Calibri" pitchFamily="34" charset="-120"/>
              </a:rPr>
              <a:t>inspect every joint and name each problem you find.</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Trim, repeat, and finish</a:t>
            </a:r>
            <a:endParaRPr lang="en-US" sz="3000" dirty="0"/>
          </a:p>
        </p:txBody>
      </p:sp>
      <p:sp>
        <p:nvSpPr>
          <p:cNvPr id="3" name="Shape 1"/>
          <p:cNvSpPr/>
          <p:nvPr/>
        </p:nvSpPr>
        <p:spPr>
          <a:xfrm>
            <a:off x="7315200" y="411480"/>
            <a:ext cx="1371600" cy="365760"/>
          </a:xfrm>
          <a:prstGeom prst="roundRect">
            <a:avLst>
              <a:gd name="adj" fmla="val 50000"/>
            </a:avLst>
          </a:prstGeom>
          <a:solidFill>
            <a:schemeClr val="accent3"/>
          </a:solidFill>
          <a:ln/>
        </p:spPr>
      </p:sp>
      <p:sp>
        <p:nvSpPr>
          <p:cNvPr id="4" name="Text 2"/>
          <p:cNvSpPr txBox="1"/>
          <p:nvPr/>
        </p:nvSpPr>
        <p:spPr>
          <a:xfrm>
            <a:off x="7315200" y="411480"/>
            <a:ext cx="1371600" cy="365760"/>
          </a:xfrm>
          <a:prstGeom prst="rect">
            <a:avLst/>
          </a:prstGeom>
          <a:noFill/>
          <a:ln/>
        </p:spPr>
        <p:txBody>
          <a:bodyPr wrap="square" lIns="0" tIns="0" rIns="0" bIns="0" rtlCol="0" anchor="ctr"/>
          <a:lstStyle/>
          <a:p>
            <a:pPr algn="ctr" indent="0" marL="0">
              <a:buNone/>
            </a:pPr>
            <a:r>
              <a:rPr lang="en-US" sz="1100" b="1" dirty="0">
                <a:solidFill>
                  <a:schemeClr val="accent1"/>
                </a:solidFill>
                <a:latin typeface="Calibri" pitchFamily="34" charset="0"/>
                <a:ea typeface="Calibri" pitchFamily="34" charset="-122"/>
                <a:cs typeface="Calibri" pitchFamily="34" charset="-120"/>
              </a:rPr>
              <a:t>STEP 4 · FINISH</a:t>
            </a:r>
            <a:endParaRPr lang="en-US" sz="1100" dirty="0"/>
          </a:p>
        </p:txBody>
      </p:sp>
      <p:sp>
        <p:nvSpPr>
          <p:cNvPr id="5" name="Shape 3"/>
          <p:cNvSpPr/>
          <p:nvPr/>
        </p:nvSpPr>
        <p:spPr>
          <a:xfrm>
            <a:off x="457200" y="1097280"/>
            <a:ext cx="2606040" cy="2514600"/>
          </a:xfrm>
          <a:prstGeom prst="roundRect">
            <a:avLst>
              <a:gd name="adj" fmla="val 2909"/>
            </a:avLst>
          </a:prstGeom>
          <a:solidFill>
            <a:schemeClr val="bg1"/>
          </a:solidFill>
          <a:ln/>
        </p:spPr>
      </p:sp>
      <p:sp>
        <p:nvSpPr>
          <p:cNvPr id="6" name="Shape 4"/>
          <p:cNvSpPr/>
          <p:nvPr/>
        </p:nvSpPr>
        <p:spPr>
          <a:xfrm>
            <a:off x="457200" y="1097280"/>
            <a:ext cx="2606040" cy="2514600"/>
          </a:xfrm>
          <a:prstGeom prst="roundRect">
            <a:avLst>
              <a:gd name="adj" fmla="val 2909"/>
            </a:avLst>
          </a:prstGeom>
          <a:ln w="9525">
            <a:solidFill>
              <a:srgbClr val="D5DED7"/>
            </a:solidFill>
            <a:prstDash val="solid"/>
          </a:ln>
        </p:spPr>
      </p:sp>
      <p:pic>
        <p:nvPicPr>
          <p:cNvPr id="7" name="Image 0" descr="/tmp/work/smedia/image25.jpg">    </p:cNvPr>
          <p:cNvPicPr>
            <a:picLocks noChangeAspect="1"/>
          </p:cNvPicPr>
          <p:nvPr/>
        </p:nvPicPr>
        <p:blipFill>
          <a:blip r:embed="rId1"/>
          <a:stretch>
            <a:fillRect/>
          </a:stretch>
        </p:blipFill>
        <p:spPr>
          <a:xfrm>
            <a:off x="625975" y="1170432"/>
            <a:ext cx="2268489" cy="2368296"/>
          </a:xfrm>
          <a:prstGeom prst="rect">
            <a:avLst/>
          </a:prstGeom>
        </p:spPr>
      </p:pic>
      <p:sp>
        <p:nvSpPr>
          <p:cNvPr id="8" name="Shape 5"/>
          <p:cNvSpPr/>
          <p:nvPr/>
        </p:nvSpPr>
        <p:spPr>
          <a:xfrm>
            <a:off x="3273552" y="1097280"/>
            <a:ext cx="2606040" cy="2514600"/>
          </a:xfrm>
          <a:prstGeom prst="roundRect">
            <a:avLst>
              <a:gd name="adj" fmla="val 2909"/>
            </a:avLst>
          </a:prstGeom>
          <a:solidFill>
            <a:schemeClr val="bg1"/>
          </a:solidFill>
          <a:ln/>
        </p:spPr>
      </p:sp>
      <p:sp>
        <p:nvSpPr>
          <p:cNvPr id="9" name="Shape 6"/>
          <p:cNvSpPr/>
          <p:nvPr/>
        </p:nvSpPr>
        <p:spPr>
          <a:xfrm>
            <a:off x="3273552" y="1097280"/>
            <a:ext cx="2606040" cy="2514600"/>
          </a:xfrm>
          <a:prstGeom prst="roundRect">
            <a:avLst>
              <a:gd name="adj" fmla="val 2909"/>
            </a:avLst>
          </a:prstGeom>
          <a:ln w="9525">
            <a:solidFill>
              <a:srgbClr val="D5DED7"/>
            </a:solidFill>
            <a:prstDash val="solid"/>
          </a:ln>
        </p:spPr>
      </p:sp>
      <p:pic>
        <p:nvPicPr>
          <p:cNvPr id="10" name="Image 1" descr="/tmp/work/smedia/image27.jpg">    </p:cNvPr>
          <p:cNvPicPr>
            <a:picLocks noChangeAspect="1"/>
          </p:cNvPicPr>
          <p:nvPr/>
        </p:nvPicPr>
        <p:blipFill>
          <a:blip r:embed="rId2"/>
          <a:stretch>
            <a:fillRect/>
          </a:stretch>
        </p:blipFill>
        <p:spPr>
          <a:xfrm>
            <a:off x="3490188" y="1170432"/>
            <a:ext cx="2172769" cy="2368296"/>
          </a:xfrm>
          <a:prstGeom prst="rect">
            <a:avLst/>
          </a:prstGeom>
        </p:spPr>
      </p:pic>
      <p:sp>
        <p:nvSpPr>
          <p:cNvPr id="11" name="Shape 7"/>
          <p:cNvSpPr/>
          <p:nvPr/>
        </p:nvSpPr>
        <p:spPr>
          <a:xfrm>
            <a:off x="6080760" y="1097280"/>
            <a:ext cx="2606040" cy="2514600"/>
          </a:xfrm>
          <a:prstGeom prst="roundRect">
            <a:avLst>
              <a:gd name="adj" fmla="val 2909"/>
            </a:avLst>
          </a:prstGeom>
          <a:solidFill>
            <a:schemeClr val="bg1"/>
          </a:solidFill>
          <a:ln/>
        </p:spPr>
      </p:sp>
      <p:sp>
        <p:nvSpPr>
          <p:cNvPr id="12" name="Shape 8"/>
          <p:cNvSpPr/>
          <p:nvPr/>
        </p:nvSpPr>
        <p:spPr>
          <a:xfrm>
            <a:off x="6080760" y="1097280"/>
            <a:ext cx="2606040" cy="2514600"/>
          </a:xfrm>
          <a:prstGeom prst="roundRect">
            <a:avLst>
              <a:gd name="adj" fmla="val 2909"/>
            </a:avLst>
          </a:prstGeom>
          <a:ln w="9525">
            <a:solidFill>
              <a:srgbClr val="D5DED7"/>
            </a:solidFill>
            <a:prstDash val="solid"/>
          </a:ln>
        </p:spPr>
      </p:sp>
      <p:pic>
        <p:nvPicPr>
          <p:cNvPr id="13" name="Image 2" descr="/tmp/work/smedia/image26.jpg">    </p:cNvPr>
          <p:cNvPicPr>
            <a:picLocks noChangeAspect="1"/>
          </p:cNvPicPr>
          <p:nvPr/>
        </p:nvPicPr>
        <p:blipFill>
          <a:blip r:embed="rId3"/>
          <a:stretch>
            <a:fillRect/>
          </a:stretch>
        </p:blipFill>
        <p:spPr>
          <a:xfrm>
            <a:off x="6390787" y="1170432"/>
            <a:ext cx="1985985" cy="2368296"/>
          </a:xfrm>
          <a:prstGeom prst="rect">
            <a:avLst/>
          </a:prstGeom>
        </p:spPr>
      </p:pic>
      <p:sp>
        <p:nvSpPr>
          <p:cNvPr id="14" name="Text 9"/>
          <p:cNvSpPr txBox="1"/>
          <p:nvPr/>
        </p:nvSpPr>
        <p:spPr>
          <a:xfrm>
            <a:off x="457200" y="3657600"/>
            <a:ext cx="2606040" cy="320040"/>
          </a:xfrm>
          <a:prstGeom prst="rect">
            <a:avLst/>
          </a:prstGeom>
          <a:noFill/>
          <a:ln/>
        </p:spPr>
        <p:txBody>
          <a:bodyPr wrap="square" lIns="0" tIns="0" rIns="0" bIns="0" rtlCol="0" anchor="t"/>
          <a:lstStyle/>
          <a:p>
            <a:pPr algn="ctr" indent="0" marL="0">
              <a:buNone/>
            </a:pPr>
            <a:r>
              <a:rPr lang="en-US" sz="1300" b="1" dirty="0">
                <a:solidFill>
                  <a:schemeClr val="accent1"/>
                </a:solidFill>
                <a:latin typeface="Calibri" pitchFamily="34" charset="0"/>
                <a:ea typeface="Calibri" pitchFamily="34" charset="-122"/>
                <a:cs typeface="Calibri" pitchFamily="34" charset="-120"/>
              </a:rPr>
              <a:t>Solder each joint</a:t>
            </a:r>
            <a:endParaRPr lang="en-US" sz="1300" dirty="0"/>
          </a:p>
        </p:txBody>
      </p:sp>
      <p:sp>
        <p:nvSpPr>
          <p:cNvPr id="15" name="Text 10"/>
          <p:cNvSpPr txBox="1"/>
          <p:nvPr/>
        </p:nvSpPr>
        <p:spPr>
          <a:xfrm>
            <a:off x="3273552" y="3657600"/>
            <a:ext cx="2606040" cy="320040"/>
          </a:xfrm>
          <a:prstGeom prst="rect">
            <a:avLst/>
          </a:prstGeom>
          <a:noFill/>
          <a:ln/>
        </p:spPr>
        <p:txBody>
          <a:bodyPr wrap="square" lIns="0" tIns="0" rIns="0" bIns="0" rtlCol="0" anchor="t"/>
          <a:lstStyle/>
          <a:p>
            <a:pPr algn="ctr" indent="0" marL="0">
              <a:buNone/>
            </a:pPr>
            <a:r>
              <a:rPr lang="en-US" sz="1300" b="1" dirty="0">
                <a:solidFill>
                  <a:schemeClr val="accent1"/>
                </a:solidFill>
                <a:latin typeface="Calibri" pitchFamily="34" charset="0"/>
                <a:ea typeface="Calibri" pitchFamily="34" charset="-122"/>
                <a:cs typeface="Calibri" pitchFamily="34" charset="-120"/>
              </a:rPr>
              <a:t>Trim leads just above the joint</a:t>
            </a:r>
            <a:endParaRPr lang="en-US" sz="1300" dirty="0"/>
          </a:p>
        </p:txBody>
      </p:sp>
      <p:sp>
        <p:nvSpPr>
          <p:cNvPr id="16" name="Text 11"/>
          <p:cNvSpPr txBox="1"/>
          <p:nvPr/>
        </p:nvSpPr>
        <p:spPr>
          <a:xfrm>
            <a:off x="6080760" y="3657600"/>
            <a:ext cx="2606040" cy="320040"/>
          </a:xfrm>
          <a:prstGeom prst="rect">
            <a:avLst/>
          </a:prstGeom>
          <a:noFill/>
          <a:ln/>
        </p:spPr>
        <p:txBody>
          <a:bodyPr wrap="square" lIns="0" tIns="0" rIns="0" bIns="0" rtlCol="0" anchor="t"/>
          <a:lstStyle/>
          <a:p>
            <a:pPr algn="ctr" indent="0" marL="0">
              <a:buNone/>
            </a:pPr>
            <a:r>
              <a:rPr lang="en-US" sz="1300" b="1" dirty="0">
                <a:solidFill>
                  <a:schemeClr val="accent1"/>
                </a:solidFill>
                <a:latin typeface="Calibri" pitchFamily="34" charset="0"/>
                <a:ea typeface="Calibri" pitchFamily="34" charset="-122"/>
                <a:cs typeface="Calibri" pitchFamily="34" charset="-120"/>
              </a:rPr>
              <a:t>Finished flashlight!</a:t>
            </a:r>
            <a:endParaRPr lang="en-US" sz="1300" dirty="0"/>
          </a:p>
        </p:txBody>
      </p:sp>
      <p:sp>
        <p:nvSpPr>
          <p:cNvPr id="17" name="Text 12"/>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Full kit directions: </a:t>
            </a:r>
            <a:pPr indent="0" marL="0">
              <a:buNone/>
            </a:pPr>
            <a:r>
              <a:rPr lang="en-US" sz="1400" u="sng" dirty="0">
                <a:solidFill>
                  <a:schemeClr val="tx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SparkFun Flashlight Kit tutorial</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When things go wrong</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468880"/>
                <a:gridCol w="2560320"/>
                <a:gridCol w="3200400"/>
              </a:tblGrid>
              <a:tr h="54864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What you see</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Likely cause</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Try this</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accent1"/>
                    </a:solidFill>
                  </a:tcPr>
                </a:tc>
              </a:tr>
              <a:tr h="54864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Solder won't melt or melts slowly</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Tip oxidized or not tinned</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Clean on the sponge, then re-tin</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r>
              <a:tr h="54864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Solder balls up and won't stick</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Joint not heated, or dirty</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Add flux; heat pad + lead first, then feed solder</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r>
              <a:tr h="54864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Dull, grainy joint</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Moved while cooling (cold joint)</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Add flux and reheat until it flows</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r>
              <a:tr h="54864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Two pads joined (bridge)</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Too much solder</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Reheat and drag the iron away; ask about solder wick</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r>
              <a:tr h="54864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Pad lifted off the board</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Heated too long</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Stop and ask the instructor</a:t>
                      </a:r>
                      <a:endParaRPr lang="en-US" sz="1300" dirty="0">
                        <a:latin typeface="Calibri" charset="0"/>
                        <a:ea typeface="Calibri" charset="0"/>
                        <a:cs typeface="Calibri" charset="0"/>
                      </a:endParaRPr>
                    </a:p>
                  </a:txBody>
                  <a:tcPr marL="73152" marR="73152"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6766560" cy="685800"/>
          </a:xfrm>
          <a:prstGeom prst="rect">
            <a:avLst/>
          </a:prstGeom>
          <a:noFill/>
          <a:ln/>
        </p:spPr>
        <p:txBody>
          <a:bodyPr wrap="square" lIns="0" tIns="0" rIns="0" bIns="0" rtlCol="0" anchor="ctr"/>
          <a:lstStyle/>
          <a:p>
            <a:pPr algn="l" indent="0" marL="0">
              <a:buNone/>
            </a:pPr>
            <a:r>
              <a:rPr lang="en-US" sz="3000" b="1" dirty="0">
                <a:solidFill>
                  <a:schemeClr val="accent1"/>
                </a:solidFill>
              </a:rPr>
              <a:t>Shut down your station</a:t>
            </a:r>
            <a:endParaRPr lang="en-US" sz="3000" dirty="0"/>
          </a:p>
        </p:txBody>
      </p:sp>
      <p:sp>
        <p:nvSpPr>
          <p:cNvPr id="3" name="Shape 1"/>
          <p:cNvSpPr/>
          <p:nvPr/>
        </p:nvSpPr>
        <p:spPr>
          <a:xfrm>
            <a:off x="868680" y="1234440"/>
            <a:ext cx="685800" cy="68580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1033272" y="1399032"/>
            <a:ext cx="356616" cy="356616"/>
          </a:xfrm>
          <a:prstGeom prst="rect">
            <a:avLst/>
          </a:prstGeom>
        </p:spPr>
      </p:pic>
      <p:sp>
        <p:nvSpPr>
          <p:cNvPr id="5" name="Text 2"/>
          <p:cNvSpPr txBox="1"/>
          <p:nvPr/>
        </p:nvSpPr>
        <p:spPr>
          <a:xfrm>
            <a:off x="411480" y="2057400"/>
            <a:ext cx="1600200"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Tin the tip</a:t>
            </a:r>
            <a:endParaRPr lang="en-US" sz="1500" dirty="0"/>
          </a:p>
        </p:txBody>
      </p:sp>
      <p:sp>
        <p:nvSpPr>
          <p:cNvPr id="6" name="Text 3"/>
          <p:cNvSpPr txBox="1"/>
          <p:nvPr/>
        </p:nvSpPr>
        <p:spPr>
          <a:xfrm>
            <a:off x="475488" y="2468880"/>
            <a:ext cx="1463040" cy="82296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A fresh coat protects it while it's off</a:t>
            </a:r>
            <a:endParaRPr lang="en-US" sz="1200" dirty="0"/>
          </a:p>
        </p:txBody>
      </p:sp>
      <p:sp>
        <p:nvSpPr>
          <p:cNvPr id="7" name="Shape 4"/>
          <p:cNvSpPr/>
          <p:nvPr/>
        </p:nvSpPr>
        <p:spPr>
          <a:xfrm>
            <a:off x="1874520" y="1463040"/>
            <a:ext cx="228600" cy="201168"/>
          </a:xfrm>
          <a:prstGeom prst="rightArrow">
            <a:avLst/>
          </a:prstGeom>
          <a:solidFill>
            <a:schemeClr val="accent3"/>
          </a:solidFill>
          <a:ln/>
        </p:spPr>
      </p:sp>
      <p:sp>
        <p:nvSpPr>
          <p:cNvPr id="8" name="Shape 5"/>
          <p:cNvSpPr/>
          <p:nvPr/>
        </p:nvSpPr>
        <p:spPr>
          <a:xfrm>
            <a:off x="2551176" y="1234440"/>
            <a:ext cx="685800" cy="685800"/>
          </a:xfrm>
          <a:prstGeom prst="ellipse">
            <a:avLst/>
          </a:prstGeom>
          <a:solidFill>
            <a:schemeClr val="accent6"/>
          </a:solidFill>
          <a:ln/>
        </p:spPr>
      </p:sp>
      <p:pic>
        <p:nvPicPr>
          <p:cNvPr id="9" name="Image 1" descr="preencoded.png">    </p:cNvPr>
          <p:cNvPicPr>
            <a:picLocks noChangeAspect="1"/>
          </p:cNvPicPr>
          <p:nvPr/>
        </p:nvPicPr>
        <p:blipFill>
          <a:blip r:embed="rId2"/>
          <a:stretch>
            <a:fillRect/>
          </a:stretch>
        </p:blipFill>
        <p:spPr>
          <a:xfrm>
            <a:off x="2715768" y="1399032"/>
            <a:ext cx="356616" cy="356616"/>
          </a:xfrm>
          <a:prstGeom prst="rect">
            <a:avLst/>
          </a:prstGeom>
        </p:spPr>
      </p:pic>
      <p:sp>
        <p:nvSpPr>
          <p:cNvPr id="10" name="Text 6"/>
          <p:cNvSpPr txBox="1"/>
          <p:nvPr/>
        </p:nvSpPr>
        <p:spPr>
          <a:xfrm>
            <a:off x="2093976" y="2057400"/>
            <a:ext cx="1600200"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Iron off + unplugged</a:t>
            </a:r>
            <a:endParaRPr lang="en-US" sz="1500" dirty="0"/>
          </a:p>
        </p:txBody>
      </p:sp>
      <p:sp>
        <p:nvSpPr>
          <p:cNvPr id="11" name="Text 7"/>
          <p:cNvSpPr txBox="1"/>
          <p:nvPr/>
        </p:nvSpPr>
        <p:spPr>
          <a:xfrm>
            <a:off x="2157984" y="2468880"/>
            <a:ext cx="1463040" cy="82296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Back in the stand to cool</a:t>
            </a:r>
            <a:endParaRPr lang="en-US" sz="1200" dirty="0"/>
          </a:p>
        </p:txBody>
      </p:sp>
      <p:sp>
        <p:nvSpPr>
          <p:cNvPr id="12" name="Shape 8"/>
          <p:cNvSpPr/>
          <p:nvPr/>
        </p:nvSpPr>
        <p:spPr>
          <a:xfrm>
            <a:off x="3557016" y="1463040"/>
            <a:ext cx="228600" cy="201168"/>
          </a:xfrm>
          <a:prstGeom prst="rightArrow">
            <a:avLst/>
          </a:prstGeom>
          <a:solidFill>
            <a:schemeClr val="accent3"/>
          </a:solidFill>
          <a:ln/>
        </p:spPr>
      </p:sp>
      <p:sp>
        <p:nvSpPr>
          <p:cNvPr id="13" name="Shape 9"/>
          <p:cNvSpPr/>
          <p:nvPr/>
        </p:nvSpPr>
        <p:spPr>
          <a:xfrm>
            <a:off x="4233672" y="1234440"/>
            <a:ext cx="685800" cy="685800"/>
          </a:xfrm>
          <a:prstGeom prst="ellipse">
            <a:avLst/>
          </a:prstGeom>
          <a:solidFill>
            <a:schemeClr val="accent1"/>
          </a:solidFill>
          <a:ln/>
        </p:spPr>
      </p:sp>
      <p:pic>
        <p:nvPicPr>
          <p:cNvPr id="14" name="Image 2" descr="preencoded.png">    </p:cNvPr>
          <p:cNvPicPr>
            <a:picLocks noChangeAspect="1"/>
          </p:cNvPicPr>
          <p:nvPr/>
        </p:nvPicPr>
        <p:blipFill>
          <a:blip r:embed="rId3"/>
          <a:stretch>
            <a:fillRect/>
          </a:stretch>
        </p:blipFill>
        <p:spPr>
          <a:xfrm>
            <a:off x="4398264" y="1399032"/>
            <a:ext cx="356616" cy="356616"/>
          </a:xfrm>
          <a:prstGeom prst="rect">
            <a:avLst/>
          </a:prstGeom>
        </p:spPr>
      </p:pic>
      <p:sp>
        <p:nvSpPr>
          <p:cNvPr id="15" name="Text 10"/>
          <p:cNvSpPr txBox="1"/>
          <p:nvPr/>
        </p:nvSpPr>
        <p:spPr>
          <a:xfrm>
            <a:off x="3776472" y="2057400"/>
            <a:ext cx="1600200"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Fume absorber off</a:t>
            </a:r>
            <a:endParaRPr lang="en-US" sz="1500" dirty="0"/>
          </a:p>
        </p:txBody>
      </p:sp>
      <p:sp>
        <p:nvSpPr>
          <p:cNvPr id="16" name="Text 11"/>
          <p:cNvSpPr txBox="1"/>
          <p:nvPr/>
        </p:nvSpPr>
        <p:spPr>
          <a:xfrm>
            <a:off x="3840480" y="2468880"/>
            <a:ext cx="1463040" cy="82296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Switch on the back</a:t>
            </a:r>
            <a:endParaRPr lang="en-US" sz="1200" dirty="0"/>
          </a:p>
        </p:txBody>
      </p:sp>
      <p:sp>
        <p:nvSpPr>
          <p:cNvPr id="17" name="Shape 12"/>
          <p:cNvSpPr/>
          <p:nvPr/>
        </p:nvSpPr>
        <p:spPr>
          <a:xfrm>
            <a:off x="5239512" y="1463040"/>
            <a:ext cx="228600" cy="201168"/>
          </a:xfrm>
          <a:prstGeom prst="rightArrow">
            <a:avLst/>
          </a:prstGeom>
          <a:solidFill>
            <a:schemeClr val="accent3"/>
          </a:solidFill>
          <a:ln/>
        </p:spPr>
      </p:sp>
      <p:sp>
        <p:nvSpPr>
          <p:cNvPr id="18" name="Shape 13"/>
          <p:cNvSpPr/>
          <p:nvPr/>
        </p:nvSpPr>
        <p:spPr>
          <a:xfrm>
            <a:off x="5916168" y="1234440"/>
            <a:ext cx="685800" cy="685800"/>
          </a:xfrm>
          <a:prstGeom prst="ellipse">
            <a:avLst/>
          </a:prstGeom>
          <a:solidFill>
            <a:schemeClr val="accent1"/>
          </a:solidFill>
          <a:ln/>
        </p:spPr>
      </p:sp>
      <p:pic>
        <p:nvPicPr>
          <p:cNvPr id="19" name="Image 3" descr="preencoded.png">    </p:cNvPr>
          <p:cNvPicPr>
            <a:picLocks noChangeAspect="1"/>
          </p:cNvPicPr>
          <p:nvPr/>
        </p:nvPicPr>
        <p:blipFill>
          <a:blip r:embed="rId4"/>
          <a:stretch>
            <a:fillRect/>
          </a:stretch>
        </p:blipFill>
        <p:spPr>
          <a:xfrm>
            <a:off x="6080760" y="1399032"/>
            <a:ext cx="356616" cy="356616"/>
          </a:xfrm>
          <a:prstGeom prst="rect">
            <a:avLst/>
          </a:prstGeom>
        </p:spPr>
      </p:pic>
      <p:sp>
        <p:nvSpPr>
          <p:cNvPr id="20" name="Text 14"/>
          <p:cNvSpPr txBox="1"/>
          <p:nvPr/>
        </p:nvSpPr>
        <p:spPr>
          <a:xfrm>
            <a:off x="5458968" y="2057400"/>
            <a:ext cx="1600200"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Clean up</a:t>
            </a:r>
            <a:endParaRPr lang="en-US" sz="1500" dirty="0"/>
          </a:p>
        </p:txBody>
      </p:sp>
      <p:sp>
        <p:nvSpPr>
          <p:cNvPr id="21" name="Text 15"/>
          <p:cNvSpPr txBox="1"/>
          <p:nvPr/>
        </p:nvSpPr>
        <p:spPr>
          <a:xfrm>
            <a:off x="5522976" y="2468880"/>
            <a:ext cx="1463040" cy="82296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Clipped leads, solder bits, tools back</a:t>
            </a:r>
            <a:endParaRPr lang="en-US" sz="1200" dirty="0"/>
          </a:p>
        </p:txBody>
      </p:sp>
      <p:sp>
        <p:nvSpPr>
          <p:cNvPr id="22" name="Shape 16"/>
          <p:cNvSpPr/>
          <p:nvPr/>
        </p:nvSpPr>
        <p:spPr>
          <a:xfrm>
            <a:off x="6922008" y="1463040"/>
            <a:ext cx="228600" cy="201168"/>
          </a:xfrm>
          <a:prstGeom prst="rightArrow">
            <a:avLst/>
          </a:prstGeom>
          <a:solidFill>
            <a:schemeClr val="accent3"/>
          </a:solidFill>
          <a:ln/>
        </p:spPr>
      </p:sp>
      <p:sp>
        <p:nvSpPr>
          <p:cNvPr id="23" name="Shape 17"/>
          <p:cNvSpPr/>
          <p:nvPr/>
        </p:nvSpPr>
        <p:spPr>
          <a:xfrm>
            <a:off x="7598664" y="1234440"/>
            <a:ext cx="685800" cy="685800"/>
          </a:xfrm>
          <a:prstGeom prst="ellipse">
            <a:avLst/>
          </a:prstGeom>
          <a:solidFill>
            <a:schemeClr val="accent1"/>
          </a:solidFill>
          <a:ln/>
        </p:spPr>
      </p:sp>
      <p:pic>
        <p:nvPicPr>
          <p:cNvPr id="24" name="Image 4" descr="preencoded.png">    </p:cNvPr>
          <p:cNvPicPr>
            <a:picLocks noChangeAspect="1"/>
          </p:cNvPicPr>
          <p:nvPr/>
        </p:nvPicPr>
        <p:blipFill>
          <a:blip r:embed="rId5"/>
          <a:stretch>
            <a:fillRect/>
          </a:stretch>
        </p:blipFill>
        <p:spPr>
          <a:xfrm>
            <a:off x="7763256" y="1399032"/>
            <a:ext cx="356616" cy="356616"/>
          </a:xfrm>
          <a:prstGeom prst="rect">
            <a:avLst/>
          </a:prstGeom>
        </p:spPr>
      </p:pic>
      <p:sp>
        <p:nvSpPr>
          <p:cNvPr id="25" name="Text 18"/>
          <p:cNvSpPr txBox="1"/>
          <p:nvPr/>
        </p:nvSpPr>
        <p:spPr>
          <a:xfrm>
            <a:off x="7141464" y="2057400"/>
            <a:ext cx="1600200" cy="41148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Wash your hands</a:t>
            </a:r>
            <a:endParaRPr lang="en-US" sz="1500" dirty="0"/>
          </a:p>
        </p:txBody>
      </p:sp>
      <p:sp>
        <p:nvSpPr>
          <p:cNvPr id="26" name="Text 19"/>
          <p:cNvSpPr txBox="1"/>
          <p:nvPr/>
        </p:nvSpPr>
        <p:spPr>
          <a:xfrm>
            <a:off x="7205472" y="2468880"/>
            <a:ext cx="1463040" cy="82296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Before eating or touching your face</a:t>
            </a:r>
            <a:endParaRPr lang="en-US" sz="1200" dirty="0"/>
          </a:p>
        </p:txBody>
      </p:sp>
      <p:sp>
        <p:nvSpPr>
          <p:cNvPr id="27" name="Shape 20"/>
          <p:cNvSpPr/>
          <p:nvPr/>
        </p:nvSpPr>
        <p:spPr>
          <a:xfrm>
            <a:off x="457200" y="3657600"/>
            <a:ext cx="8229600" cy="914400"/>
          </a:xfrm>
          <a:prstGeom prst="roundRect">
            <a:avLst>
              <a:gd name="adj" fmla="val 8000"/>
            </a:avLst>
          </a:prstGeom>
          <a:solidFill>
            <a:schemeClr val="accent1"/>
          </a:solidFill>
          <a:ln/>
        </p:spPr>
      </p:sp>
      <p:sp>
        <p:nvSpPr>
          <p:cNvPr id="28" name="Text 21"/>
          <p:cNvSpPr txBox="1"/>
          <p:nvPr/>
        </p:nvSpPr>
        <p:spPr>
          <a:xfrm>
            <a:off x="685800" y="3657600"/>
            <a:ext cx="7772400" cy="914400"/>
          </a:xfrm>
          <a:prstGeom prst="rect">
            <a:avLst/>
          </a:prstGeom>
          <a:noFill/>
          <a:ln/>
        </p:spPr>
        <p:txBody>
          <a:bodyPr wrap="square" lIns="0" tIns="0" rIns="0" bIns="0" rtlCol="0" anchor="ctr"/>
          <a:lstStyle/>
          <a:p>
            <a:pPr indent="0" marL="0">
              <a:buNone/>
            </a:pPr>
            <a:r>
              <a:rPr lang="en-US" sz="1400" b="1" dirty="0">
                <a:solidFill>
                  <a:schemeClr val="accent3"/>
                </a:solidFill>
                <a:latin typeface="Calibri" pitchFamily="34" charset="0"/>
                <a:ea typeface="Calibri" pitchFamily="34" charset="-122"/>
                <a:cs typeface="Calibri" pitchFamily="34" charset="-120"/>
              </a:rPr>
              <a:t>Leave the station the way you'd want to find it. </a:t>
            </a:r>
            <a:pPr indent="0" marL="0">
              <a:buNone/>
            </a:pPr>
            <a:r>
              <a:rPr lang="en-US" sz="1400" dirty="0">
                <a:solidFill>
                  <a:schemeClr val="bg1"/>
                </a:solidFill>
                <a:latin typeface="Calibri" pitchFamily="34" charset="0"/>
                <a:ea typeface="Calibri" pitchFamily="34" charset="-122"/>
                <a:cs typeface="Calibri" pitchFamily="34" charset="-120"/>
              </a:rPr>
              <a:t>The next person's first job shouldn't be cleaning up yours.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t"/>
          <a:lstStyle/>
          <a:p>
            <a:pPr indent="0" marL="0">
              <a:buNone/>
            </a:pPr>
            <a:r>
              <a:rPr lang="en-US" sz="3200" b="1" dirty="0">
                <a:solidFill>
                  <a:schemeClr val="bg1"/>
                </a:solidFill>
                <a:latin typeface="Cambria" pitchFamily="34" charset="0"/>
                <a:ea typeface="Cambria" pitchFamily="34" charset="-122"/>
                <a:cs typeface="Cambria" pitchFamily="34" charset="-120"/>
              </a:rPr>
              <a:t>Engineers iterate</a:t>
            </a:r>
            <a:endParaRPr lang="en-US" sz="3200" dirty="0"/>
          </a:p>
        </p:txBody>
      </p:sp>
      <p:sp>
        <p:nvSpPr>
          <p:cNvPr id="3" name="Shape 1"/>
          <p:cNvSpPr/>
          <p:nvPr/>
        </p:nvSpPr>
        <p:spPr>
          <a:xfrm>
            <a:off x="1234440" y="1554480"/>
            <a:ext cx="2606040" cy="2606040"/>
          </a:xfrm>
          <a:prstGeom prst="ellipse">
            <a:avLst/>
          </a:prstGeom>
          <a:ln w="38100">
            <a:solidFill>
              <a:schemeClr val="accent2"/>
            </a:solidFill>
            <a:prstDash val="dash"/>
          </a:ln>
        </p:spPr>
      </p:sp>
      <p:sp>
        <p:nvSpPr>
          <p:cNvPr id="4" name="Shape 2"/>
          <p:cNvSpPr/>
          <p:nvPr/>
        </p:nvSpPr>
        <p:spPr>
          <a:xfrm>
            <a:off x="2011680" y="1234440"/>
            <a:ext cx="1051560" cy="457200"/>
          </a:xfrm>
          <a:prstGeom prst="roundRect">
            <a:avLst>
              <a:gd name="adj" fmla="val 50000"/>
            </a:avLst>
          </a:prstGeom>
          <a:solidFill>
            <a:schemeClr val="accent3"/>
          </a:solidFill>
          <a:ln/>
        </p:spPr>
      </p:sp>
      <p:sp>
        <p:nvSpPr>
          <p:cNvPr id="5" name="Text 3"/>
          <p:cNvSpPr txBox="1"/>
          <p:nvPr/>
        </p:nvSpPr>
        <p:spPr>
          <a:xfrm>
            <a:off x="2011680" y="1234440"/>
            <a:ext cx="1051560" cy="457200"/>
          </a:xfrm>
          <a:prstGeom prst="rect">
            <a:avLst/>
          </a:prstGeom>
          <a:noFill/>
          <a:ln/>
        </p:spPr>
        <p:txBody>
          <a:bodyPr wrap="square" lIns="0" tIns="0" rIns="0" bIns="0" rtlCol="0" anchor="ctr"/>
          <a:lstStyle/>
          <a:p>
            <a:pPr algn="ctr" indent="0" marL="0">
              <a:buNone/>
            </a:pPr>
            <a:r>
              <a:rPr lang="en-US" sz="1300" b="1" dirty="0">
                <a:solidFill>
                  <a:schemeClr val="accent1"/>
                </a:solidFill>
                <a:latin typeface="Calibri" pitchFamily="34" charset="0"/>
                <a:ea typeface="Calibri" pitchFamily="34" charset="-122"/>
                <a:cs typeface="Calibri" pitchFamily="34" charset="-120"/>
              </a:rPr>
              <a:t>Heat</a:t>
            </a:r>
            <a:endParaRPr lang="en-US" sz="1300" dirty="0"/>
          </a:p>
        </p:txBody>
      </p:sp>
      <p:sp>
        <p:nvSpPr>
          <p:cNvPr id="6" name="Shape 4"/>
          <p:cNvSpPr/>
          <p:nvPr/>
        </p:nvSpPr>
        <p:spPr>
          <a:xfrm>
            <a:off x="3291840" y="2377440"/>
            <a:ext cx="1051560" cy="457200"/>
          </a:xfrm>
          <a:prstGeom prst="roundRect">
            <a:avLst>
              <a:gd name="adj" fmla="val 50000"/>
            </a:avLst>
          </a:prstGeom>
          <a:solidFill>
            <a:schemeClr val="accent3"/>
          </a:solidFill>
          <a:ln/>
        </p:spPr>
      </p:sp>
      <p:sp>
        <p:nvSpPr>
          <p:cNvPr id="7" name="Text 5"/>
          <p:cNvSpPr txBox="1"/>
          <p:nvPr/>
        </p:nvSpPr>
        <p:spPr>
          <a:xfrm>
            <a:off x="3291840" y="2377440"/>
            <a:ext cx="1051560" cy="457200"/>
          </a:xfrm>
          <a:prstGeom prst="rect">
            <a:avLst/>
          </a:prstGeom>
          <a:noFill/>
          <a:ln/>
        </p:spPr>
        <p:txBody>
          <a:bodyPr wrap="square" lIns="0" tIns="0" rIns="0" bIns="0" rtlCol="0" anchor="ctr"/>
          <a:lstStyle/>
          <a:p>
            <a:pPr algn="ctr" indent="0" marL="0">
              <a:buNone/>
            </a:pPr>
            <a:r>
              <a:rPr lang="en-US" sz="1300" b="1" dirty="0">
                <a:solidFill>
                  <a:schemeClr val="accent1"/>
                </a:solidFill>
                <a:latin typeface="Calibri" pitchFamily="34" charset="0"/>
                <a:ea typeface="Calibri" pitchFamily="34" charset="-122"/>
                <a:cs typeface="Calibri" pitchFamily="34" charset="-120"/>
              </a:rPr>
              <a:t>Feed</a:t>
            </a:r>
            <a:endParaRPr lang="en-US" sz="1300" dirty="0"/>
          </a:p>
        </p:txBody>
      </p:sp>
      <p:sp>
        <p:nvSpPr>
          <p:cNvPr id="8" name="Shape 6"/>
          <p:cNvSpPr/>
          <p:nvPr/>
        </p:nvSpPr>
        <p:spPr>
          <a:xfrm>
            <a:off x="2011680" y="3520440"/>
            <a:ext cx="1051560" cy="457200"/>
          </a:xfrm>
          <a:prstGeom prst="roundRect">
            <a:avLst>
              <a:gd name="adj" fmla="val 50000"/>
            </a:avLst>
          </a:prstGeom>
          <a:solidFill>
            <a:schemeClr val="accent3"/>
          </a:solidFill>
          <a:ln/>
        </p:spPr>
      </p:sp>
      <p:sp>
        <p:nvSpPr>
          <p:cNvPr id="9" name="Text 7"/>
          <p:cNvSpPr txBox="1"/>
          <p:nvPr/>
        </p:nvSpPr>
        <p:spPr>
          <a:xfrm>
            <a:off x="2011680" y="3520440"/>
            <a:ext cx="1051560" cy="457200"/>
          </a:xfrm>
          <a:prstGeom prst="rect">
            <a:avLst/>
          </a:prstGeom>
          <a:noFill/>
          <a:ln/>
        </p:spPr>
        <p:txBody>
          <a:bodyPr wrap="square" lIns="0" tIns="0" rIns="0" bIns="0" rtlCol="0" anchor="ctr"/>
          <a:lstStyle/>
          <a:p>
            <a:pPr algn="ctr" indent="0" marL="0">
              <a:buNone/>
            </a:pPr>
            <a:r>
              <a:rPr lang="en-US" sz="1300" b="1" dirty="0">
                <a:solidFill>
                  <a:schemeClr val="accent1"/>
                </a:solidFill>
                <a:latin typeface="Calibri" pitchFamily="34" charset="0"/>
                <a:ea typeface="Calibri" pitchFamily="34" charset="-122"/>
                <a:cs typeface="Calibri" pitchFamily="34" charset="-120"/>
              </a:rPr>
              <a:t>Inspect</a:t>
            </a:r>
            <a:endParaRPr lang="en-US" sz="1300" dirty="0"/>
          </a:p>
        </p:txBody>
      </p:sp>
      <p:sp>
        <p:nvSpPr>
          <p:cNvPr id="10" name="Shape 8"/>
          <p:cNvSpPr/>
          <p:nvPr/>
        </p:nvSpPr>
        <p:spPr>
          <a:xfrm>
            <a:off x="731520" y="2377440"/>
            <a:ext cx="1051560" cy="457200"/>
          </a:xfrm>
          <a:prstGeom prst="roundRect">
            <a:avLst>
              <a:gd name="adj" fmla="val 50000"/>
            </a:avLst>
          </a:prstGeom>
          <a:solidFill>
            <a:schemeClr val="accent3"/>
          </a:solidFill>
          <a:ln/>
        </p:spPr>
      </p:sp>
      <p:sp>
        <p:nvSpPr>
          <p:cNvPr id="11" name="Text 9"/>
          <p:cNvSpPr txBox="1"/>
          <p:nvPr/>
        </p:nvSpPr>
        <p:spPr>
          <a:xfrm>
            <a:off x="731520" y="2377440"/>
            <a:ext cx="1051560" cy="457200"/>
          </a:xfrm>
          <a:prstGeom prst="rect">
            <a:avLst/>
          </a:prstGeom>
          <a:noFill/>
          <a:ln/>
        </p:spPr>
        <p:txBody>
          <a:bodyPr wrap="square" lIns="0" tIns="0" rIns="0" bIns="0" rtlCol="0" anchor="ctr"/>
          <a:lstStyle/>
          <a:p>
            <a:pPr algn="ctr" indent="0" marL="0">
              <a:buNone/>
            </a:pPr>
            <a:r>
              <a:rPr lang="en-US" sz="1300" b="1" dirty="0">
                <a:solidFill>
                  <a:schemeClr val="accent1"/>
                </a:solidFill>
                <a:latin typeface="Calibri" pitchFamily="34" charset="0"/>
                <a:ea typeface="Calibri" pitchFamily="34" charset="-122"/>
                <a:cs typeface="Calibri" pitchFamily="34" charset="-120"/>
              </a:rPr>
              <a:t>Rework</a:t>
            </a:r>
            <a:endParaRPr lang="en-US" sz="1300" dirty="0"/>
          </a:p>
        </p:txBody>
      </p:sp>
      <p:sp>
        <p:nvSpPr>
          <p:cNvPr id="12" name="Shape 10"/>
          <p:cNvSpPr/>
          <p:nvPr/>
        </p:nvSpPr>
        <p:spPr>
          <a:xfrm>
            <a:off x="4572000" y="1234440"/>
            <a:ext cx="4114800" cy="3200400"/>
          </a:xfrm>
          <a:prstGeom prst="roundRect">
            <a:avLst>
              <a:gd name="adj" fmla="val 2286"/>
            </a:avLst>
          </a:prstGeom>
          <a:solidFill>
            <a:schemeClr val="bg1"/>
          </a:solidFill>
          <a:ln/>
        </p:spPr>
      </p:sp>
      <p:sp>
        <p:nvSpPr>
          <p:cNvPr id="13" name="Text 11"/>
          <p:cNvSpPr txBox="1"/>
          <p:nvPr/>
        </p:nvSpPr>
        <p:spPr>
          <a:xfrm>
            <a:off x="4800600" y="1371600"/>
            <a:ext cx="3657600" cy="41148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Exit ticket</a:t>
            </a:r>
            <a:endParaRPr lang="en-US" sz="1800" dirty="0"/>
          </a:p>
        </p:txBody>
      </p:sp>
      <p:sp>
        <p:nvSpPr>
          <p:cNvPr id="14" name="Text 12"/>
          <p:cNvSpPr txBox="1"/>
          <p:nvPr/>
        </p:nvSpPr>
        <p:spPr>
          <a:xfrm>
            <a:off x="4800600" y="1828800"/>
            <a:ext cx="3703320" cy="251460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Describe your worst joint today. What did it look like, and what do you think caused it?</a:t>
            </a:r>
            <a:endParaRPr lang="en-US" sz="1300" dirty="0"/>
          </a:p>
          <a:p>
            <a:pPr marL="342900" indent="-342900">
              <a:spcAft>
                <a:spcPts val="8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What did you change on your next joint, and did it work?</a:t>
            </a:r>
            <a:endParaRPr lang="en-US" sz="1300" dirty="0"/>
          </a:p>
          <a:p>
            <a:pPr marL="342900" indent="-342900">
              <a:spcAft>
                <a:spcPts val="800"/>
              </a:spcAft>
              <a:buSzPct val="100000"/>
              <a:buFont typeface="+mj-lt"/>
              <a:buAutoNum type="arabicPeriod" startAt="1"/>
            </a:pPr>
            <a:r>
              <a:rPr lang="en-US" sz="1300" dirty="0">
                <a:solidFill>
                  <a:schemeClr val="tx1"/>
                </a:solidFill>
                <a:latin typeface="Calibri" pitchFamily="34" charset="0"/>
                <a:ea typeface="Calibri" pitchFamily="34" charset="-122"/>
                <a:cs typeface="Calibri" pitchFamily="34" charset="-120"/>
              </a:rPr>
              <a:t>Where else might you need to solder: in your major, a hobby, or a job?</a:t>
            </a:r>
            <a:endParaRPr lang="en-US" sz="1300" dirty="0"/>
          </a:p>
        </p:txBody>
      </p:sp>
      <p:sp>
        <p:nvSpPr>
          <p:cNvPr id="16" name="Text 0"/>
          <p:cNvSpPr/>
          <p:nvPr>
            <p:ph idx="100" type="title" hasCustomPrompt="1"/>
          </p:nvPr>
        </p:nvSpPr>
        <p:spPr>
          <a:xfrm>
            <a:off x="548640" y="1234440"/>
            <a:ext cx="8046720" cy="1371600"/>
          </a:xfrm>
          <a:prstGeom prst="rect">
            <a:avLst/>
          </a:prstGeom>
          <a:noFill/>
          <a:ln/>
        </p:spPr>
        <p:txBody>
          <a:bodyPr wrap="square" lIns="0" tIns="0" rIns="0" bIns="0" rtlCol="0" anchor="b"/>
          <a:lstStyle/>
          <a:p>
            <a:pPr algn="l" indent="0" marL="0">
              <a:buNone/>
            </a:pPr>
            <a:endParaRPr lang="en-US" sz="4000" dirty="0"/>
          </a:p>
        </p:txBody>
      </p:sp>
      <p:sp>
        <p:nvSpPr>
          <p:cNvPr id="17" name="Text 0"/>
          <p:cNvSpPr/>
          <p:nvPr>
            <p:ph idx="101" type="body" hasCustomPrompt="1"/>
          </p:nvPr>
        </p:nvSpPr>
        <p:spPr>
          <a:xfrm>
            <a:off x="548640" y="2743200"/>
            <a:ext cx="8046720" cy="822960"/>
          </a:xfrm>
          <a:prstGeom prst="rect">
            <a:avLst/>
          </a:prstGeom>
          <a:noFill/>
          <a:ln/>
        </p:spPr>
        <p:txBody>
          <a:bodyPr wrap="square" lIns="0" tIns="0" rIns="0" bIns="0" rtlCol="0" anchor="t"/>
          <a:lstStyle/>
          <a:p>
            <a:pPr indent="0" marL="0">
              <a:buNone/>
            </a:pPr>
            <a:endParaRPr lang="en-US" sz="2000" dirty="0"/>
          </a:p>
        </p:txBody>
      </p:sp>
    </p:spTree>
  </p:cSld>
  <p:clrMapOvr>
    <a:masterClrMapping/>
  </p:clrMapOvr>
</p:sld>
</file>

<file path=ppt/theme/theme1.xml><?xml version="1.0" encoding="utf-8"?>
<a:theme xmlns:a="http://schemas.openxmlformats.org/drawingml/2006/main" name="WCC Green Gold">
  <a:themeElements>
    <a:clrScheme name="WCC Green Gold">
      <a:dk1>
        <a:srgbClr val="1F2A24"/>
      </a:dk1>
      <a:lt1>
        <a:srgbClr val="FFFFFF"/>
      </a:lt1>
      <a:dk2>
        <a:srgbClr val="1E4D2B"/>
      </a:dk2>
      <a:lt2>
        <a:srgbClr val="EEF4EF"/>
      </a:lt2>
      <a:accent1>
        <a:srgbClr val="1E4D2B"/>
      </a:accent1>
      <a:accent2>
        <a:srgbClr val="4A8C5C"/>
      </a:accent2>
      <a:accent3>
        <a:srgbClr val="D4A72C"/>
      </a:accent3>
      <a:accent4>
        <a:srgbClr val="A9CDB2"/>
      </a:accent4>
      <a:accent5>
        <a:srgbClr val="6B6F6C"/>
      </a:accent5>
      <a:accent6>
        <a:srgbClr val="B5462F"/>
      </a:accent6>
      <a:hlink>
        <a:srgbClr val="2F6FAE"/>
      </a:hlink>
      <a:folHlink>
        <a:srgbClr val="6B4FA0"/>
      </a:folHlink>
    </a:clrScheme>
    <a:fontScheme name="WCC Green Go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Soldering</dc:title>
  <dc:subject>PptxGenJS Presentation</dc:subject>
  <dc:creator>ENGR 101 Engineering Exploration</dc:creator>
  <cp:lastModifiedBy>ENGR 101 Engineering Exploration</cp:lastModifiedBy>
  <cp:revision>1</cp:revision>
  <dcterms:created xsi:type="dcterms:W3CDTF">2026-10-10T16:28:47Z</dcterms:created>
  <dcterms:modified xsi:type="dcterms:W3CDTF">2026-10-10T16:28:47Z</dcterms:modified>
</cp:coreProperties>
</file>