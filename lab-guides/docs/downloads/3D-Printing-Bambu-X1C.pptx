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4d724a7-ccc6-956a-a362-cf5557b8aaf8}">
          <p14:sldIdLst>
            <p14:sldId id="256"/>
            <p14:sldId id="257"/>
          </p14:sldIdLst>
        </p14:section>
        <p14:section name="Basics" id="{1527fb98-91e4-bc75-606a-2c3fcd2c17a7}">
          <p14:sldIdLst>
            <p14:sldId id="258"/>
            <p14:sldId id="259"/>
            <p14:sldId id="260"/>
            <p14:sldId id="261"/>
          </p14:sldIdLst>
        </p14:section>
        <p14:section name="Design" id="{32541124-ce8c-c1de-44a8-b5a72a5ffefa}">
          <p14:sldIdLst>
            <p14:sldId id="262"/>
            <p14:sldId id="263"/>
          </p14:sldIdLst>
        </p14:section>
        <p14:section name="Export" id="{023eb598-7036-cddd-30a8-d8c819e49227}">
          <p14:sldIdLst>
            <p14:sldId id="264"/>
          </p14:sldIdLst>
        </p14:section>
        <p14:section name="Slice" id="{36882322-2303-fcaa-faef-82ba2e0ac926}">
          <p14:sldIdLst>
            <p14:sldId id="265"/>
            <p14:sldId id="266"/>
            <p14:sldId id="267"/>
            <p14:sldId id="268"/>
          </p14:sldIdLst>
        </p14:section>
        <p14:section name="Print" id="{b4f9fd1d-7180-23ad-46b3-74c9bb06d141}">
          <p14:sldIdLst>
            <p14:sldId id="269"/>
            <p14:sldId id="270"/>
            <p14:sldId id="271"/>
            <p14:sldId id="272"/>
            <p14:sldId id="273"/>
          </p14:sldIdLst>
        </p14:section>
        <p14:section name="Wrap-up" id="{a59b7ffc-ad29-2662-151b-275b79c261bc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Today's goal: every student leaves knowing the full path from a part in Onshape to a physical object off the X1-Carbon — and why each step matters. Students should have a small part ready in Onshape (or use a provided practice part).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them discover layer lines, the flat 'first layer' face, and that parts tend to split BETWEEN layers. Don't name these yet — collect observations on the board and come back to them on the design-rules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pair-share on the bottom question. Target ideas: 3D printing has no tooling cost and is easy to change (great for 1–10 parts); molding has huge upfront mold cost but each part is cheap and fast (great for 10,000 parts). Connects to the 'manufacture at scale'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back to the 3D printer disassembly lab — students have already held an extruder and hot end. The four vocab words at the bottom come back when we slice.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with the Ender 3 if students have seen it: open frame, manual leveling, one filament. The X1-Carbon automates a lot of the calibration — but it can't fix a bad design or bad slicer settings. That's still on 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roadmap for the rest of the deck. Each following slide has a gold step tag in the corner so students can track where they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back to the warm-up: the flat face they found = rule 1. Where it broke = between layers (next slide). These numbers are good starting points, not laws — tolerances vary by printer and filament, which is exactly why we measure after printing.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 groups → share out. Big insight to let them discover: layers bond weakest to each other, so a part is strongest along its layers and weakest across them. The L-bracket printed standing up (as drawn) may snap at the corner; printed on its side, the layers run around the corner. The cup prints great upright; upside down it needs a full support bed. The arch's top span needs supports or a 'bridge' — or flip it on its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in Onshape. Export one part at a time to start. The units callout ties back to the communication unit: STL files store numbers with no units attached — the slicer has to guess. 25.4 is the inch-to-mm factor, so an inch/mm mixup shows up as a part 25.4x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slicer is Bambu Studio (free; installed on lab computers). A 30 mm tall part at 0.2 mm layers = 150 layers. Ask: what happens to print time if we halve the layer height?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on the projector, then have students follow along with their own part. Most common mistakes: wrong printer profile, plate type mismatch (prints don't stick or the printer warns you), and forgetting to orient. If the part comes in way too small/large, go back to export units.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Infill and walls are in the Strength tab; supports in the Support tab; brim in Others. Mini-experiment: have each group slice the same part at 10% vs 40% infill and compare time and grams. Most strength comes from walls, not infill — a fun surprise for students.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 long? Try 0.28 mm layers, lower infill, or scale the part down. Instructor sign-off on the preview before sending is a good checkpoint to catch issues 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Adjust to our lab setup: who sends jobs (students vs. instructor), cloud vs. LAN vs. microSD, and how the queue works. Also note whether the printer is bound to a shared lab Bambu account.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Oils from fingers are the #1 cause of prints not sticking. Handle the plate by the edges; wash with dish soap and water if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Measuring closes the loop: holes almost always print a bit small and outside dimensions a bit large. Have students record designed vs. measured for 2–3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a 'failure wall' or bin of failed prints — they make great teaching examples and reinforce that iteration is normal.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 the log item to match our actual print log (paper sheet, Google Form, etc.).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prompts ask for a specific dimension and a specific prediction to push past generic answers. Optional extension: redesign with corrected tolerances and reprint next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67665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ENGR 101 · From Onshape to Object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From Onshape to Object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3D printing basics on the Bambu Lab X1-Carbon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583680" y="502920"/>
            <a:ext cx="1828800" cy="100584"/>
          </a:xfrm>
          <a:prstGeom prst="roundRect">
            <a:avLst>
              <a:gd name="adj" fmla="val 45455"/>
            </a:avLst>
          </a:prstGeom>
          <a:solidFill>
            <a:schemeClr val="accent3"/>
          </a:solidFill>
          <a:ln/>
        </p:spPr>
      </p:sp>
      <p:sp>
        <p:nvSpPr>
          <p:cNvPr id="5" name="Shape 3"/>
          <p:cNvSpPr/>
          <p:nvPr/>
        </p:nvSpPr>
        <p:spPr>
          <a:xfrm>
            <a:off x="6693408" y="630936"/>
            <a:ext cx="1609344" cy="100584"/>
          </a:xfrm>
          <a:prstGeom prst="roundRect">
            <a:avLst>
              <a:gd name="adj" fmla="val 45455"/>
            </a:avLst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6803136" y="758952"/>
            <a:ext cx="1389888" cy="100584"/>
          </a:xfrm>
          <a:prstGeom prst="roundRect">
            <a:avLst>
              <a:gd name="adj" fmla="val 45455"/>
            </a:avLst>
          </a:prstGeom>
          <a:solidFill>
            <a:schemeClr val="accent3"/>
          </a:solidFill>
          <a:ln/>
        </p:spPr>
      </p:sp>
      <p:sp>
        <p:nvSpPr>
          <p:cNvPr id="7" name="Shape 5"/>
          <p:cNvSpPr/>
          <p:nvPr/>
        </p:nvSpPr>
        <p:spPr>
          <a:xfrm>
            <a:off x="6912864" y="886968"/>
            <a:ext cx="1170432" cy="100584"/>
          </a:xfrm>
          <a:prstGeom prst="roundRect">
            <a:avLst>
              <a:gd name="adj" fmla="val 45455"/>
            </a:avLst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7022592" y="1014984"/>
            <a:ext cx="950976" cy="100584"/>
          </a:xfrm>
          <a:prstGeom prst="roundRect">
            <a:avLst>
              <a:gd name="adj" fmla="val 45455"/>
            </a:avLst>
          </a:prstGeom>
          <a:solidFill>
            <a:schemeClr val="accent3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0" y="1143000"/>
            <a:ext cx="731520" cy="100584"/>
          </a:xfrm>
          <a:prstGeom prst="roundRect">
            <a:avLst>
              <a:gd name="adj" fmla="val 45455"/>
            </a:avLst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ENGR 101 · Engineering Exploration · How Engineers Make Things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Warm-up: how was this made?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291840" cy="3291840"/>
          </a:xfrm>
          <a:prstGeom prst="roundRect">
            <a:avLst>
              <a:gd name="adj" fmla="val 2222"/>
            </a:avLst>
          </a:prstGeom>
          <a:solidFill>
            <a:schemeClr val="accent1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630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163860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774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around a 3D-printed part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200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groups, 5 minutes. Then we share out as a class.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023360" y="1188720"/>
            <a:ext cx="46634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4206240" y="146304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20624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800600" y="12801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fingernail across the surface. What do you feel — and what does it tell you about how it was built?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023360" y="2331720"/>
            <a:ext cx="46634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3" name="Shape 10"/>
          <p:cNvSpPr/>
          <p:nvPr/>
        </p:nvSpPr>
        <p:spPr>
          <a:xfrm>
            <a:off x="4206240" y="260604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20624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800600" y="24231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face that was on the build plate. How can you tell?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023360" y="3474720"/>
            <a:ext cx="46634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7" name="Shape 14"/>
          <p:cNvSpPr/>
          <p:nvPr/>
        </p:nvSpPr>
        <p:spPr>
          <a:xfrm>
            <a:off x="4206240" y="374904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20624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800600" y="35661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would this part break first if you bent it? Why there?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Three ways to make a part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27432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1732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58191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240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Subtractive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697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block and remove material.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337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Milling, lathe, laser cutting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73552" y="1188720"/>
            <a:ext cx="2606040" cy="27432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3547872" y="141732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158191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47872" y="2240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Formative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3547872" y="2697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material into the shape of a mold or die.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547872" y="3337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molding, casting, stamping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89904" y="1188720"/>
            <a:ext cx="2606040" cy="2743200"/>
          </a:xfrm>
          <a:prstGeom prst="roundRect">
            <a:avLst>
              <a:gd name="adj" fmla="val 2807"/>
            </a:avLst>
          </a:prstGeom>
          <a:solidFill>
            <a:schemeClr val="accent1"/>
          </a:solidFill>
          <a:ln/>
        </p:spPr>
      </p:sp>
      <p:sp>
        <p:nvSpPr>
          <p:cNvPr id="16" name="Shape 12"/>
          <p:cNvSpPr/>
          <p:nvPr/>
        </p:nvSpPr>
        <p:spPr>
          <a:xfrm>
            <a:off x="6364224" y="141732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158191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64224" y="2240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Additive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6364224" y="2697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part one thin layer at a time.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364224" y="3337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printing (what we're doing today)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it: why would a company 3D print a prototype but injection mold the final product?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How our printer works: FDM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Deposition Modeling — like a very precise robotic hot glue gun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41248" y="14630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62763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240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560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1.75 mm plastic on a spool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709928" y="1691640"/>
            <a:ext cx="274320" cy="22860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9" name="Shape 6"/>
          <p:cNvSpPr/>
          <p:nvPr/>
        </p:nvSpPr>
        <p:spPr>
          <a:xfrm>
            <a:off x="2542032" y="14630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624" y="162763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57984" y="2240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Extruder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2157984" y="2560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Gears push filament forward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410712" y="1691640"/>
            <a:ext cx="274320" cy="22860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14" name="Shape 10"/>
          <p:cNvSpPr/>
          <p:nvPr/>
        </p:nvSpPr>
        <p:spPr>
          <a:xfrm>
            <a:off x="4242816" y="1463040"/>
            <a:ext cx="685800" cy="6858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162763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858768" y="2240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end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3858768" y="2560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Melts it (~220 °C for PLA)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111496" y="1691640"/>
            <a:ext cx="274320" cy="22860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19" name="Shape 14"/>
          <p:cNvSpPr/>
          <p:nvPr/>
        </p:nvSpPr>
        <p:spPr>
          <a:xfrm>
            <a:off x="5943600" y="14630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162763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59552" y="2240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Nozzle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559552" y="2560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 mm opening draws a thin line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812280" y="1691640"/>
            <a:ext cx="274320" cy="22860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24" name="Shape 18"/>
          <p:cNvSpPr/>
          <p:nvPr/>
        </p:nvSpPr>
        <p:spPr>
          <a:xfrm>
            <a:off x="7644384" y="14630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976" y="1627632"/>
            <a:ext cx="356616" cy="35661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260336" y="2240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plate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7260336" y="2560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Heated; part grows layer by layer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457200" y="3429000"/>
            <a:ext cx="19202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594360" y="3520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height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594360" y="385876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thick each layer is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2560320" y="3429000"/>
            <a:ext cx="19202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2697480" y="3520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Walls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2697480" y="385876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outer shell lines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4663440" y="3429000"/>
            <a:ext cx="19202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35" name="Text 28"/>
          <p:cNvSpPr txBox="1"/>
          <p:nvPr/>
        </p:nvSpPr>
        <p:spPr>
          <a:xfrm>
            <a:off x="4800600" y="3520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Infill</a:t>
            </a:r>
            <a:endParaRPr lang="en-US" sz="1400" dirty="0"/>
          </a:p>
        </p:txBody>
      </p:sp>
      <p:sp>
        <p:nvSpPr>
          <p:cNvPr id="36" name="Text 29"/>
          <p:cNvSpPr txBox="1"/>
          <p:nvPr/>
        </p:nvSpPr>
        <p:spPr>
          <a:xfrm>
            <a:off x="4800600" y="385876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pattern — rarely 100% solid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6766560" y="3429000"/>
            <a:ext cx="19202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38" name="Text 31"/>
          <p:cNvSpPr txBox="1"/>
          <p:nvPr/>
        </p:nvSpPr>
        <p:spPr>
          <a:xfrm>
            <a:off x="6903720" y="3520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</a:t>
            </a:r>
            <a:endParaRPr lang="en-US" sz="1400" dirty="0"/>
          </a:p>
        </p:txBody>
      </p:sp>
      <p:sp>
        <p:nvSpPr>
          <p:cNvPr id="39" name="Text 32"/>
          <p:cNvSpPr txBox="1"/>
          <p:nvPr/>
        </p:nvSpPr>
        <p:spPr>
          <a:xfrm>
            <a:off x="6903720" y="385876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scaffolding for overhangs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Meet the Bambu Lab X1-Carbon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828800" cy="1508760"/>
          </a:xfrm>
          <a:prstGeom prst="roundRect">
            <a:avLst>
              <a:gd name="adj" fmla="val 4848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3258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256 mm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011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cube (W × D × H)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68880" y="1143000"/>
            <a:ext cx="1828800" cy="1508760"/>
          </a:xfrm>
          <a:prstGeom prst="roundRect">
            <a:avLst>
              <a:gd name="adj" fmla="val 4848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606040" y="13258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 mm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2011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steel nozzle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1828800" cy="1508760"/>
          </a:xfrm>
          <a:prstGeom prst="roundRect">
            <a:avLst>
              <a:gd name="adj" fmla="val 4848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0175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°C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703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nozzle temperature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68880" y="2834640"/>
            <a:ext cx="1828800" cy="1508760"/>
          </a:xfrm>
          <a:prstGeom prst="roundRect">
            <a:avLst>
              <a:gd name="adj" fmla="val 4848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606040" y="30175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 mm/s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2606040" y="3703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toolhead speed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17720" y="11887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9394" y="1320394"/>
            <a:ext cx="285293" cy="285293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349240" y="11430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enclosed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349240" y="1472184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heat steady and fingers out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617720" y="2029968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394" y="2161642"/>
            <a:ext cx="285293" cy="285293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349240" y="198424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 (Automatic Material System)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5349240" y="231343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up to 4 spools for color/material swaps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617720" y="2871216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394" y="3002890"/>
            <a:ext cx="285293" cy="285293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349240" y="282549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bed leveling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5349240" y="31546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the plate before every print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4617720" y="3712464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394" y="3844138"/>
            <a:ext cx="285293" cy="285293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5349240" y="366674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lidar + AI camera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5349240" y="399592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Inspects the first layer and spots “spaghetti” failures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The big picture: six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23444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94767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26060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01752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your part in Onshape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874520" y="1280160"/>
            <a:ext cx="123444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965960" y="13716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148840" y="17830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432" y="194767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920240" y="26060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965960" y="301752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 STL or 3MF (mm!)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291840" y="1280160"/>
            <a:ext cx="123444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3383280" y="13716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3566160" y="17830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0752" y="1947672"/>
            <a:ext cx="356616" cy="35661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337560" y="26060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Slice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3383280" y="301752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Bambu Studio turns it into layers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709160" y="1280160"/>
            <a:ext cx="123444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4800600" y="13716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4983480" y="17830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72" y="1947672"/>
            <a:ext cx="356616" cy="35661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4754880" y="26060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4800600" y="301752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job to the X1-Carbon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6126480" y="1280160"/>
            <a:ext cx="123444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217920" y="13716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6400800" y="17830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1947672"/>
            <a:ext cx="356616" cy="356616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172200" y="26060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6217920" y="301752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first layer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7543800" y="1280160"/>
            <a:ext cx="123444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7635240" y="13716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Shape 28"/>
          <p:cNvSpPr/>
          <p:nvPr/>
        </p:nvSpPr>
        <p:spPr>
          <a:xfrm>
            <a:off x="7818120" y="17830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2712" y="1947672"/>
            <a:ext cx="356616" cy="356616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7589520" y="26060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Finish</a:t>
            </a:r>
            <a:endParaRPr lang="en-US" sz="1600" dirty="0"/>
          </a:p>
        </p:txBody>
      </p:sp>
      <p:sp>
        <p:nvSpPr>
          <p:cNvPr id="38" name="Text 30"/>
          <p:cNvSpPr txBox="1"/>
          <p:nvPr/>
        </p:nvSpPr>
        <p:spPr>
          <a:xfrm>
            <a:off x="7635240" y="301752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Remove, clean up, measure</a:t>
            </a:r>
            <a:endParaRPr lang="en-US" sz="1200" dirty="0"/>
          </a:p>
        </p:txBody>
      </p:sp>
      <p:sp>
        <p:nvSpPr>
          <p:cNvPr id="39" name="Text 31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failed prints are decided in steps 1–3 — before the printer ever turns 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Design for printing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0" y="411480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0" y="411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DESIGN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624328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1446581"/>
            <a:ext cx="261518" cy="26151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1325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flat face down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94767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large, flat bottom sticks to the plate and needs no supports.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64408" y="1143000"/>
            <a:ext cx="2624328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3447288" y="13258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7989" y="1446581"/>
            <a:ext cx="261518" cy="26151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087368" y="1325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45° rule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447288" y="194767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Overhangs steeper than ~45° from vertical need supports.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71616" y="1143000"/>
            <a:ext cx="2624328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6" name="Shape 12"/>
          <p:cNvSpPr/>
          <p:nvPr/>
        </p:nvSpPr>
        <p:spPr>
          <a:xfrm>
            <a:off x="6254496" y="13258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197" y="1446581"/>
            <a:ext cx="261518" cy="26151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894576" y="1325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Walls ≥ 0.8 mm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254496" y="194767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two nozzle widths. Thinner walls may not print at all.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57200" y="2880360"/>
            <a:ext cx="2624328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21" name="Shape 16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3183941"/>
            <a:ext cx="261518" cy="26151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280160" y="30632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clearance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368503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that fit together need a 0.2–0.3 mm gap, or they'll fuse or jam.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3264408" y="2880360"/>
            <a:ext cx="2624328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26" name="Shape 20"/>
          <p:cNvSpPr/>
          <p:nvPr/>
        </p:nvSpPr>
        <p:spPr>
          <a:xfrm>
            <a:off x="3447288" y="3063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7989" y="3183941"/>
            <a:ext cx="261518" cy="26151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087368" y="30632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the cube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3447288" y="368503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256 × 256 × 256 mm — and smaller prints finish faster.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6071616" y="2880360"/>
            <a:ext cx="2624328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31" name="Shape 24"/>
          <p:cNvSpPr/>
          <p:nvPr/>
        </p:nvSpPr>
        <p:spPr>
          <a:xfrm>
            <a:off x="6254496" y="30632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5197" y="3183941"/>
            <a:ext cx="261518" cy="261518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6894576" y="30632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≥ 1 mm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6254496" y="368503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text and features smaller than ~1 mm get lost.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Which way would you print it?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0" y="411480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0" y="411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DESIGN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624328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1234440" y="1600200"/>
            <a:ext cx="274320" cy="11887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7" name="Shape 5"/>
          <p:cNvSpPr/>
          <p:nvPr/>
        </p:nvSpPr>
        <p:spPr>
          <a:xfrm>
            <a:off x="1234440" y="2514600"/>
            <a:ext cx="1097280" cy="2743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807208"/>
            <a:ext cx="2075688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640080" y="288036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L-bracket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64408" y="1143000"/>
            <a:ext cx="2624328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11" name="Shape 9"/>
          <p:cNvSpPr/>
          <p:nvPr/>
        </p:nvSpPr>
        <p:spPr>
          <a:xfrm>
            <a:off x="4041648" y="1600200"/>
            <a:ext cx="182880" cy="11887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2" name="Shape 10"/>
          <p:cNvSpPr/>
          <p:nvPr/>
        </p:nvSpPr>
        <p:spPr>
          <a:xfrm>
            <a:off x="4956048" y="1600200"/>
            <a:ext cx="182880" cy="11887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" name="Shape 11"/>
          <p:cNvSpPr/>
          <p:nvPr/>
        </p:nvSpPr>
        <p:spPr>
          <a:xfrm>
            <a:off x="4041648" y="2606040"/>
            <a:ext cx="1097280" cy="1828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4" name="Shape 12"/>
          <p:cNvSpPr/>
          <p:nvPr/>
        </p:nvSpPr>
        <p:spPr>
          <a:xfrm>
            <a:off x="3538728" y="2807208"/>
            <a:ext cx="2075688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3447288" y="288036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71616" y="1143000"/>
            <a:ext cx="2624328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17" name="Shape 15"/>
          <p:cNvSpPr/>
          <p:nvPr/>
        </p:nvSpPr>
        <p:spPr>
          <a:xfrm>
            <a:off x="6848856" y="1600200"/>
            <a:ext cx="228600" cy="11887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8" name="Shape 16"/>
          <p:cNvSpPr/>
          <p:nvPr/>
        </p:nvSpPr>
        <p:spPr>
          <a:xfrm>
            <a:off x="7717536" y="1600200"/>
            <a:ext cx="228600" cy="11887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9" name="Shape 17"/>
          <p:cNvSpPr/>
          <p:nvPr/>
        </p:nvSpPr>
        <p:spPr>
          <a:xfrm>
            <a:off x="6848856" y="1600200"/>
            <a:ext cx="1097280" cy="2286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0" name="Shape 18"/>
          <p:cNvSpPr/>
          <p:nvPr/>
        </p:nvSpPr>
        <p:spPr>
          <a:xfrm>
            <a:off x="6345936" y="2807208"/>
            <a:ext cx="2075688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6254496" y="288036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3474720"/>
            <a:ext cx="8229600" cy="109728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3566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shape, decide as a group: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face goes on the plate? Will it need supports? If you had to hang weight from it, which orientation would be strongest — and why?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Export from Onshape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0" y="411480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0" y="411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EXPORT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0972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the part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Parts list (or right-click the Part Studio tab to export everything)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728216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1728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68249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Export…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export dialog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31343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2313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26771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STL or 3MF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works with Bambu Studio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289864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28986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285292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Units: Millimeter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Bambu Studio expects mm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483864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" y="34838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43814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 Fine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Smoother curves on round features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40690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720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40233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file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it somewhere you can find it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303520" y="1097280"/>
            <a:ext cx="338328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0" y="118872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vs 3MF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STL: just the triangle surface. The universal standard.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3MF: surface plus units, color, and part info in one file.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303520" y="3108960"/>
            <a:ext cx="3383280" cy="1417320"/>
          </a:xfrm>
          <a:prstGeom prst="roundRect">
            <a:avLst>
              <a:gd name="adj" fmla="val 5161"/>
            </a:avLst>
          </a:prstGeom>
          <a:solidFill>
            <a:schemeClr val="accent6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3246120"/>
            <a:ext cx="365760" cy="36576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5989320" y="32186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units!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0" y="36576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50 mm part shows up 25× too small or 25× too big, it was exported in the wrong units. (Remember Mars Climate Orbiter?)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What is slicing?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0" y="411480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0" y="411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SLICE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printer can't read a 3D model. It only follows instructions like “move here, push out this much plastic.”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slicer is the translator: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420624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3774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model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STL / 3MF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423160" y="2980944"/>
            <a:ext cx="274320" cy="128016"/>
          </a:xfrm>
          <a:prstGeom prst="downArrow">
            <a:avLst/>
          </a:prstGeom>
          <a:solidFill>
            <a:schemeClr val="accent3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3108960"/>
            <a:ext cx="420624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1089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layers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horizontal slices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423160" y="3712464"/>
            <a:ext cx="274320" cy="128016"/>
          </a:xfrm>
          <a:prstGeom prst="downArrow">
            <a:avLst/>
          </a:prstGeom>
          <a:solidFill>
            <a:schemeClr val="accent3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3840480"/>
            <a:ext cx="420624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8404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Toolpaths (G-code)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path the nozzle follows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166360" y="4160520"/>
            <a:ext cx="3108960" cy="27432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5" name="Shape 13"/>
          <p:cNvSpPr/>
          <p:nvPr/>
        </p:nvSpPr>
        <p:spPr>
          <a:xfrm>
            <a:off x="5212080" y="3831336"/>
            <a:ext cx="3017520" cy="27432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</p:sp>
      <p:sp>
        <p:nvSpPr>
          <p:cNvPr id="16" name="Shape 14"/>
          <p:cNvSpPr/>
          <p:nvPr/>
        </p:nvSpPr>
        <p:spPr>
          <a:xfrm>
            <a:off x="5280660" y="3502152"/>
            <a:ext cx="2880360" cy="27432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7" name="Shape 15"/>
          <p:cNvSpPr/>
          <p:nvPr/>
        </p:nvSpPr>
        <p:spPr>
          <a:xfrm>
            <a:off x="5372100" y="3172968"/>
            <a:ext cx="2697480" cy="27432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0" y="2843784"/>
            <a:ext cx="2468880" cy="27432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9" name="Shape 17"/>
          <p:cNvSpPr/>
          <p:nvPr/>
        </p:nvSpPr>
        <p:spPr>
          <a:xfrm>
            <a:off x="5623560" y="2514600"/>
            <a:ext cx="2194560" cy="27432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</p:sp>
      <p:sp>
        <p:nvSpPr>
          <p:cNvPr id="20" name="Shape 18"/>
          <p:cNvSpPr/>
          <p:nvPr/>
        </p:nvSpPr>
        <p:spPr>
          <a:xfrm>
            <a:off x="5783580" y="2185416"/>
            <a:ext cx="1874520" cy="27432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21" name="Shape 19"/>
          <p:cNvSpPr/>
          <p:nvPr/>
        </p:nvSpPr>
        <p:spPr>
          <a:xfrm>
            <a:off x="5989320" y="1856232"/>
            <a:ext cx="1463040" cy="27432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</p:sp>
      <p:sp>
        <p:nvSpPr>
          <p:cNvPr id="22" name="Shape 20"/>
          <p:cNvSpPr/>
          <p:nvPr/>
        </p:nvSpPr>
        <p:spPr>
          <a:xfrm>
            <a:off x="6240780" y="1527048"/>
            <a:ext cx="960120" cy="27432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120640" y="1051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= one slice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Slicing in Bambu Studio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0" y="411480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0" y="411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SLICE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25272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252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13385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Prepare tab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you set up the plate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212140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00253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Printer: Bambu Lab X1 Carbon 0.4 nozzle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Top-left printer dropdown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299008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2990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87121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type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plate actually in the printer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385876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3858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373989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Filament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spool &amp; AMS slot (e.g., Bambu PLA Basic)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1097280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2" name="Shape 20"/>
          <p:cNvSpPr/>
          <p:nvPr/>
        </p:nvSpPr>
        <p:spPr>
          <a:xfrm>
            <a:off x="4800600" y="125272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00600" y="1252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349240" y="113385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your file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it in, or Ctrl+I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63440" y="1965960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6" name="Shape 24"/>
          <p:cNvSpPr/>
          <p:nvPr/>
        </p:nvSpPr>
        <p:spPr>
          <a:xfrm>
            <a:off x="4800600" y="212140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800600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349240" y="200253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 it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 on Face (F) — click your big flat face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663440" y="2834640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30" name="Shape 28"/>
          <p:cNvSpPr/>
          <p:nvPr/>
        </p:nvSpPr>
        <p:spPr>
          <a:xfrm>
            <a:off x="4800600" y="299008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800600" y="2990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5349240" y="287121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settings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height, walls, infill, supports (next slide)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663440" y="3703320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34" name="Shape 32"/>
          <p:cNvSpPr/>
          <p:nvPr/>
        </p:nvSpPr>
        <p:spPr>
          <a:xfrm>
            <a:off x="4800600" y="385876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800600" y="3858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5349240" y="373989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Slice plate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review the Preview tab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The settings that matter most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0" y="411480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0" y="411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SLICE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03120"/>
                <a:gridCol w="1645920"/>
                <a:gridCol w="3017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controls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with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it when…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height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 vs. speed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 mm (Standard)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 for fine detail; 0.28 for a fast draft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 loops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 of the outer shell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 for parts that get loaded or screwed into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infill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full the inside 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25–40% for strong parts; 10% for display models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Scaffolding under overhangs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 on (tree, auto) for overhangs past ~45°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first-layer border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Tall or tiny-footprint parts that might tip or lift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setting at a time and watch what happens to print time and filament in the preview.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Read the preview before you print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0" y="411480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0" y="411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SLICE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2918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325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 time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7647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it finish before class ends?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606040"/>
            <a:ext cx="32918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8036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788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Filament (g)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1463040" y="32278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plastic = less waste, less cost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114800" y="1143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the layer slider and check:</a:t>
            </a:r>
            <a:endParaRPr lang="en-US" sz="16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700784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572000" y="16459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has lots of solid contact with the plate</a:t>
            </a:r>
            <a:endParaRPr lang="en-US" sz="14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2249424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572000" y="2194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printing in mid-air with nothing below it</a:t>
            </a:r>
            <a:endParaRPr lang="en-US" sz="14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2798064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4572000" y="27432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are only where you expect them</a:t>
            </a:r>
            <a:endParaRPr lang="en-US" sz="14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3346704"/>
            <a:ext cx="292608" cy="292608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4572000" y="3291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Holes and small features actually show up</a:t>
            </a:r>
            <a:endParaRPr lang="en-US" sz="14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0" y="3895344"/>
            <a:ext cx="292608" cy="292608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4572000" y="38404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copy of your part is on the plate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Send it to the printer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0" y="411480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0" y="411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SEND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Print plate, choose our X1-Carbon, then check these boxes: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0899" y="1845259"/>
            <a:ext cx="332842" cy="3328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2423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leveling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834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 scans the plate first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560320" y="155448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2" name="Shape 9"/>
          <p:cNvSpPr/>
          <p:nvPr/>
        </p:nvSpPr>
        <p:spPr>
          <a:xfrm>
            <a:off x="320040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4019" y="184525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651760" y="2423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dynamics calibration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2651760" y="2834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Tunes extrusion for this filament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663440" y="155448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7" name="Shape 13"/>
          <p:cNvSpPr/>
          <p:nvPr/>
        </p:nvSpPr>
        <p:spPr>
          <a:xfrm>
            <a:off x="530352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139" y="1845259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754880" y="2423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AMS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4754880" y="2834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filament from the slot you chose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766560" y="155448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22" name="Shape 17"/>
          <p:cNvSpPr/>
          <p:nvPr/>
        </p:nvSpPr>
        <p:spPr>
          <a:xfrm>
            <a:off x="740664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259" y="1845259"/>
            <a:ext cx="332842" cy="33284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858000" y="2423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Timelapse (optional)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6858000" y="2834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 to watch — and great for spotting failures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57200" y="3520440"/>
            <a:ext cx="8229600" cy="105156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685800" y="356616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click Send.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printer heats up, levels the bed, and calibrates before plastic comes out — the first few minutes look like nothing is happening. That's normal. No network? Export the sliced file to a microSD card instead.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Before you walk away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0" y="411480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0" y="411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PRINT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Pre-print checklist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7548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37360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05840" y="160020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plate is clean — no fingerprints or leftover plastic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286000"/>
            <a:ext cx="47548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42316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05840" y="228600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plate in the printer matches the plate in Bambu Studio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57200" y="2971800"/>
            <a:ext cx="47548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10896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05840" y="297180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filament is loaded in the AMS slot you chose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57200" y="3657600"/>
            <a:ext cx="47548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794760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05840" y="365760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loose inside the chamber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5486400" y="1097280"/>
            <a:ext cx="3200400" cy="3474720"/>
          </a:xfrm>
          <a:prstGeom prst="roundRect">
            <a:avLst>
              <a:gd name="adj" fmla="val 2286"/>
            </a:avLst>
          </a:prstGeom>
          <a:solidFill>
            <a:schemeClr val="accent1"/>
          </a:solidFill>
          <a:ln/>
        </p:spPr>
      </p:sp>
      <p:sp>
        <p:nvSpPr>
          <p:cNvPr id="19" name="Shape 13"/>
          <p:cNvSpPr/>
          <p:nvPr/>
        </p:nvSpPr>
        <p:spPr>
          <a:xfrm>
            <a:off x="5715000" y="132588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2" y="1490472"/>
            <a:ext cx="356616" cy="35661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715000" y="2148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the first layer</a:t>
            </a:r>
            <a:endParaRPr lang="en-US" sz="2000" dirty="0"/>
          </a:p>
        </p:txBody>
      </p:sp>
      <p:sp>
        <p:nvSpPr>
          <p:cNvPr id="22" name="Text 15"/>
          <p:cNvSpPr txBox="1"/>
          <p:nvPr/>
        </p:nvSpPr>
        <p:spPr>
          <a:xfrm>
            <a:off x="5715000" y="265176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failures happen here. Lines should be flat, slightly squished, and touching each other. If it's lifting, curling, or dragging around — stop the print and ask for help. The AI camera also watches, but your eyes are faster.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After the print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0" y="411480"/>
            <a:ext cx="137160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0" y="411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· FINISH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68680" y="12344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39903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11480" y="20574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it cool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75488" y="24688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pop off easier once the plate cools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874520" y="1463040"/>
            <a:ext cx="228600" cy="201168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10" name="Shape 7"/>
          <p:cNvSpPr/>
          <p:nvPr/>
        </p:nvSpPr>
        <p:spPr>
          <a:xfrm>
            <a:off x="2551176" y="12344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768" y="139903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093976" y="20574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the plate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157984" y="24688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it and bend gently — the part releases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557016" y="1463040"/>
            <a:ext cx="228600" cy="201168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15" name="Shape 11"/>
          <p:cNvSpPr/>
          <p:nvPr/>
        </p:nvSpPr>
        <p:spPr>
          <a:xfrm>
            <a:off x="4233672" y="12344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264" y="139903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776472" y="20574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supports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3840480" y="24688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Pliers + safety glasses; pull away from you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239512" y="1463040"/>
            <a:ext cx="228600" cy="201168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20" name="Shape 15"/>
          <p:cNvSpPr/>
          <p:nvPr/>
        </p:nvSpPr>
        <p:spPr>
          <a:xfrm>
            <a:off x="5916168" y="12344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399032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58968" y="20574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the printer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522976" y="24688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scraps, put the plate back in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922008" y="1463040"/>
            <a:ext cx="228600" cy="201168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25" name="Shape 19"/>
          <p:cNvSpPr/>
          <p:nvPr/>
        </p:nvSpPr>
        <p:spPr>
          <a:xfrm>
            <a:off x="7132320" y="1051560"/>
            <a:ext cx="1572768" cy="283464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26" name="Shape 20"/>
          <p:cNvSpPr/>
          <p:nvPr/>
        </p:nvSpPr>
        <p:spPr>
          <a:xfrm>
            <a:off x="7598664" y="123444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3256" y="1399032"/>
            <a:ext cx="356616" cy="35661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141464" y="20574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it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7205472" y="24688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Calipers vs. your Onshape dimensions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print is data. Did the holes come out smaller than designed? That's a tolerance lesson — not a failure.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When things go wrong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1089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see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Likely cause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Try this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won't stick / corners lift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Dirty plate or too little contact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Wash plate; add a brim; bigger flat face down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“Spaghetti” — tangled mess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came loose or printed in mid-air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orientation and supports in preview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Holes or slots too tight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clearance for the printer's tolerance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0.2–0.3 mm in Onshape and reprint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 won't come off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 touching too much of the part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Reorient to need fewer supports; use tree supports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snapped along a 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pulled the layers apart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Rotate so layers run along the load; add walls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Lab safety &amp; norms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8016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699" y="143377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170432"/>
            <a:ext cx="2880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hot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Nozzle up to 300 °C, plate over 100 °C. Don't touch either.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663440" y="1097280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8" name="Shape 5"/>
          <p:cNvSpPr/>
          <p:nvPr/>
        </p:nvSpPr>
        <p:spPr>
          <a:xfrm>
            <a:off x="4846320" y="12801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9939" y="1433779"/>
            <a:ext cx="332842" cy="33284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669280" y="1170432"/>
            <a:ext cx="2880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stays closed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open the door or reach in while it's printing.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57200" y="2258568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2" name="Shape 8"/>
          <p:cNvSpPr/>
          <p:nvPr/>
        </p:nvSpPr>
        <p:spPr>
          <a:xfrm>
            <a:off x="640080" y="244144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" y="2595067"/>
            <a:ext cx="332842" cy="33284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2331720"/>
            <a:ext cx="2880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off controls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before changing filament, settings, or canceling someone's print.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663440" y="2258568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6" name="Shape 11"/>
          <p:cNvSpPr/>
          <p:nvPr/>
        </p:nvSpPr>
        <p:spPr>
          <a:xfrm>
            <a:off x="4846320" y="244144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9939" y="2595067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669280" y="2331720"/>
            <a:ext cx="2880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 protected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 safety glasses when cutting or snapping off supports.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457200" y="3419856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0" name="Shape 14"/>
          <p:cNvSpPr/>
          <p:nvPr/>
        </p:nvSpPr>
        <p:spPr>
          <a:xfrm>
            <a:off x="640080" y="3602736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699" y="3756355"/>
            <a:ext cx="332842" cy="33284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63040" y="3493008"/>
            <a:ext cx="2880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your print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part, time, and how it turned out.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4663440" y="3419856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4" name="Shape 17"/>
          <p:cNvSpPr/>
          <p:nvPr/>
        </p:nvSpPr>
        <p:spPr>
          <a:xfrm>
            <a:off x="4846320" y="3602736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9939" y="3756355"/>
            <a:ext cx="332842" cy="33284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669280" y="3493008"/>
            <a:ext cx="2880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problems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Weird noises, smells, or errors? Tell the instructor right away.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Engineers iterate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34440" y="1554480"/>
            <a:ext cx="2606040" cy="2606040"/>
          </a:xfrm>
          <a:prstGeom prst="ellipse">
            <a:avLst/>
          </a:prstGeom>
          <a:ln w="38100">
            <a:solidFill>
              <a:schemeClr val="accent2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2011680" y="1234440"/>
            <a:ext cx="1051560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011680" y="12344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2377440"/>
            <a:ext cx="1051560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91840" y="23774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11680" y="3520440"/>
            <a:ext cx="1051560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011680" y="35204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377440"/>
            <a:ext cx="1051560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3774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1234440"/>
            <a:ext cx="4114800" cy="3200400"/>
          </a:xfrm>
          <a:prstGeom prst="roundRect">
            <a:avLst>
              <a:gd name="adj" fmla="val 2286"/>
            </a:avLst>
          </a:prstGeom>
          <a:solidFill>
            <a:schemeClr val="bg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00600" y="1371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ticket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1828800"/>
            <a:ext cx="3703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dimension where your print didn't match your Onshape model. By how much, and why do you think?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slicer setting would you change on your next print — and what do you expect to happen?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one thing you'd tell a classmate before their first print?</a:t>
            </a:r>
            <a:endParaRPr lang="en-US" sz="1300" dirty="0"/>
          </a:p>
        </p:txBody>
      </p:sp>
      <p:sp>
        <p:nvSpPr>
          <p:cNvPr id="16" name="Text 0"/>
          <p:cNvSpPr/>
          <p:nvPr>
            <p:ph idx="100" type="title" hasCustomPrompt="1"/>
          </p:nvPr>
        </p:nvSpPr>
        <p:spPr>
          <a:xfrm>
            <a:off x="548640" y="12344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17" name="Text 0"/>
          <p:cNvSpPr/>
          <p:nvPr>
            <p:ph idx="101" type="body" hasCustomPrompt="1"/>
          </p:nvPr>
        </p:nvSpPr>
        <p:spPr>
          <a:xfrm>
            <a:off x="548640" y="2743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CC Green Gold">
  <a:themeElements>
    <a:clrScheme name="WCC Green Gold">
      <a:dk1>
        <a:srgbClr val="1F2A24"/>
      </a:dk1>
      <a:lt1>
        <a:srgbClr val="FFFFFF"/>
      </a:lt1>
      <a:dk2>
        <a:srgbClr val="1E4D2B"/>
      </a:dk2>
      <a:lt2>
        <a:srgbClr val="EEF4EF"/>
      </a:lt2>
      <a:accent1>
        <a:srgbClr val="1E4D2B"/>
      </a:accent1>
      <a:accent2>
        <a:srgbClr val="4A8C5C"/>
      </a:accent2>
      <a:accent3>
        <a:srgbClr val="D4A72C"/>
      </a:accent3>
      <a:accent4>
        <a:srgbClr val="A9CDB2"/>
      </a:accent4>
      <a:accent5>
        <a:srgbClr val="6B6F6C"/>
      </a:accent5>
      <a:accent6>
        <a:srgbClr val="B5462F"/>
      </a:accent6>
      <a:hlink>
        <a:srgbClr val="2F6FAE"/>
      </a:hlink>
      <a:folHlink>
        <a:srgbClr val="6B4FA0"/>
      </a:folHlink>
    </a:clrScheme>
    <a:fontScheme name="WCC Green Gol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Onshape to Object: 3D Printing on the Bambu Lab X1-Carbon</dc:title>
  <dc:subject>PptxGenJS Presentation</dc:subject>
  <dc:creator>ENGR 101 Engineering Exploration</dc:creator>
  <cp:lastModifiedBy>ENGR 101 Engineering Exploration</cp:lastModifiedBy>
  <cp:revision>1</cp:revision>
  <dcterms:created xsi:type="dcterms:W3CDTF">2026-10-10T15:46:51Z</dcterms:created>
  <dcterms:modified xsi:type="dcterms:W3CDTF">2026-10-10T15:46:51Z</dcterms:modified>
</cp:coreProperties>
</file>